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b0cf6cb-5070-cdea-c738-f04d1257ed6f}">
          <p14:sldIdLst>
            <p14:sldId id="256"/>
            <p14:sldId id="257"/>
            <p14:sldId id="258"/>
          </p14:sldIdLst>
        </p14:section>
        <p14:section name="Our approach" id="{49e6c759-ddc7-9fd1-daf4-fb5f2a37c403}">
          <p14:sldIdLst>
            <p14:sldId id="259"/>
            <p14:sldId id="260"/>
            <p14:sldId id="261"/>
          </p14:sldIdLst>
        </p14:section>
        <p14:section name="The six phases" id="{0f26d222-2b30-3188-7cb1-119a1ab5875b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uilding capability" id="{793ccec8-23be-d891-c4d0-8962333b3ea9}">
          <p14:sldIdLst>
            <p14:sldId id="268"/>
            <p14:sldId id="269"/>
            <p14:sldId id="270"/>
          </p14:sldIdLst>
        </p14:section>
        <p14:section name="Next steps" id="{134b41b6-2fe8-ccdf-7e8f-f8c36b74ef5f}">
          <p14:sldIdLst>
            <p14:sldId id="271"/>
          </p14:sldIdLst>
        </p14:section>
        <p14:section name="Appendix" id="{155ea32c-edfc-9a8f-ab13-ef74517d680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meeting: share how we approach open innovation challenges, test where you are on the journey, and agree a first step. Keep this to a conversation — the framework is a tool for deciding, not a sales pitch for a prize.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distant-solver finding: it is the most counterintuitive and the most important for design. It is why we spend so much effort writing the problem so outsiders recognize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message: the competition itself is the easy part. Our framework puts most of the effort into the two places where challenges actually fail — the front end (problem and design) and the back end (adoption).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principles are distilled from McKinsey, Deloitte, the Challenge.gov toolkit, XPRIZE, Nesta/Challenge Works, InnoCentive/Wazoku and Harvard LISH research. Every phase of the journey enforces at least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one-page view. Walk it left to right. Stress three things: (1) half the phases happen before anything is announced; (2) every phase ends in an explicit decision, including the decision not to proceed; (3) the bottom band — the capability — is what makes the second challenge cheaper and better than the first. Durations are typical ranges, not commitments.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questions in order — they are a sieve. Most first-time sponsors assume they need a prize; a meaningful share actually need scouting. Saying so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gently on the problem owner and procurement roles. These are the two most commonly missing, and the two most predictive of whether a winner is ever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Outcome-First Challenge Journey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adoption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An outcome-first approach to open innovation challenges and prizes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Discussion document  ·  Prepared for [Client]  · 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Well-designed challenges reach solvers that your own networks never would</a:t>
            </a:r>
            <a:endParaRPr lang="en-US" sz="2800" dirty="0"/>
          </a:p>
        </p:txBody>
      </p:sp>
      <p:sp>
        <p:nvSpPr>
          <p:cNvPr id="3" name="stat-1"/>
          <p:cNvSpPr/>
          <p:nvPr/>
        </p:nvSpPr>
        <p:spPr>
          <a:xfrm>
            <a:off x="548640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Leverage on the purse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26 teams spent more than $100M competing for the $10M Ansari XPRIZE.</a:t>
            </a:r>
            <a:endParaRPr lang="en-US" sz="1350" dirty="0"/>
          </a:p>
        </p:txBody>
      </p:sp>
      <p:sp>
        <p:nvSpPr>
          <p:cNvPr id="7" name="stat-2"/>
          <p:cNvSpPr/>
          <p:nvPr/>
        </p:nvSpPr>
        <p:spPr>
          <a:xfrm>
            <a:off x="3364992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Distant-field solvers win more often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4747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Across 166 science challenges and 12,000+ solvers, the further a solver's field was from the problem's, the likelier they were to solve it.</a:t>
            </a:r>
            <a:endParaRPr lang="en-US" sz="1350" dirty="0"/>
          </a:p>
        </p:txBody>
      </p:sp>
      <p:sp>
        <p:nvSpPr>
          <p:cNvPr id="11" name="stat-3"/>
          <p:cNvSpPr/>
          <p:nvPr/>
        </p:nvSpPr>
        <p:spPr>
          <a:xfrm>
            <a:off x="6181344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$194M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Federal prize purses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4747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251 US federal prize competitions ran in FY2021–22. Prizes are now a mainstream tool, not an experiment.</a:t>
            </a:r>
            <a:endParaRPr lang="en-US" sz="1350" dirty="0"/>
          </a:p>
        </p:txBody>
      </p:sp>
      <p:sp>
        <p:nvSpPr>
          <p:cNvPr id="15" name="stat-4"/>
          <p:cNvSpPr/>
          <p:nvPr/>
        </p:nvSpPr>
        <p:spPr>
          <a:xfrm>
            <a:off x="8997696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6296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for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results, not proposals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4747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 prize pays only when the outcome is achieved, shifting technical risk to the teams that choose to compete.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Sources: XPRIZE / Ansari X Prize history; Jeppesen &amp; Lakhani, Organization Science (2010); OSTP, Implementation of Federal Prize Authority FY2021–22 (2024).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Disappointing challenges usually fail before launch or after the award, not during the competition</a:t>
            </a:r>
            <a:endParaRPr lang="en-US" sz="2800" dirty="0"/>
          </a:p>
        </p:txBody>
      </p:sp>
      <p:sp>
        <p:nvSpPr>
          <p:cNvPr id="3" name="fail-1"/>
          <p:cNvSpPr/>
          <p:nvPr/>
        </p:nvSpPr>
        <p:spPr>
          <a:xfrm>
            <a:off x="548640" y="1463040"/>
            <a:ext cx="4023360" cy="443484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64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launch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75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Most failures 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520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Wrong problem.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The answer is obvious or can be bought, or the problem is too vague or confidential to publish.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No owner.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The problem belongs to someone who is not in the room and will not use the result.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Mis-sized incentives.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The purse is too small for the effort asked, or the IP terms scare off the best solvers.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Under-budgeted.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In disclosed federal cases, running a small prize cost 1.7× to 11× its purse.</a:t>
            </a:r>
            <a:endParaRPr lang="en-US" sz="1400" dirty="0"/>
          </a:p>
        </p:txBody>
      </p:sp>
      <p:sp>
        <p:nvSpPr>
          <p:cNvPr id="7" name="fail-2"/>
          <p:cNvSpPr/>
          <p:nvPr/>
        </p:nvSpPr>
        <p:spPr>
          <a:xfrm>
            <a:off x="4754880" y="1463040"/>
            <a:ext cx="2743200" cy="44348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6642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075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Usually recoverable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514600"/>
            <a:ext cx="2240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Thin participation.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Outreach stays inside the obvious field.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Contested judging.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Criteria are unmeasurable or drift.</a:t>
            </a:r>
            <a:endParaRPr lang="en-US" sz="1400" dirty="0"/>
          </a:p>
        </p:txBody>
      </p:sp>
      <p:sp>
        <p:nvSpPr>
          <p:cNvPr id="11" name="fail-3"/>
          <p:cNvSpPr/>
          <p:nvPr/>
        </p:nvSpPr>
        <p:spPr>
          <a:xfrm>
            <a:off x="7680960" y="1463040"/>
            <a:ext cx="3931920" cy="443484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award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075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The most expensive failure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2514600"/>
            <a:ext cx="3429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Solution orphans.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81% of corporate innovation programs converted fewer than 1 in 4 startup pilots into commercial deals.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Late procurement.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There is no contract or pilot route, so winners wait for months.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Not invented here.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Internal experts treat outside answers as a threat.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Sources: Nextgov (2012) on White House-disclosed prize administration costs; 500 Startups survey of 100+ corporate innovation programs, via Fortune (2017); Lifshitz-Assaf, NYU Stern, on NASA open innovation.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principles that the best practitioners agree on</a:t>
            </a:r>
            <a:endParaRPr lang="en-US" sz="2800" dirty="0"/>
          </a:p>
        </p:txBody>
      </p:sp>
      <p:sp>
        <p:nvSpPr>
          <p:cNvPr id="3" name="principle-1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64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Start from the outcome, not the prize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Decide whether you need ideas, prototypes, a market, awareness, action or transformation. Then design backward from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Deloitte (2014); NASA outcome-driven open innovation</a:t>
            </a:r>
            <a:endParaRPr lang="en-US" sz="950" dirty="0"/>
          </a:p>
        </p:txBody>
      </p:sp>
      <p:sp>
        <p:nvSpPr>
          <p:cNvPr id="9" name="principle-2"/>
          <p:cNvSpPr/>
          <p:nvPr/>
        </p:nvSpPr>
        <p:spPr>
          <a:xfrm>
            <a:off x="429768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64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Treat a challenge as one tool among several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Test it against scouting, contracts, grants and internal R&amp;D. If the answer can be bought, buy it.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OSTP; XPRIZE "can a prize help?"; Boudreau &amp; Lakhani (2013)</a:t>
            </a:r>
            <a:endParaRPr lang="en-US" sz="950" dirty="0"/>
          </a:p>
        </p:txBody>
      </p:sp>
      <p:sp>
        <p:nvSpPr>
          <p:cNvPr id="15" name="principle-3"/>
          <p:cNvSpPr/>
          <p:nvPr/>
        </p:nvSpPr>
        <p:spPr>
          <a:xfrm>
            <a:off x="804672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664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Treat the problem statement as the product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Define the need rigorously, then strip out jargon so solvers from distant fields recognize their expertise.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Spradlin, HBR (2012); Jeppesen &amp; Lakhani (2010)</a:t>
            </a:r>
            <a:endParaRPr lang="en-US" sz="950" dirty="0"/>
          </a:p>
        </p:txBody>
      </p:sp>
      <p:sp>
        <p:nvSpPr>
          <p:cNvPr id="21" name="principle-4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995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Front-load the effort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best prizes spend months on landscape and design with experts and likely competitors before announcing a purse.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577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McKinsey (2009); XPRIZE prize design</a:t>
            </a:r>
            <a:endParaRPr lang="en-US" sz="950" dirty="0"/>
          </a:p>
        </p:txBody>
      </p:sp>
      <p:sp>
        <p:nvSpPr>
          <p:cNvPr id="27" name="principle-5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995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Design the ending first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Fix the landing zone (adoption owner, budget, pilot or procurement route) before launch, not after the award.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577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Challenge.gov "Transition"; MITRE on prize-to-procurement</a:t>
            </a:r>
            <a:endParaRPr lang="en-US" sz="950" dirty="0"/>
          </a:p>
        </p:txBody>
      </p:sp>
      <p:sp>
        <p:nvSpPr>
          <p:cNvPr id="33" name="principle-6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869680" y="3995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Leave a capability, not an event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network, templates and internal champions should outlast the challenge and feed the next one.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577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DOE American-Made; NASA CoECI; Nesta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Journey: six phases, each ending in a decision gate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BEFORE LAUNCH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181344" y="1325880"/>
            <a:ext cx="355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IN MARKET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936480" y="1325880"/>
            <a:ext cx="167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AFTER AWARD</a:t>
            </a:r>
            <a:endParaRPr lang="en-US" sz="1050" dirty="0"/>
          </a:p>
        </p:txBody>
      </p:sp>
      <p:sp>
        <p:nvSpPr>
          <p:cNvPr id="6" name="phase-1"/>
          <p:cNvSpPr/>
          <p:nvPr/>
        </p:nvSpPr>
        <p:spPr>
          <a:xfrm>
            <a:off x="548640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58112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 outcome do we need, and are we ready to act on the answer?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2–4 weeks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0704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Ready to commit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43328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hase-2"/>
          <p:cNvSpPr/>
          <p:nvPr/>
        </p:nvSpPr>
        <p:spPr>
          <a:xfrm>
            <a:off x="2426208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90800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04" y="200253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35680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2590800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2590800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Which problem, stated so the right outsiders recognize it?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2590800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3–6 weeks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590800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938272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Problem approved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120896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phase-3"/>
          <p:cNvSpPr/>
          <p:nvPr/>
        </p:nvSpPr>
        <p:spPr>
          <a:xfrm>
            <a:off x="4303776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468368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672" y="2002536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413248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Text 25"/>
          <p:cNvSpPr txBox="1"/>
          <p:nvPr/>
        </p:nvSpPr>
        <p:spPr>
          <a:xfrm>
            <a:off x="4468368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4468368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Which mechanism, rules and incentives — and where will the winner land?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4468368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4–8 weeks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468368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815840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Design signed off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998464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phase-4"/>
          <p:cNvSpPr/>
          <p:nvPr/>
        </p:nvSpPr>
        <p:spPr>
          <a:xfrm>
            <a:off x="6181344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45936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02536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290816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0" name="Text 34"/>
          <p:cNvSpPr txBox="1"/>
          <p:nvPr/>
        </p:nvSpPr>
        <p:spPr>
          <a:xfrm>
            <a:off x="6345936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Mobilize</a:t>
            </a:r>
            <a:endParaRPr lang="en-US" sz="1900" dirty="0"/>
          </a:p>
        </p:txBody>
      </p:sp>
      <p:sp>
        <p:nvSpPr>
          <p:cNvPr id="41" name="Text 35"/>
          <p:cNvSpPr txBox="1"/>
          <p:nvPr/>
        </p:nvSpPr>
        <p:spPr>
          <a:xfrm>
            <a:off x="6345936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Are the right solvers, including unexpected ones, competing?</a:t>
            </a:r>
            <a:endParaRPr lang="en-US" sz="1250" dirty="0"/>
          </a:p>
        </p:txBody>
      </p:sp>
      <p:sp>
        <p:nvSpPr>
          <p:cNvPr id="42" name="Text 36"/>
          <p:cNvSpPr txBox="1"/>
          <p:nvPr/>
        </p:nvSpPr>
        <p:spPr>
          <a:xfrm>
            <a:off x="6345936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1–12 months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345936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693408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Participation check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7876032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phase-5"/>
          <p:cNvSpPr/>
          <p:nvPr/>
        </p:nvSpPr>
        <p:spPr>
          <a:xfrm>
            <a:off x="8058912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223504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808" y="2002536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168384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0" name="Text 43"/>
          <p:cNvSpPr txBox="1"/>
          <p:nvPr/>
        </p:nvSpPr>
        <p:spPr>
          <a:xfrm>
            <a:off x="8223504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900" dirty="0"/>
          </a:p>
        </p:txBody>
      </p:sp>
      <p:sp>
        <p:nvSpPr>
          <p:cNvPr id="51" name="Text 44"/>
          <p:cNvSpPr txBox="1"/>
          <p:nvPr/>
        </p:nvSpPr>
        <p:spPr>
          <a:xfrm>
            <a:off x="8223504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Can we pick winners fairly, defensibly and on evidence?</a:t>
            </a:r>
            <a:endParaRPr lang="en-US" sz="1250" dirty="0"/>
          </a:p>
        </p:txBody>
      </p:sp>
      <p:sp>
        <p:nvSpPr>
          <p:cNvPr id="52" name="Text 45"/>
          <p:cNvSpPr txBox="1"/>
          <p:nvPr/>
        </p:nvSpPr>
        <p:spPr>
          <a:xfrm>
            <a:off x="8223504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2–6 weeks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8223504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570976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Awards approved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9753600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phase-6"/>
          <p:cNvSpPr/>
          <p:nvPr/>
        </p:nvSpPr>
        <p:spPr>
          <a:xfrm>
            <a:off x="9936480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0101072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7376" y="2002536"/>
            <a:ext cx="274320" cy="274320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1045952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0" name="Text 52"/>
          <p:cNvSpPr txBox="1"/>
          <p:nvPr/>
        </p:nvSpPr>
        <p:spPr>
          <a:xfrm>
            <a:off x="10101072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</a:t>
            </a:r>
            <a:endParaRPr lang="en-US" sz="1900" dirty="0"/>
          </a:p>
        </p:txBody>
      </p:sp>
      <p:sp>
        <p:nvSpPr>
          <p:cNvPr id="61" name="Text 53"/>
          <p:cNvSpPr txBox="1"/>
          <p:nvPr/>
        </p:nvSpPr>
        <p:spPr>
          <a:xfrm>
            <a:off x="10101072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Does the solution get used, and does the capability stay?</a:t>
            </a:r>
            <a:endParaRPr lang="en-US" sz="1250" dirty="0"/>
          </a:p>
        </p:txBody>
      </p:sp>
      <p:sp>
        <p:nvSpPr>
          <p:cNvPr id="62" name="Text 54"/>
          <p:cNvSpPr txBox="1"/>
          <p:nvPr/>
        </p:nvSpPr>
        <p:spPr>
          <a:xfrm>
            <a:off x="10101072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3–24 months</a:t>
            </a:r>
            <a:endParaRPr lang="en-US" sz="1100" dirty="0"/>
          </a:p>
        </p:txBody>
      </p:sp>
      <p:sp>
        <p:nvSpPr>
          <p:cNvPr id="63" name="Shape 55"/>
          <p:cNvSpPr/>
          <p:nvPr/>
        </p:nvSpPr>
        <p:spPr>
          <a:xfrm>
            <a:off x="10101072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10448544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Scale, iterate or stop</a:t>
            </a:r>
            <a:endParaRPr lang="en-US" sz="1100" dirty="0"/>
          </a:p>
        </p:txBody>
      </p:sp>
      <p:sp>
        <p:nvSpPr>
          <p:cNvPr id="65" name="capability-layer"/>
          <p:cNvSpPr/>
          <p:nvPr/>
        </p:nvSpPr>
        <p:spPr>
          <a:xfrm>
            <a:off x="548640" y="5102352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82296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Throughout: build a lasting capability</a:t>
            </a:r>
            <a:endParaRPr lang="en-US" sz="1500" dirty="0"/>
          </a:p>
        </p:txBody>
      </p:sp>
      <p:sp>
        <p:nvSpPr>
          <p:cNvPr id="67" name="Text 59"/>
          <p:cNvSpPr txBox="1"/>
          <p:nvPr/>
        </p:nvSpPr>
        <p:spPr>
          <a:xfrm>
            <a:off x="4663440" y="52120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Named sponsor and problem owner  ·  stakeholder governance and gates  ·  solver and partner network  ·  reusable rules, templates and metrics  ·  problem pipeline for the next challenge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decision: is a challenge the right tool for this problem at all?</a:t>
            </a:r>
            <a:endParaRPr lang="en-US" sz="2800" dirty="0"/>
          </a:p>
        </p:txBody>
      </p:sp>
      <p:sp>
        <p:nvSpPr>
          <p:cNvPr id="3" name="question-1"/>
          <p:cNvSpPr/>
          <p:nvPr/>
        </p:nvSpPr>
        <p:spPr>
          <a:xfrm>
            <a:off x="548640" y="1463040"/>
            <a:ext cx="51206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a workable solution probably already exist somewhere?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06440" y="1737360"/>
            <a:ext cx="50292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1481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YES</a:t>
            </a:r>
            <a:endParaRPr lang="en-US" sz="950" dirty="0"/>
          </a:p>
        </p:txBody>
      </p:sp>
      <p:sp>
        <p:nvSpPr>
          <p:cNvPr id="8" name="answer-1"/>
          <p:cNvSpPr/>
          <p:nvPr/>
        </p:nvSpPr>
        <p:spPr>
          <a:xfrm>
            <a:off x="6446520" y="1463040"/>
            <a:ext cx="516636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Technology scouting or a targeted partner search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License or partner for it, don't reinvent it</a:t>
            </a:r>
            <a:endParaRPr lang="en-US" sz="1200" dirty="0"/>
          </a:p>
        </p:txBody>
      </p:sp>
      <p:sp>
        <p:nvSpPr>
          <p:cNvPr id="11" name="question-2"/>
          <p:cNvSpPr/>
          <p:nvPr/>
        </p:nvSpPr>
        <p:spPr>
          <a:xfrm>
            <a:off x="548640" y="2487168"/>
            <a:ext cx="51206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48716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8716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 work well defined, with known skills required?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2761488"/>
            <a:ext cx="50292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06440" y="2505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YES</a:t>
            </a:r>
            <a:endParaRPr lang="en-US" sz="950" dirty="0"/>
          </a:p>
        </p:txBody>
      </p:sp>
      <p:sp>
        <p:nvSpPr>
          <p:cNvPr id="16" name="answer-2"/>
          <p:cNvSpPr/>
          <p:nvPr/>
        </p:nvSpPr>
        <p:spPr>
          <a:xfrm>
            <a:off x="6446520" y="2487168"/>
            <a:ext cx="516636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Crowd labor market or invited contest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944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Many entrants lower effort per entrant on well-specified tasks</a:t>
            </a:r>
            <a:endParaRPr lang="en-US" sz="1200" dirty="0"/>
          </a:p>
        </p:txBody>
      </p:sp>
      <p:sp>
        <p:nvSpPr>
          <p:cNvPr id="19" name="question-3"/>
          <p:cNvSpPr/>
          <p:nvPr/>
        </p:nvSpPr>
        <p:spPr>
          <a:xfrm>
            <a:off x="548640" y="3511296"/>
            <a:ext cx="51206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51129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1129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Must contributions build on one another?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06440" y="3785616"/>
            <a:ext cx="50292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35295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YES</a:t>
            </a:r>
            <a:endParaRPr lang="en-US" sz="950" dirty="0"/>
          </a:p>
        </p:txBody>
      </p:sp>
      <p:sp>
        <p:nvSpPr>
          <p:cNvPr id="24" name="answer-3"/>
          <p:cNvSpPr/>
          <p:nvPr/>
        </p:nvSpPr>
        <p:spPr>
          <a:xfrm>
            <a:off x="6446520" y="3511296"/>
            <a:ext cx="516636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602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Collaborative community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968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Open-source-style cumulative work</a:t>
            </a:r>
            <a:endParaRPr lang="en-US" sz="1200" dirty="0"/>
          </a:p>
        </p:txBody>
      </p:sp>
      <p:sp>
        <p:nvSpPr>
          <p:cNvPr id="27" name="question-4"/>
          <p:cNvSpPr/>
          <p:nvPr/>
        </p:nvSpPr>
        <p:spPr>
          <a:xfrm>
            <a:off x="548640" y="4535424"/>
            <a:ext cx="51206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53542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53542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it novel and uncertain, with measurable success?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06440" y="4809744"/>
            <a:ext cx="50292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45537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YES</a:t>
            </a:r>
            <a:endParaRPr lang="en-US" sz="950" dirty="0"/>
          </a:p>
        </p:txBody>
      </p:sp>
      <p:sp>
        <p:nvSpPr>
          <p:cNvPr id="32" name="answer-4"/>
          <p:cNvSpPr/>
          <p:nvPr/>
        </p:nvSpPr>
        <p:spPr>
          <a:xfrm>
            <a:off x="6446520" y="4535424"/>
            <a:ext cx="5166360" cy="841248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626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 challenge or prize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49926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Many independent attempts surface extreme-value solutions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If the answer to every question is no: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a grant, a contract or internal R&amp;D. Prizes tend to suit well-defined leaps better than open-ended basic research.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Sources: Boudreau &amp; Lakhani, HBR (2013); Boudreau, Lacetera &amp; Lakhani, Management Science (2011); Pisano &amp; Verganti, HBR (2008); InnoCentive/Wazoku challenge types.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Commit: agree the outcome and confirm the organization can act on the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  Commit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 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6944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 Mobilize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39712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971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 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  Adopt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outcome do we need, and are we ready to act on the answer?”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together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Choose the outcome: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ideas, prototypes and pilots, a market, awareness, action or transformation.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Assess readiness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eight dimensions, from sponsor and owner to budget, IP, capacity to absorb a solution and adoption route.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Name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executive sponsor and a problem owner who will personally use the result.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Test the alternatives: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scouting, grant, contract or internal R&amp;D.</a:t>
            </a:r>
            <a:endParaRPr lang="en-US" sz="1400" dirty="0"/>
          </a:p>
        </p:txBody>
      </p:sp>
      <p:sp>
        <p:nvSpPr>
          <p:cNvPr id="18" name="deliverables"/>
          <p:cNvSpPr/>
          <p:nvPr/>
        </p:nvSpPr>
        <p:spPr>
          <a:xfrm>
            <a:off x="6080760" y="23774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you 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Outcome statement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Readiness scorecard with gaps and fixes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Sponsor and owner commitments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 / no-go recommendation</a:t>
            </a:r>
            <a:endParaRPr lang="en-US" sz="1400" dirty="0"/>
          </a:p>
        </p:txBody>
      </p:sp>
      <p:sp>
        <p:nvSpPr>
          <p:cNvPr id="21" name="gate"/>
          <p:cNvSpPr/>
          <p:nvPr/>
        </p:nvSpPr>
        <p:spPr>
          <a:xfrm>
            <a:off x="9006840" y="237744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60320"/>
            <a:ext cx="310896" cy="310896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Gate: Ready to commit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063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Problem owner named and engaged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Funding covers operations and transition, not just the purse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No red flags on ownership, capacity or adoption route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Typical duration: 2–4 weeks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Best-practice anchors: Deloitte, Craft of Incentive Prize Design (2014); Challenge.gov toolkit "Prepare"; NASA@Work requires owners to own the problem.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Frame: find the right problem and state it so unexpected solvers recognize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 Commit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 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6944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 Mobilize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39712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971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 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  Adopt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problem, stated so the right outsiders recognize it?”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together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Discover: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interview owners and mine roadmaps for a long list of gaps.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Prioritize: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 each candidate on challenge fit and select one to three.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Define: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establish and justify the need, set its context, then write the statement.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Abstract: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 jargon and confidential detail, and break big problems into solvable modules.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Test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draft with a few likely solvers before anything is published.</a:t>
            </a:r>
            <a:endParaRPr lang="en-US" sz="1400" dirty="0"/>
          </a:p>
        </p:txBody>
      </p:sp>
      <p:sp>
        <p:nvSpPr>
          <p:cNvPr id="18" name="deliverables"/>
          <p:cNvSpPr/>
          <p:nvPr/>
        </p:nvSpPr>
        <p:spPr>
          <a:xfrm>
            <a:off x="6080760" y="23774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you 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Problem long list with fit scores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Problem statement: internal and solver-facing versions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Measurable success criteria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Landscape of what has been tried</a:t>
            </a:r>
            <a:endParaRPr lang="en-US" sz="1400" dirty="0"/>
          </a:p>
        </p:txBody>
      </p:sp>
      <p:sp>
        <p:nvSpPr>
          <p:cNvPr id="21" name="gate"/>
          <p:cNvSpPr/>
          <p:nvPr/>
        </p:nvSpPr>
        <p:spPr>
          <a:xfrm>
            <a:off x="9006840" y="237744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60320"/>
            <a:ext cx="310896" cy="310896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Gate: Problem approved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063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Owner signs off the statement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Success can be measured and judged objectively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Publishable without confidential detail; not purchasable today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Typical duration: 3–6 weeks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Best-practice anchors: Spradlin, "Are You Solving the Right Problem?" HBR (2012); Jeppesen &amp; Lakhani (2010); NASA on problem decomposition.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Design: build the challenge backward from the outcome and fix where the winner will land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 Commit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 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 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6944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 Mobilize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39712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971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 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  Adopt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mechanism, rules and incentives — and where will the winner land?”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together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Structure: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single or staged (ideas, then design, then prototype, then pilot), with milestone awards.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Incentives: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purse sized to solver effort and follow-on value, plus test access, data, mentoring and buyers.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Rules: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eligibility, IP and data terms that enable the adoption route.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Judging: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measurable criteria, a rubric, the panel and conflict checks.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Landing zone: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adoption owner, a budget, and a pilot, procurement or license route.</a:t>
            </a:r>
            <a:endParaRPr lang="en-US" sz="1400" dirty="0"/>
          </a:p>
        </p:txBody>
      </p:sp>
      <p:sp>
        <p:nvSpPr>
          <p:cNvPr id="18" name="deliverables"/>
          <p:cNvSpPr/>
          <p:nvPr/>
        </p:nvSpPr>
        <p:spPr>
          <a:xfrm>
            <a:off x="6080760" y="23774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you 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Challenge design brief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Rules, terms and IP model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Judging plan and rubric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Landing-zone plan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Full-lifecycle budget and outreach plan</a:t>
            </a:r>
            <a:endParaRPr lang="en-US" sz="1400" dirty="0"/>
          </a:p>
        </p:txBody>
      </p:sp>
      <p:sp>
        <p:nvSpPr>
          <p:cNvPr id="21" name="gate"/>
          <p:cNvSpPr/>
          <p:nvPr/>
        </p:nvSpPr>
        <p:spPr>
          <a:xfrm>
            <a:off x="9006840" y="237744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60320"/>
            <a:ext cx="310896" cy="310896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Gate: Design signed off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063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Sponsor, legal and procurement sign off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Transition is funded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 team can read the rules and know exactly what wins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Typical duration: 4–8 weeks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Best-practice anchors: Deloitte's five design elements; XPRIZE "audacious but achievable"; MITRE, From Prize Competitions to Procurement.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Mobilize: recruit beyond the usual suspects and help teams reach a credible entry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 Commit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 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6944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  Mobilize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39712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971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 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  Adopt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“Are the right solvers, including unexpected ones, competing?”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together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Recruit across disciplines,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 just in the obvious field. Outsiders win disproportionately.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Enlist multipliers: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universities, professional societies, accelerators, labs and diaspora networks.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Lower early barriers: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cheap first round, office hours, Q&amp;A and team matching.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Steer with data: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track registrations and discipline mix weekly and adjust outreach mid-course.</a:t>
            </a:r>
            <a:endParaRPr lang="en-US" sz="1400" dirty="0"/>
          </a:p>
        </p:txBody>
      </p:sp>
      <p:sp>
        <p:nvSpPr>
          <p:cNvPr id="18" name="deliverables"/>
          <p:cNvSpPr/>
          <p:nvPr/>
        </p:nvSpPr>
        <p:spPr>
          <a:xfrm>
            <a:off x="6080760" y="23774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you 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Launch and outreach campaign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Partner and multiplier network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Solver support program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Participation dashboard</a:t>
            </a:r>
            <a:endParaRPr lang="en-US" sz="1400" dirty="0"/>
          </a:p>
        </p:txBody>
      </p:sp>
      <p:sp>
        <p:nvSpPr>
          <p:cNvPr id="21" name="gate"/>
          <p:cNvSpPr/>
          <p:nvPr/>
        </p:nvSpPr>
        <p:spPr>
          <a:xfrm>
            <a:off x="9006840" y="237744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60320"/>
            <a:ext cx="310896" cy="310896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Gate: Participation check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063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Enough qualified entries to judge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Spread across distinct disciplines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If not: extend, adjust outreach, or re-scope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Typical duration: 1–12 months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Best-practice anchors: DOE American-Made Challenges "Power Connectors"; Boudreau, Lacetera &amp; Lakhani (2011); Deloitte on non-cash motivators.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Select: judge on evidence, defensibly, with the people who will adopt the result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 Commit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 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6944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 Mobilize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39712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971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  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  Adopt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we pick winners fairly, defensibly and on evidence?”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together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Build the panel: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balanced, conflict-screened and calibrated on the rubric before scoring.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Triage in stages: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eligibility screen, then blind expert review, then finalist testing.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Reconcile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divergent scores in discussion rather than averaging them away.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Verify winners: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eligibility, compliance and reproducible results.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Seat the problem owner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the panel. Adoption starts here.</a:t>
            </a:r>
            <a:endParaRPr lang="en-US" sz="1400" dirty="0"/>
          </a:p>
        </p:txBody>
      </p:sp>
      <p:sp>
        <p:nvSpPr>
          <p:cNvPr id="18" name="deliverables"/>
          <p:cNvSpPr/>
          <p:nvPr/>
        </p:nvSpPr>
        <p:spPr>
          <a:xfrm>
            <a:off x="6080760" y="23774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you 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Scored, documented decisions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Verified winners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Award announcement and recognition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Audit-ready decision record</a:t>
            </a:r>
            <a:endParaRPr lang="en-US" sz="1400" dirty="0"/>
          </a:p>
        </p:txBody>
      </p:sp>
      <p:sp>
        <p:nvSpPr>
          <p:cNvPr id="21" name="gate"/>
          <p:cNvSpPr/>
          <p:nvPr/>
        </p:nvSpPr>
        <p:spPr>
          <a:xfrm>
            <a:off x="9006840" y="237744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60320"/>
            <a:ext cx="310896" cy="310896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Gate: Awards approved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063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Results verified and reproducible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Decision record defensible to any entrant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Sponsor approves awards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Typical duration: 2–6 weeks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Best-practice anchors: Challenge.gov toolkit "Conduct" and "Award"; XPRIZE objective testing; 15 U.S.C. §3719 judging requirements (federal).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Adopt: move winners into use and keep the network working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 Commit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 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 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6944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 Mobilize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39712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971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  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  Adopt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the solution get used, and does the capability stay?”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together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Activate the landing zone: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pre-agreed pilot, contract, license or investment.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Showcase winners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 buyers, investors and follow-on funders.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Hand off the network: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solvers, experts and partners stay reachable.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Measure impact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 12, 24 and 36 months. Most impact arrives after the prize closes.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Feed the pipeline: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lessons and the next problem go into the next challenge.</a:t>
            </a:r>
            <a:endParaRPr lang="en-US" sz="1400" dirty="0"/>
          </a:p>
        </p:txBody>
      </p:sp>
      <p:sp>
        <p:nvSpPr>
          <p:cNvPr id="18" name="deliverables"/>
          <p:cNvSpPr/>
          <p:nvPr/>
        </p:nvSpPr>
        <p:spPr>
          <a:xfrm>
            <a:off x="6080760" y="23774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you 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Pilot or contract under way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Network handoff package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Impact report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Lessons learned and next-problem pipeline</a:t>
            </a:r>
            <a:endParaRPr lang="en-US" sz="1400" dirty="0"/>
          </a:p>
        </p:txBody>
      </p:sp>
      <p:sp>
        <p:nvSpPr>
          <p:cNvPr id="21" name="gate"/>
          <p:cNvSpPr/>
          <p:nvPr/>
        </p:nvSpPr>
        <p:spPr>
          <a:xfrm>
            <a:off x="9006840" y="237744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60320"/>
            <a:ext cx="310896" cy="310896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Gate: Scale, iterate or stop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063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Scale: evidence supports wider use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Iterate: a promising gap remains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Stop: record and share what was learned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Typical duration: 3–24 months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Best-practice anchors: Challenge.gov toolkit "Transition"; Deloitte "legacy"; Nesta/Challenge Works; Unilever Foundry funded pilots.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 a repeatable capability; the first challenge is how you start building it</a:t>
            </a:r>
            <a:endParaRPr lang="en-US" sz="2800" dirty="0"/>
          </a:p>
        </p:txBody>
      </p:sp>
      <p:sp>
        <p:nvSpPr>
          <p:cNvPr id="3" name="stage-1"/>
          <p:cNvSpPr/>
          <p:nvPr/>
        </p:nvSpPr>
        <p:spPr>
          <a:xfrm>
            <a:off x="548640" y="21945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challenge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Learn by doing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well-framed problem with an engaged owner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Templates and rules drafted for reuse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Internal champions identified and celebrated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96512" y="438912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age-2"/>
          <p:cNvSpPr/>
          <p:nvPr/>
        </p:nvSpPr>
        <p:spPr>
          <a:xfrm>
            <a:off x="4297680" y="182880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 practice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Make the second one cheaper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problem pipeline with intake criteria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Pre-agreed legal, IP and procurement templates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standing solver and partner network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45552" y="438912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age-3"/>
          <p:cNvSpPr/>
          <p:nvPr/>
        </p:nvSpPr>
        <p:spPr>
          <a:xfrm>
            <a:off x="8046720" y="1463040"/>
            <a:ext cx="3520440" cy="347472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program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Open innovation as a normal tool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603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A center of excellence that brokers methods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Pre-competed vehicles to buy challenge services fast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Portfolio review and an outcomes dashboard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Culture is the binding constraint.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 NASA's experience, external solutions were adopted only where internal experts came to see themselves as "solution seekers" as well as problem solvers. Involve them as co-designers and judges, not bystanders.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80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Examples: NASA CoECI and the NOIS contract vehicles; DOE American-Made Challenges; P&amp;G Connect + Develop. Culture finding: Lifshitz-Assaf, NYU Stern study of NASA R&amp;D.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challenge typically takes 5–18 months from commitment to award; adoption continues beyond that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7744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10312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8620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1188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12064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0372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62940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13816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M12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92124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964692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0" y="2011680"/>
            <a:ext cx="0" cy="3657600"/>
          </a:xfrm>
          <a:prstGeom prst="line">
            <a:avLst/>
          </a:prstGeom>
          <a:noFill/>
          <a:ln w="9525">
            <a:solidFill>
              <a:srgbClr val="BFE0D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115568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M18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Commit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2185416"/>
            <a:ext cx="37719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4607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2–4 weeks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7340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Frame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54630" y="2770632"/>
            <a:ext cx="62865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273405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3–6 weeks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319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 Design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3355848"/>
            <a:ext cx="88011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54830" y="3319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4–8 weeks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904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 Mobilize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63390" y="3941064"/>
            <a:ext cx="339471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49540" y="39044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1–12 months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897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 Select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58100" y="4526280"/>
            <a:ext cx="62865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78190" y="44897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2–6 weeks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074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  Adopt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86750" y="5111496"/>
            <a:ext cx="3143250" cy="347472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23910" y="5074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3–24 months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77440" y="5596128"/>
            <a:ext cx="320040" cy="201168"/>
          </a:xfrm>
          <a:prstGeom prst="roundRect">
            <a:avLst>
              <a:gd name="adj" fmla="val 2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88920" y="5550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Before launch: about 2–4 months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5596128"/>
            <a:ext cx="32004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97880" y="5550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 market: varies with challenge type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95360" y="5596128"/>
            <a:ext cx="320040" cy="201168"/>
          </a:xfrm>
          <a:prstGeom prst="roundRect">
            <a:avLst>
              <a:gd name="adj" fmla="val 2272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06840" y="5550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 award: ongoing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Illustrative mid-range plan. Ideation challenges can run in weeks; hardware prizes with physical testing can run for years. Durations draw on Challenge.gov, Nesta and DOE American-Made practice.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depends on a few named people on your side; we bring the rest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From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Executive sponsor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18541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Owns the outcome and budget; chairs the gates; attends the award.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69080" y="18745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0116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 owner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218541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Signs the problem statement, sits on the panel and adopts the result.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375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1821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Legal and IP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51129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Confirms authority, IP model and terms early, not at launch.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069080" y="32004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3375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754880" y="31821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Procurement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754880" y="351129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Designs the pilot or contract route before launch.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66344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4507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Finance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483717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Funds the purse, operations and transition as one budget.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069080" y="4526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46634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754880" y="4507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Communications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754880" y="483717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Owns brand and story; amplifies outreach.</a:t>
            </a:r>
            <a:endParaRPr lang="en-US" sz="1200" dirty="0"/>
          </a:p>
        </p:txBody>
      </p:sp>
      <p:sp>
        <p:nvSpPr>
          <p:cNvPr id="28" name="what-we-bring"/>
          <p:cNvSpPr/>
          <p:nvPr/>
        </p:nvSpPr>
        <p:spPr>
          <a:xfrm>
            <a:off x="7818120" y="1417320"/>
            <a:ext cx="3794760" cy="443484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0924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From us, end to end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8092440" y="210312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Readiness and problem-discovery facilitation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Problem framing and abstraction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Challenge design, rules, judging and budget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Platform, outreach and solver support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Judging operations and winner verification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Transition support, network handoff and impact measurement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step: a six-week Commit-and-Frame sprint ending in a go / no-go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143000" y="1760220"/>
            <a:ext cx="2130552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Weeks 1–2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Readiness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Five to eight stakeholder interviews; readiness scorecard; outcome statement draft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5087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959352" y="1760220"/>
            <a:ext cx="2130552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64992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Weeks 2–3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Discovery workshop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Half-day session to build and score a long list of candidate problems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15087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134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75704" y="1760220"/>
            <a:ext cx="2130552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1344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Weeks 4–5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Frame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81344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Problem statements for the top one to three; landscape scan; solver-pool check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97696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9769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997696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Week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97696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Decision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97696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Go / no-go, recommended mechanism and an outline design brief</a:t>
            </a:r>
            <a:endParaRPr lang="en-US" sz="1250" dirty="0"/>
          </a:p>
        </p:txBody>
      </p:sp>
      <p:sp>
        <p:nvSpPr>
          <p:cNvPr id="26" name="decisions-today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315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Decisions we would like from today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72744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Who is the executive sponsor, and who are the candidate problem owners?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Which five to eight people should we interview in weeks 1–2?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72744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date for the half-day discovery workshop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Any constraints we should know now: authority, IP, procurement, timing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Boudreau, K. &amp; Lakhani, K. (2013). Using the Crowd as an Innovation Partner. Harvard Business Review.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Boudreau, K., Lacetera, N. &amp; Lakhani, K. (2011). Incentives and Problem Uncertainty in Innovation Contests. Management Science.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Challenge.gov / GSA. Prize and Challenge Toolkit (Prepare, Develop, Conduct, Award, Transition).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Deloitte GovLab (2014). The Craft of Incentive Prize Design: Lessons from the Public Sector.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Jeppesen, L. B. &amp; Lakhani, K. (2010). Marginality and Problem-Solving Effectiveness in Broadcast Search. Organization Science.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Lifshitz-Assaf, H. (2018). Dismantling Knowledge Boundaries at NASA. Administrative Science Quarterly.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McKinsey &amp; Company (2009). And the Winner Is…: Capturing the Promise of Philanthropic Prizes.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MITRE. From Incentive Prize and Challenge Competitions to Procurement.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Nesta / Challenge Works. Challenge Prizes: A Practice Guide.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Nextgov (2012). White House discloses administrative costs for innovation contests.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OSTP (2024). Implementation of Federal Prize and Citizen Science Authority, FY2021–22.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Pisano, G. &amp; Verganti, R. (2008). Which Kind of Collaboration Is Right for You? Harvard Business Review.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Spradlin, D. (2012). Are You Solving the Right Problem? Harvard Business Review.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 DOE / NREL. American-Made Challenges program and Power Connectors.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XPRIZE Foundation. Prize design process; Ansari X Prize history.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500 Startups survey of corporate innovation programs, reported in Fortune (2017).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lenge Journey">
  <a:themeElements>
    <a:clrScheme name="Challenge Journey">
      <a:dk1>
        <a:srgbClr val="1A2B2E"/>
      </a:dk1>
      <a:lt1>
        <a:srgbClr val="FFFFFF"/>
      </a:lt1>
      <a:dk2>
        <a:srgbClr val="0F4C4A"/>
      </a:dk2>
      <a:lt2>
        <a:srgbClr val="EEF4F2"/>
      </a:lt2>
      <a:accent1>
        <a:srgbClr val="0F4C4A"/>
      </a:accent1>
      <a:accent2>
        <a:srgbClr val="E8602C"/>
      </a:accent2>
      <a:accent3>
        <a:srgbClr val="2E8C7E"/>
      </a:accent3>
      <a:accent4>
        <a:srgbClr val="F2B24C"/>
      </a:accent4>
      <a:accent5>
        <a:srgbClr val="5F7376"/>
      </a:accent5>
      <a:accent6>
        <a:srgbClr val="BFE0D8"/>
      </a:accent6>
      <a:hlink>
        <a:srgbClr val="2E8C7E"/>
      </a:hlink>
      <a:folHlink>
        <a:srgbClr val="5F7376"/>
      </a:folHlink>
    </a:clrScheme>
    <a:fontScheme name="Challenge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Problem to Adoption</dc:title>
  <dc:subject>PptxGenJS Presentation</dc:subject>
  <dc:creator>Open Innovation Practice</dc:creator>
  <cp:lastModifiedBy>Open Innovation Practice</cp:lastModifiedBy>
  <cp:revision>1</cp:revision>
  <dcterms:created xsi:type="dcterms:W3CDTF">2026-10-02T15:14:32Z</dcterms:created>
  <dcterms:modified xsi:type="dcterms:W3CDTF">2026-10-02T15:14:32Z</dcterms:modified>
</cp:coreProperties>
</file>