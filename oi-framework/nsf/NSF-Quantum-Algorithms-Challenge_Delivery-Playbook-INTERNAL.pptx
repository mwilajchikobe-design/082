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257fb3a1-9f9f-2442-e632-0971cfc2d7eb}">
          <p14:sldIdLst>
            <p14:sldId id="256"/>
            <p14:sldId id="257"/>
          </p14:sldIdLst>
        </p14:section>
        <p14:section name="Traceability" id="{e411736e-71e4-7e86-5247-09e2f914f95a}">
          <p14:sldIdLst>
            <p14:sldId id="258"/>
            <p14:sldId id="259"/>
          </p14:sldIdLst>
        </p14:section>
        <p14:section name="Tools applied" id="{8217fb3b-9cdb-2ad6-85ae-4a2ad25b411f}">
          <p14:sldIdLst>
            <p14:sldId id="260"/>
            <p14:sldId id="261"/>
            <p14:sldId id="262"/>
            <p14:sldId id="263"/>
          </p14:sldIdLst>
        </p14:section>
        <p14:section name="Risks and KPIs" id="{d287930d-3a03-e242-ec05-38a5c64e37d5}">
          <p14:sldIdLst>
            <p14:sldId id="264"/>
            <p14:sldId id="265"/>
          </p14:sldIdLst>
        </p14:section>
        <p14:section name="Next week" id="{3a7fcd11-e9e7-02db-0294-d6a0defab043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NSF Quantum Algorithms Challenge  ·  Delivery playbook  ·  Internal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NSF delivery playbook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NSF Quantum Algorithms Challenge (NOIS3-085)  ·  The Challenge Journey tools applied to this task order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Internal  ·  Working draft  ·  October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edition relates to the template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71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template stays generic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3716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The Challenge Journey client deck and playbook are unchanged and reusable for any client.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26771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Same framework, same tools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26771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This edition applies the six phases and the ten tools to NOIS3-085; nothing new is invented for NSF alone.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16382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 claim traces to a source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163824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Each NSF-specific statement cites an RFTP section, our proposal (v6, Sep 9, 2026) or a public source.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151376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05993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Client-facing and internal stay separate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4059936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The NSF client deck carries no contractor branding; internal scoring and risks live only here.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04748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47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95604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Update as decisions land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95604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Each NSF or collaborator decision updates one content file; both decks rebuild from it.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Traceability: every RFTP requirement lands in a phase, with our committed response and status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749040"/>
                <a:gridCol w="393192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Phase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RFTP requirements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Our proposal commitment (v6)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Status, Oct 2026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 Commit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§1.2–1.3 goals; COMPETES and CHIPS authority; $1M Phase 1 purse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Kickoff in award week; pre-competition launch report Part 1 within 7 days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Done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Frame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§2.1.1.1 problem analysis and decomposition; challenge statement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Problem statement anchored in industry constraints; scoring dimensions separated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Open: use-case scope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 Design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§2.1.1.2 rules, terms and conditions; §2.1.6.1 participation agreement; §2.1.5 judging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Rules and agreement drafted in the first 4 weeks; NSF review; judges calibrated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Open: prize structure, criteria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Mobilize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§2.1.2 splash page, website, Q&amp;A; §2.1.4 outreach, EPSCoR, webinars; §2.1.1.6 registrant analysis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Outreach to ~280 organizations; monthly registrant-quality reports; launch in early Dec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Splash page and QWC done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 Select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§2.1.5 judging; §2.1.6.2 eligibility verification; §3.1 solutions by May 20, 2027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April judging; up to 40 × $25K paid with documented verification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Upcoming: Apr–May 2027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 Adopt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§2.1.4 collaborator coordination; Phase 2 status webinar; §4.3 close-out; §2.1.8 records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Pairing logistics; status webinar; close-out package from live data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Upcoming: mid-2027–2029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Sources: RFTP NOIS3-085; NOIS3-085 proposal portal response v6 (Sep 9, 2026). Award assumed Sep 16, 2026 per the RFTP Q&amp;A.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NSF gates: dated decision points to keep the December launch and the May 20 delivery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852160"/>
                <a:gridCol w="17373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Gate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Must be true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Decides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Target date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2 Problem approved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Use-case scope decided; collaborator problem areas in hand or a fallback agreed; success criteria measurable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NSF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Late Oct 2026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3 Design signed off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Prize structure chosen against pairing capacity; criteria and weights set; rules and agreement through NSF review; USA.gov posting ready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NSF (with CoECI)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Late Nov 2026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4 Participation check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Registrants on pace by segment and EPSCoR reach; likely high-quality submitters identified monthly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Our team + NSF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Monthly, Jan–Mar 2027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5 Awards approved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Scores reconciled; winners verified (eligibility, DCL 26-022, ethics); NSF concurrence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NSF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Early May 2027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6 Phase 2 go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Pairings agreed with pre-qualified partners; Phase 2 prize and payer defined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NSF + collaborators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Jun–Jul 2027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Dates follow the proposed schedule and RFTP §3.1. The Gate 4 thresholds should be set once the first monthly registrant report is in.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1 applied · Readiness: 29 of 40, so proceed, with three dimensions sitting exactly at the threshold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484632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Dimension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Score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Action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Executive sponsor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NSF TIP; Project Triad and Quantum+X are top-level priorities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Keep sponsor at gates 3 and 5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Problem owner ★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NSF owns the program; ownership of each use case with the ~8 companies is unclear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Name a contact per company (ask 1–2)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Funding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Phase 1 purse funded; Phase 2 purse and payer undetermined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Decision before Phase 1 winners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Legal and IP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COMPETES and CHIPS authority; IP stays with participants; DCL 26-022 certification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FAQ on research security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Absorptive capacity ★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Depends on each company's capacity to pilot with teams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Collect pairing capacity (ask 1)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Adoption pathway ★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Phase 2 pairing and pilots designed in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Make the pairing path explicit in the rules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Cultural openness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Industry co-design is built into Quantum+X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Measurement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RFTP metrics are activity-level; no Phase 2/3 outcome metrics yet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Propose outcome KPIs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Internal working assessment for discussion; do not share with the client. Decision rule from the template: proceed at 28+ with no ★ item below 3.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3 applied · Challenge fit: 56 of 70, a strong candidate, held back by measurability and outsider access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822960"/>
                <a:gridCol w="82296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Weight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Score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Note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Important and widely recognized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×2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Algorithm gap is a recognized national priority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Solution not obvious or purchasable ★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×2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off-the-shelf quantum advantage for these use cases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Outsiders could contribute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×2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Quantum expertise is a barrier; domain experts help through teaming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Success measurable and judgeable ★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×2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Paper Phase 1: credibility rests on benchmarks against classical baselines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Statable without confidential context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×1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Depends on how anonymized the collaborator briefs are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IP and data shareable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×1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IP stays with participants; data depends on collaborators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Owner and adoption path ★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×2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Phase 2 pairing; per-company ownership to confirm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Solvable at reasonable cost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×1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$25K fits a proposal-stage entry; benchmarks add effort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Challenge beats alternatives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×1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Reaches beyond NSF's grantee base; complements Quantum+X funding tracks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56 / 70</a:t>
                      </a: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Internal working assessment. The two weakest items point to two design actions: a benchmark-credibility criterion, and explicit teaming support between quantum researchers and domain experts.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10 applied · Landing-zone plan: the gaps to close before launch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Question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What we know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Gap and owner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Who adopts the result?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Pre-qualified industry partners in Phase 2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</a:rPr>
                        <a:t>Named contact per company: NSF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Through which route?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Pairing event, joint design, ~6-month pilot, ~9-month monitoring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2"/>
                          </a:solidFill>
                        </a:rPr>
                        <a:t>Defined in RFTP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What budget, when?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Phase 2 prize undetermined; payer undetermined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</a:rPr>
                        <a:t>NSF decision before Phase 1 winners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Do IP and data terms allow it?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IP remains with participants; companies negotiate directly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</a:rPr>
                        <a:t>Guidance for partners on terms: NSF and counsel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What do winners get beyond cash?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Industry pairing; partner data, compute or hardware (to confirm)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</a:rPr>
                        <a:t>Collaborator offers: ask 1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Success at 12, 24, 36 months?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Not yet defined beyond RFTP §4.3 reporting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accent2"/>
                          </a:solidFill>
                        </a:rPr>
                        <a:t>Propose outcome KPIs: our team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Who holds the network after?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Records relinquished to NSF; database kept one year past performance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tx2"/>
                          </a:solidFill>
                        </a:rPr>
                        <a:t>RFTP §2.1.5.5, §2.1.8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7 applied · Purse: options within $1M, with judging load and pairing capacity as the tests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2011680"/>
                <a:gridCol w="182880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Option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Structure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Teams entering Phase 2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Per collaborator (~8)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Verification load by May 20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· RFTP baseline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40 × $25,000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Up to 40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~5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40 winner verifications and payments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 · Tiered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 × $25,000 + 10 × $50,000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Up to 30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~4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30; tier line needs reconciled scores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 · Fewer, larger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 × $50,000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Up to 20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~2–3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$2M modification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e.g., 40 × $50,000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Up to 40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~5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40; same process, scales unchanged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purse-notes"/>
          <p:cNvSpPr/>
          <p:nvPr/>
        </p:nvSpPr>
        <p:spPr>
          <a:xfrm>
            <a:off x="548640" y="4023360"/>
            <a:ext cx="1106424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133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Practitioner notes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48056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The RFTP invites a better alternative structure; our proposal priced the baseline. Any change goes through NSF before the rules are drafted, not after.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Price is unaffected: the purse is a pass-through at $1M whichever split is chosen.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If collaborators report low pairing capacity, Option A still works if NSF accepts that not every Phase 1 winner enters Phase 2. Say that explicitly in the rules.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RFTP NOIS3-085 §1.3; proposal v6 §5.2.6 (purse is a pass-through with no indirects or fee).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NSF risk register: the eleven risks most likely to hurt this challenge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926080"/>
                <a:gridCol w="393192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Early warning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Mitigation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3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Pairing capacity below winner count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Collaborators can't name team counts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Size winner count to capacity; state pairing limits in rules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NSF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Use cases too vague (or too narrow)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Briefs not in by mid-Nov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Brief template; fallback to sector-level framing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NSF + us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Unverifiable quantum-advantage claims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Submissions lack classical baselines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Evidence-credibility criterion; baseline guidance in rules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Entry burden of NSF-format documents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Registrants drop off at submission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SciENcv guide, office hours, early reminders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Industry judge conflicts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Judge ties to teams or future pairings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Attestations; recusal rule agreed up front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NSF + us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Thin EPSCoR participation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Low registrations from EPSCoR states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State EPSCoR offices; targeted webinars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Holiday-season launch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Slow December sign-ups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Plan a January relaunch push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Research security confusion (DCL 26-022)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Repeated questions in the Q&amp;A forum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Plain-language FAQ reviewed by NSF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NSF + us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Media review delays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Assets waiting on two-week review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Review calendar set in October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Phase 2 prize undefined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Winners unsure what comes next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NSF decision before winners are announced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NSF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40 verifications by May 20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Judging slips past April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Verify eligibility on arrival; payment process ready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</a:t>
                      </a:r>
                      <a:endParaRPr lang="en-US" sz="13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KPIs: RFTP reporting metrics plus the outcome metrics we propose to NSF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57200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Level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Required by RFTP §4.3.9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Proposed additions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Activity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Webinar attendees; registered participants; active participants; unique solvers; submissions; countries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Share from EPSCoR jurisdictions; share new to NSF funding; mix by segment (researcher, startup, lab, domain expert, student)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Output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Winners and award amounts; solution records with TRL and taxonomy ID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Share of submissions with credible classical baselines; spread of judge scores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Efficiency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Contractor–government meeting hours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Cost per qualified submission; days from close to award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Pairings formed; pilots launched; pilots meeting success criteria; follow-on funding or contracts at 12 and 24 months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Capability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Lessons learned; close-out meeting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Reusable rules and brief templates for later Quantum+X tracks; network handed to NSF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5332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5"/>
                </a:solidFill>
              </a:rPr>
              <a:t>Countries is required by the RFTP but participation is U.S.-only; report states and EPSCoR jurisdictions alongside it.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week's session with NSF and the industry collaborators: agenda and facilitator moves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2377440"/>
                <a:gridCol w="566928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90-min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60-min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Segment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Facilitator moves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chemeClr val="bg1"/>
                          </a:solidFill>
                        </a:rPr>
                        <a:t>Deck slides</a:t>
                      </a:r>
                      <a:endParaRPr lang="en-US" sz="14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0–10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0–5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Introductions and goals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Each collaborator: one sentence on the problem they'd most like solved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1–2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10–20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5–12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The landing-zone idea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Land the core point: Phase 1 is built backward from Phase 2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3–5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20–30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12–17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Where we are and the timeline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Confirm the December launch; flag the November rules deadline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4, 6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30–50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17–32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Use cases and the brief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Walk the one-page brief; get a yes or no from each company on writing one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50–65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32–42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Pairing capacity and prize structure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Ask each company for a team count; test options A, B and C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65–80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42–52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Judging and conflicts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Agree the recusal principle; ask for judge nominations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80–90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52–60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Asks, decisions, next 90 days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Confirm a named contact and a date for each ask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chemeClr val="tx1"/>
                          </a:solidFill>
                        </a:rPr>
                        <a:t>13–15</a:t>
                      </a:r>
                      <a:endParaRPr lang="en-US" sz="145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Hold in reserve: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slides 10–12 (mobilize, eligibility, adopt) for questions; send the deck afterward with the asks table as the cover note.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bank for the session</a:t>
            </a:r>
            <a:endParaRPr lang="en-US" sz="2800" dirty="0"/>
          </a:p>
        </p:txBody>
      </p:sp>
      <p:sp>
        <p:nvSpPr>
          <p:cNvPr id="3" name="qbank-1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For each collaborator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Which problem would you most want a quantum team working on?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What would a measurable win over your classical method look like?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How many Phase 2 teams could you work with, and with what data or compute?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Who on your team owns a pilot?</a:t>
            </a:r>
            <a:endParaRPr lang="en-US" sz="1400" dirty="0"/>
          </a:p>
        </p:txBody>
      </p:sp>
      <p:sp>
        <p:nvSpPr>
          <p:cNvPr id="6" name="qbank-2"/>
          <p:cNvSpPr/>
          <p:nvPr/>
        </p:nvSpPr>
        <p:spPr>
          <a:xfrm>
            <a:off x="4297680" y="1371600"/>
            <a:ext cx="3520440" cy="44805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For NSF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0116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Open sectors or anchored problem areas?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Is there appetite for a tiered or fewer-larger prize?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Can the rules state a purse that may increase?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When will the Phase 2 prize and payer be settled?</a:t>
            </a:r>
            <a:endParaRPr lang="en-US" sz="1400" dirty="0"/>
          </a:p>
        </p:txBody>
      </p:sp>
      <p:sp>
        <p:nvSpPr>
          <p:cNvPr id="9" name="qbank-3"/>
          <p:cNvSpPr/>
          <p:nvPr/>
        </p:nvSpPr>
        <p:spPr>
          <a:xfrm>
            <a:off x="8046720" y="1371600"/>
            <a:ext cx="3520440" cy="44805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For everyone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01168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 should a judge do if they may later partner with a team?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How should the challenge treat claims of quantum advantage?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What would make this a model for later Quantum+X tracks?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to confirm before the deck goes out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66928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Item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Why it matters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5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Official competition name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The deck uses the RFTP title as a placeholder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Confirm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Names of the ~8 collaborating companies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Not in the RFTP; the deck avoids naming them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Confirm with NSF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Phase 2 timing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Deck timeline infers design, pilot and monitoring dates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Indicative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Project Triad details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Taken from press coverage; nsf.gov was not reachable for verification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Verify on nsf.gov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Splash page and QWC handout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Reported done; deck states it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Confirmed by team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 review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The deck is a client product, and may need NSF review before external sharing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Check with COR</a:t>
                      </a:r>
                      <a:endParaRPr lang="en-US" sz="1500" dirty="0"/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llenge Journey">
  <a:themeElements>
    <a:clrScheme name="Challenge Journey">
      <a:dk1>
        <a:srgbClr val="1A2B2E"/>
      </a:dk1>
      <a:lt1>
        <a:srgbClr val="FFFFFF"/>
      </a:lt1>
      <a:dk2>
        <a:srgbClr val="0F4C4A"/>
      </a:dk2>
      <a:lt2>
        <a:srgbClr val="EEF4F2"/>
      </a:lt2>
      <a:accent1>
        <a:srgbClr val="0F4C4A"/>
      </a:accent1>
      <a:accent2>
        <a:srgbClr val="E8602C"/>
      </a:accent2>
      <a:accent3>
        <a:srgbClr val="2E8C7E"/>
      </a:accent3>
      <a:accent4>
        <a:srgbClr val="F2B24C"/>
      </a:accent4>
      <a:accent5>
        <a:srgbClr val="5F7376"/>
      </a:accent5>
      <a:accent6>
        <a:srgbClr val="BFE0D8"/>
      </a:accent6>
      <a:hlink>
        <a:srgbClr val="2E8C7E"/>
      </a:hlink>
      <a:folHlink>
        <a:srgbClr val="5F7376"/>
      </a:folHlink>
    </a:clrScheme>
    <a:fontScheme name="Challenge Journe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NSF Quantum Algorithms Challenge: delivery playbook</dc:title>
  <dc:subject>PptxGenJS Presentation</dc:subject>
  <dc:creator>Open Innovation Practice</dc:creator>
  <cp:lastModifiedBy>Open Innovation Practice</cp:lastModifiedBy>
  <cp:revision>1</cp:revision>
  <dcterms:created xsi:type="dcterms:W3CDTF">2026-10-03T20:45:28Z</dcterms:created>
  <dcterms:modified xsi:type="dcterms:W3CDTF">2026-10-03T20:45:28Z</dcterms:modified>
</cp:coreProperties>
</file>