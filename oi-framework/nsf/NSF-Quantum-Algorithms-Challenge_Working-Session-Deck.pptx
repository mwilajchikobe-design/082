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0f2163fc-7910-1440-581b-65c342cbf7f3}">
          <p14:sldIdLst>
            <p14:sldId id="256"/>
            <p14:sldId id="257"/>
            <p14:sldId id="258"/>
          </p14:sldIdLst>
        </p14:section>
        <p14:section name="Where we are" id="{112b2485-59a7-d004-26e4-553e4402c093}">
          <p14:sldIdLst>
            <p14:sldId id="259"/>
            <p14:sldId id="260"/>
            <p14:sldId id="261"/>
          </p14:sldIdLst>
        </p14:section>
        <p14:section name="Design decisions" id="{a3ea1799-5f18-4ced-accb-7bb912c8c8be}">
          <p14:sldIdLst>
            <p14:sldId id="262"/>
            <p14:sldId id="263"/>
            <p14:sldId id="264"/>
          </p14:sldIdLst>
        </p14:section>
        <p14:section name="Mobilize to adopt" id="{b7deb445-a104-5147-bccf-dc5606611dc5}">
          <p14:sldIdLst>
            <p14:sldId id="265"/>
            <p14:sldId id="266"/>
            <p14:sldId id="267"/>
          </p14:sldIdLst>
        </p14:section>
        <p14:section name="Asks and next steps" id="{67b0cd75-9486-fd0a-25e4-bca36bc45ab1}">
          <p14:sldIdLst>
            <p14:sldId id="268"/>
            <p14:sldId id="269"/>
            <p14:sldId id="270"/>
          </p14:sldIdLst>
        </p14:section>
        <p14:section name="Appendix" id="{e6763d2c-b06e-2cf6-4a30-66b229933882}">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the session: leave with the inputs and decisions the competition needs before rules go to NSF review in November and launch in early December. The deck is built around those asks; slides 13–15 are the ones to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room knows Triad. The one point to make: this is Quantum+X's first public program, so its visibility is high and its design sets a precedent for later Quantum+X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the session. Everything we ask of the collaborators later follows from it: if Phase 2 is the landing zone, the collaborators need to shape Phase 1 now, not after winners are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briefly. The point: Commit is behind us, so this is not a 'should we' meeting; it's a 'what exactly' meeting. Frame and Design are open, and they close when the rules enter NSF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collaborators directly: could you write one page like this by mid-November? Anonymized is fine. This is the single most valuable input they can give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collaborator part of the session by confirming a named contact at each company for asks 1 and 2. Without those, the prize structure and the problem framing stay open past the rules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F4C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5544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794760"/>
            <a:ext cx="10058400" cy="10972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rgbClr val="0F4C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03320"/>
            <a:ext cx="1005840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NSF Quantum Algorithms Challenge  ·  Working session with NSF and industry collaborators</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5544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NSF Quantum Algorithms Challenge</a:t>
            </a:r>
            <a:endParaRPr lang="en-US" sz="4400" dirty="0"/>
          </a:p>
        </p:txBody>
      </p:sp>
      <p:sp>
        <p:nvSpPr>
          <p:cNvPr id="3" name="Text 0"/>
          <p:cNvSpPr/>
          <p:nvPr>
            <p:ph idx="101" type="body" hasCustomPrompt="1"/>
          </p:nvPr>
        </p:nvSpPr>
        <p:spPr>
          <a:xfrm>
            <a:off x="731520" y="3794760"/>
            <a:ext cx="10058400" cy="1097280"/>
          </a:xfrm>
          <a:prstGeom prst="rect">
            <a:avLst/>
          </a:prstGeom>
          <a:noFill/>
          <a:ln/>
        </p:spPr>
        <p:txBody>
          <a:bodyPr wrap="square" lIns="0" tIns="0" rIns="0" bIns="0" rtlCol="0" anchor="t"/>
          <a:lstStyle/>
          <a:p>
            <a:pPr algn="l" indent="0" marL="0">
              <a:buNone/>
            </a:pPr>
            <a:r>
              <a:rPr lang="en-US" sz="2000" dirty="0">
                <a:solidFill>
                  <a:schemeClr val="accent6"/>
                </a:solidFill>
              </a:rPr>
              <a:t>Working session with NSF and Quantum+X industry collaborators</a:t>
            </a:r>
            <a:endParaRPr lang="en-US" sz="2000" dirty="0"/>
          </a:p>
          <a:p>
            <a:pPr algn="l" indent="0" marL="0">
              <a:buNone/>
            </a:pPr>
            <a:r>
              <a:rPr lang="en-US" sz="2000" dirty="0">
                <a:solidFill>
                  <a:schemeClr val="accent6"/>
                </a:solidFill>
              </a:rPr>
              <a:t>From Phase 1 proposals to industry pilots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challenge is the first public execution of Quantum+X, inside NSF's Project Triad</a:t>
            </a:r>
            <a:endParaRPr lang="en-US" sz="2800" dirty="0"/>
          </a:p>
        </p:txBody>
      </p:sp>
      <p:sp>
        <p:nvSpPr>
          <p:cNvPr id="3" name="Text 1"/>
          <p:cNvSpPr txBox="1"/>
          <p:nvPr/>
        </p:nvSpPr>
        <p:spPr>
          <a:xfrm>
            <a:off x="548640" y="1371600"/>
            <a:ext cx="11064240" cy="411480"/>
          </a:xfrm>
          <a:prstGeom prst="rect">
            <a:avLst/>
          </a:prstGeom>
          <a:noFill/>
          <a:ln/>
        </p:spPr>
        <p:txBody>
          <a:bodyPr wrap="square" lIns="0" tIns="0" rIns="0" bIns="0" rtlCol="0" anchor="t"/>
          <a:lstStyle/>
          <a:p>
            <a:pPr indent="0" marL="0">
              <a:buNone/>
            </a:pPr>
            <a:r>
              <a:rPr lang="en-US" sz="1500" dirty="0">
                <a:solidFill>
                  <a:schemeClr val="tx1"/>
                </a:solidFill>
              </a:rPr>
              <a:t>Project Triad integrates quantum sensing, networking and computing into one operational system and moves it toward real-world use.</a:t>
            </a:r>
            <a:endParaRPr lang="en-US" sz="1500" dirty="0"/>
          </a:p>
        </p:txBody>
      </p:sp>
      <p:sp>
        <p:nvSpPr>
          <p:cNvPr id="4" name="triad-1"/>
          <p:cNvSpPr/>
          <p:nvPr/>
        </p:nvSpPr>
        <p:spPr>
          <a:xfrm>
            <a:off x="548640" y="1965960"/>
            <a:ext cx="3520440" cy="1783080"/>
          </a:xfrm>
          <a:prstGeom prst="roundRect">
            <a:avLst>
              <a:gd name="adj" fmla="val 4103"/>
            </a:avLst>
          </a:prstGeom>
          <a:solidFill>
            <a:schemeClr val="bg2"/>
          </a:solidFill>
          <a:ln w="9525">
            <a:solidFill>
              <a:schemeClr val="bg2"/>
            </a:solidFill>
            <a:prstDash val="solid"/>
          </a:ln>
        </p:spPr>
      </p:sp>
      <p:sp>
        <p:nvSpPr>
          <p:cNvPr id="5" name="Text 3"/>
          <p:cNvSpPr txBox="1"/>
          <p:nvPr/>
        </p:nvSpPr>
        <p:spPr>
          <a:xfrm>
            <a:off x="777240" y="2103120"/>
            <a:ext cx="3063240" cy="594360"/>
          </a:xfrm>
          <a:prstGeom prst="rect">
            <a:avLst/>
          </a:prstGeom>
          <a:noFill/>
          <a:ln/>
        </p:spPr>
        <p:txBody>
          <a:bodyPr wrap="square" lIns="0" tIns="0" rIns="0" bIns="0" rtlCol="0" anchor="ctr"/>
          <a:lstStyle/>
          <a:p>
            <a:pPr indent="0" marL="0">
              <a:buNone/>
            </a:pPr>
            <a:r>
              <a:rPr lang="en-US" sz="1500" b="1" dirty="0">
                <a:solidFill>
                  <a:schemeClr val="tx2"/>
                </a:solidFill>
              </a:rPr>
              <a:t>NSF National Quantum Virtual Laboratory</a:t>
            </a:r>
            <a:endParaRPr lang="en-US" sz="1500" dirty="0"/>
          </a:p>
        </p:txBody>
      </p:sp>
      <p:sp>
        <p:nvSpPr>
          <p:cNvPr id="6" name="Text 4"/>
          <p:cNvSpPr txBox="1"/>
          <p:nvPr/>
        </p:nvSpPr>
        <p:spPr>
          <a:xfrm>
            <a:off x="777240" y="2743200"/>
            <a:ext cx="3063240" cy="914400"/>
          </a:xfrm>
          <a:prstGeom prst="rect">
            <a:avLst/>
          </a:prstGeom>
          <a:noFill/>
          <a:ln/>
        </p:spPr>
        <p:txBody>
          <a:bodyPr wrap="square" lIns="0" tIns="0" rIns="0" bIns="0" rtlCol="0" anchor="t"/>
          <a:lstStyle/>
          <a:p>
            <a:pPr indent="0" marL="0">
              <a:buNone/>
            </a:pPr>
            <a:r>
              <a:rPr lang="en-US" sz="1250" dirty="0">
                <a:solidFill>
                  <a:schemeClr val="tx1"/>
                </a:solidFill>
              </a:rPr>
              <a:t>Proof-of-concept integrated quantum system for experimentation and testing</a:t>
            </a:r>
            <a:endParaRPr lang="en-US" sz="1250" dirty="0"/>
          </a:p>
        </p:txBody>
      </p:sp>
      <p:sp>
        <p:nvSpPr>
          <p:cNvPr id="7" name="triad-2"/>
          <p:cNvSpPr/>
          <p:nvPr/>
        </p:nvSpPr>
        <p:spPr>
          <a:xfrm>
            <a:off x="4297680" y="1965960"/>
            <a:ext cx="3520440" cy="1783080"/>
          </a:xfrm>
          <a:prstGeom prst="roundRect">
            <a:avLst>
              <a:gd name="adj" fmla="val 4103"/>
            </a:avLst>
          </a:prstGeom>
          <a:solidFill>
            <a:schemeClr val="bg2"/>
          </a:solidFill>
          <a:ln w="9525">
            <a:solidFill>
              <a:schemeClr val="bg2"/>
            </a:solidFill>
            <a:prstDash val="solid"/>
          </a:ln>
        </p:spPr>
      </p:sp>
      <p:sp>
        <p:nvSpPr>
          <p:cNvPr id="8" name="Text 6"/>
          <p:cNvSpPr txBox="1"/>
          <p:nvPr/>
        </p:nvSpPr>
        <p:spPr>
          <a:xfrm>
            <a:off x="4526280" y="2103120"/>
            <a:ext cx="3063240" cy="594360"/>
          </a:xfrm>
          <a:prstGeom prst="rect">
            <a:avLst/>
          </a:prstGeom>
          <a:noFill/>
          <a:ln/>
        </p:spPr>
        <p:txBody>
          <a:bodyPr wrap="square" lIns="0" tIns="0" rIns="0" bIns="0" rtlCol="0" anchor="ctr"/>
          <a:lstStyle/>
          <a:p>
            <a:pPr indent="0" marL="0">
              <a:buNone/>
            </a:pPr>
            <a:r>
              <a:rPr lang="en-US" sz="1500" b="1" dirty="0">
                <a:solidFill>
                  <a:schemeClr val="tx2"/>
                </a:solidFill>
              </a:rPr>
              <a:t>NSF X-Labs</a:t>
            </a:r>
            <a:endParaRPr lang="en-US" sz="1500" dirty="0"/>
          </a:p>
        </p:txBody>
      </p:sp>
      <p:sp>
        <p:nvSpPr>
          <p:cNvPr id="9" name="Text 7"/>
          <p:cNvSpPr txBox="1"/>
          <p:nvPr/>
        </p:nvSpPr>
        <p:spPr>
          <a:xfrm>
            <a:off x="4526280" y="2743200"/>
            <a:ext cx="3063240" cy="914400"/>
          </a:xfrm>
          <a:prstGeom prst="rect">
            <a:avLst/>
          </a:prstGeom>
          <a:noFill/>
          <a:ln/>
        </p:spPr>
        <p:txBody>
          <a:bodyPr wrap="square" lIns="0" tIns="0" rIns="0" bIns="0" rtlCol="0" anchor="t"/>
          <a:lstStyle/>
          <a:p>
            <a:pPr indent="0" marL="0">
              <a:buNone/>
            </a:pPr>
            <a:r>
              <a:rPr lang="en-US" sz="1250" dirty="0">
                <a:solidFill>
                  <a:schemeClr val="tx1"/>
                </a:solidFill>
              </a:rPr>
              <a:t>Milestone-funded teams solving specific engineering challenges such as interconnects and photonics</a:t>
            </a:r>
            <a:endParaRPr lang="en-US" sz="1250" dirty="0"/>
          </a:p>
        </p:txBody>
      </p:sp>
      <p:sp>
        <p:nvSpPr>
          <p:cNvPr id="10" name="triad-3"/>
          <p:cNvSpPr/>
          <p:nvPr/>
        </p:nvSpPr>
        <p:spPr>
          <a:xfrm>
            <a:off x="8046720" y="1965960"/>
            <a:ext cx="3520440" cy="1783080"/>
          </a:xfrm>
          <a:prstGeom prst="roundRect">
            <a:avLst>
              <a:gd name="adj" fmla="val 4103"/>
            </a:avLst>
          </a:prstGeom>
          <a:solidFill>
            <a:schemeClr val="tx2"/>
          </a:solidFill>
          <a:ln w="9525">
            <a:solidFill>
              <a:schemeClr val="tx2"/>
            </a:solidFill>
            <a:prstDash val="solid"/>
          </a:ln>
        </p:spPr>
      </p:sp>
      <p:sp>
        <p:nvSpPr>
          <p:cNvPr id="11" name="Text 9"/>
          <p:cNvSpPr txBox="1"/>
          <p:nvPr/>
        </p:nvSpPr>
        <p:spPr>
          <a:xfrm>
            <a:off x="8275320" y="2103120"/>
            <a:ext cx="3063240" cy="594360"/>
          </a:xfrm>
          <a:prstGeom prst="rect">
            <a:avLst/>
          </a:prstGeom>
          <a:noFill/>
          <a:ln/>
        </p:spPr>
        <p:txBody>
          <a:bodyPr wrap="square" lIns="0" tIns="0" rIns="0" bIns="0" rtlCol="0" anchor="ctr"/>
          <a:lstStyle/>
          <a:p>
            <a:pPr indent="0" marL="0">
              <a:buNone/>
            </a:pPr>
            <a:r>
              <a:rPr lang="en-US" sz="1500" b="1" dirty="0">
                <a:solidFill>
                  <a:schemeClr val="bg1"/>
                </a:solidFill>
              </a:rPr>
              <a:t>NSF Quantum+X</a:t>
            </a:r>
            <a:endParaRPr lang="en-US" sz="1500" dirty="0"/>
          </a:p>
        </p:txBody>
      </p:sp>
      <p:sp>
        <p:nvSpPr>
          <p:cNvPr id="12" name="Text 10"/>
          <p:cNvSpPr txBox="1"/>
          <p:nvPr/>
        </p:nvSpPr>
        <p:spPr>
          <a:xfrm>
            <a:off x="8275320" y="2743200"/>
            <a:ext cx="3063240" cy="914400"/>
          </a:xfrm>
          <a:prstGeom prst="rect">
            <a:avLst/>
          </a:prstGeom>
          <a:noFill/>
          <a:ln/>
        </p:spPr>
        <p:txBody>
          <a:bodyPr wrap="square" lIns="0" tIns="0" rIns="0" bIns="0" rtlCol="0" anchor="t"/>
          <a:lstStyle/>
          <a:p>
            <a:pPr indent="0" marL="0">
              <a:buNone/>
            </a:pPr>
            <a:r>
              <a:rPr lang="en-US" sz="1250" dirty="0">
                <a:solidFill>
                  <a:schemeClr val="accent6"/>
                </a:solidFill>
              </a:rPr>
              <a:t>Works directly with industry on use cases in energy, finance, biotechnology, pharmaceuticals and more</a:t>
            </a:r>
            <a:endParaRPr lang="en-US" sz="1250" dirty="0"/>
          </a:p>
        </p:txBody>
      </p:sp>
      <p:sp>
        <p:nvSpPr>
          <p:cNvPr id="13" name="Shape 11"/>
          <p:cNvSpPr/>
          <p:nvPr/>
        </p:nvSpPr>
        <p:spPr>
          <a:xfrm>
            <a:off x="9464040" y="3840480"/>
            <a:ext cx="411480" cy="365760"/>
          </a:xfrm>
          <a:prstGeom prst="downArrow">
            <a:avLst/>
          </a:prstGeom>
          <a:solidFill>
            <a:schemeClr val="accent2"/>
          </a:solidFill>
          <a:ln w="12700">
            <a:solidFill>
              <a:schemeClr val="accent2"/>
            </a:solidFill>
            <a:prstDash val="solid"/>
          </a:ln>
        </p:spPr>
      </p:sp>
      <p:sp>
        <p:nvSpPr>
          <p:cNvPr id="14" name="challenge-gap"/>
          <p:cNvSpPr/>
          <p:nvPr/>
        </p:nvSpPr>
        <p:spPr>
          <a:xfrm>
            <a:off x="548640" y="4343400"/>
            <a:ext cx="11064240" cy="1508760"/>
          </a:xfrm>
          <a:prstGeom prst="roundRect">
            <a:avLst>
              <a:gd name="adj" fmla="val 4848"/>
            </a:avLst>
          </a:prstGeom>
          <a:solidFill>
            <a:schemeClr val="bg1"/>
          </a:solidFill>
          <a:ln w="9525">
            <a:solidFill>
              <a:schemeClr val="accent6"/>
            </a:solidFill>
            <a:prstDash val="solid"/>
          </a:ln>
        </p:spPr>
      </p:sp>
      <p:sp>
        <p:nvSpPr>
          <p:cNvPr id="15" name="Text 13"/>
          <p:cNvSpPr txBox="1"/>
          <p:nvPr/>
        </p:nvSpPr>
        <p:spPr>
          <a:xfrm>
            <a:off x="822960" y="4480560"/>
            <a:ext cx="4572000" cy="365760"/>
          </a:xfrm>
          <a:prstGeom prst="rect">
            <a:avLst/>
          </a:prstGeom>
          <a:noFill/>
          <a:ln/>
        </p:spPr>
        <p:txBody>
          <a:bodyPr wrap="square" lIns="0" tIns="0" rIns="0" bIns="0" rtlCol="0" anchor="t"/>
          <a:lstStyle/>
          <a:p>
            <a:pPr indent="0" marL="0">
              <a:buNone/>
            </a:pPr>
            <a:r>
              <a:rPr lang="en-US" sz="1500" b="1" dirty="0">
                <a:solidFill>
                  <a:schemeClr val="accent2"/>
                </a:solidFill>
              </a:rPr>
              <a:t>The gap this challenge targets</a:t>
            </a:r>
            <a:endParaRPr lang="en-US" sz="1500" dirty="0"/>
          </a:p>
        </p:txBody>
      </p:sp>
      <p:sp>
        <p:nvSpPr>
          <p:cNvPr id="16" name="Text 14"/>
          <p:cNvSpPr txBox="1"/>
          <p:nvPr/>
        </p:nvSpPr>
        <p:spPr>
          <a:xfrm>
            <a:off x="822960" y="4864608"/>
            <a:ext cx="10515600" cy="914400"/>
          </a:xfrm>
          <a:prstGeom prst="rect">
            <a:avLst/>
          </a:prstGeom>
          <a:noFill/>
          <a:ln/>
        </p:spPr>
        <p:txBody>
          <a:bodyPr wrap="square" lIns="0" tIns="0" rIns="0" bIns="0" rtlCol="0" anchor="t"/>
          <a:lstStyle/>
          <a:p>
            <a:pPr indent="0" marL="0">
              <a:buNone/>
            </a:pPr>
            <a:r>
              <a:rPr lang="en-US" sz="1300" dirty="0">
                <a:solidFill>
                  <a:schemeClr val="tx1"/>
                </a:solidFill>
              </a:rPr>
              <a:t>Quantum hardware is advancing faster than the algorithms and software that would put it to real use. The challenge asks academics, developers, startups, students and multidisciplinary teams to propose, verify and validate quantum algorithms against realistic industry constraints, working with about eight collaborating U.S. companies.</a:t>
            </a:r>
            <a:endParaRPr lang="en-US" sz="1300" dirty="0"/>
          </a:p>
        </p:txBody>
      </p:sp>
      <p:sp>
        <p:nvSpPr>
          <p:cNvPr id="17" name="Text 15"/>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Sources: RFTP NOIS3-085 §1.2–1.3; NSF Project Triad announcement (July 2026) as reported by MeriTalk, Quantum Computing Report and The Quantum Insider.</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This challenge already has what most challenges lack: a place for winners to land</a:t>
            </a:r>
            <a:endParaRPr lang="en-US" sz="2800" dirty="0"/>
          </a:p>
        </p:txBody>
      </p:sp>
      <p:sp>
        <p:nvSpPr>
          <p:cNvPr id="3" name="typical"/>
          <p:cNvSpPr/>
          <p:nvPr/>
        </p:nvSpPr>
        <p:spPr>
          <a:xfrm>
            <a:off x="548640" y="1417320"/>
            <a:ext cx="5212080" cy="4434840"/>
          </a:xfrm>
          <a:prstGeom prst="roundRect">
            <a:avLst>
              <a:gd name="adj" fmla="val 1649"/>
            </a:avLst>
          </a:prstGeom>
          <a:solidFill>
            <a:schemeClr val="bg2"/>
          </a:solidFill>
          <a:ln w="9525">
            <a:solidFill>
              <a:schemeClr val="bg2"/>
            </a:solidFill>
            <a:prstDash val="solid"/>
          </a:ln>
        </p:spPr>
      </p:sp>
      <p:sp>
        <p:nvSpPr>
          <p:cNvPr id="4" name="Text 2"/>
          <p:cNvSpPr txBox="1"/>
          <p:nvPr/>
        </p:nvSpPr>
        <p:spPr>
          <a:xfrm>
            <a:off x="822960" y="1600200"/>
            <a:ext cx="466344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The typical challenge</a:t>
            </a:r>
            <a:endParaRPr lang="en-US" sz="1800" dirty="0"/>
          </a:p>
        </p:txBody>
      </p:sp>
      <p:sp>
        <p:nvSpPr>
          <p:cNvPr id="5" name="Text 3"/>
          <p:cNvSpPr txBox="1"/>
          <p:nvPr/>
        </p:nvSpPr>
        <p:spPr>
          <a:xfrm>
            <a:off x="822960" y="2148840"/>
            <a:ext cx="4663440" cy="27432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The competition ends at the award.</a:t>
            </a:r>
            <a:endParaRPr lang="en-US" sz="1400" dirty="0"/>
          </a:p>
          <a:p>
            <a:pPr marL="177800" indent="-177800">
              <a:spcAft>
                <a:spcPts val="1000"/>
              </a:spcAft>
              <a:buSzPct val="100000"/>
              <a:buChar char="•"/>
            </a:pPr>
            <a:r>
              <a:rPr lang="en-US" sz="1400" dirty="0">
                <a:solidFill>
                  <a:schemeClr val="tx1"/>
                </a:solidFill>
              </a:rPr>
              <a:t>Winners go looking for a buyer or partner on their own.</a:t>
            </a:r>
            <a:endParaRPr lang="en-US" sz="1400" dirty="0"/>
          </a:p>
          <a:p>
            <a:pPr marL="177800" indent="-177800">
              <a:spcAft>
                <a:spcPts val="1000"/>
              </a:spcAft>
              <a:buSzPct val="100000"/>
              <a:buChar char="•"/>
            </a:pPr>
            <a:r>
              <a:rPr lang="en-US" sz="1400" dirty="0">
                <a:solidFill>
                  <a:schemeClr val="tx1"/>
                </a:solidFill>
              </a:rPr>
              <a:t>In one survey, 81% of corporate innovation programs turned fewer than 1 in 4 pilots into commercial deals.</a:t>
            </a:r>
            <a:endParaRPr lang="en-US" sz="1400" dirty="0"/>
          </a:p>
        </p:txBody>
      </p:sp>
      <p:sp>
        <p:nvSpPr>
          <p:cNvPr id="6" name="this-challenge"/>
          <p:cNvSpPr/>
          <p:nvPr/>
        </p:nvSpPr>
        <p:spPr>
          <a:xfrm>
            <a:off x="6035040" y="1417320"/>
            <a:ext cx="5577840" cy="4434840"/>
          </a:xfrm>
          <a:prstGeom prst="roundRect">
            <a:avLst>
              <a:gd name="adj" fmla="val 1649"/>
            </a:avLst>
          </a:prstGeom>
          <a:solidFill>
            <a:schemeClr val="tx2"/>
          </a:solidFill>
          <a:ln w="9525">
            <a:solidFill>
              <a:schemeClr val="tx2"/>
            </a:solidFill>
            <a:prstDash val="solid"/>
          </a:ln>
        </p:spPr>
      </p:sp>
      <p:sp>
        <p:nvSpPr>
          <p:cNvPr id="7" name="Text 5"/>
          <p:cNvSpPr txBox="1"/>
          <p:nvPr/>
        </p:nvSpPr>
        <p:spPr>
          <a:xfrm>
            <a:off x="6309360" y="1600200"/>
            <a:ext cx="502920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This challenge</a:t>
            </a:r>
            <a:endParaRPr lang="en-US" sz="1800" dirty="0"/>
          </a:p>
        </p:txBody>
      </p:sp>
      <p:sp>
        <p:nvSpPr>
          <p:cNvPr id="8" name="Text 6"/>
          <p:cNvSpPr txBox="1"/>
          <p:nvPr/>
        </p:nvSpPr>
        <p:spPr>
          <a:xfrm>
            <a:off x="6309360" y="2148840"/>
            <a:ext cx="5029200" cy="22860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bg1"/>
                </a:solidFill>
              </a:rPr>
              <a:t>Phase 2 pairs Phase 1 winners with industry partners that NSF has pre-qualified, each with a significant problem to solve.</a:t>
            </a:r>
            <a:endParaRPr lang="en-US" sz="1400" dirty="0"/>
          </a:p>
          <a:p>
            <a:pPr marL="177800" indent="-177800">
              <a:spcAft>
                <a:spcPts val="1000"/>
              </a:spcAft>
              <a:buSzPct val="100000"/>
              <a:buChar char="•"/>
            </a:pPr>
            <a:r>
              <a:rPr lang="en-US" sz="1400" dirty="0">
                <a:solidFill>
                  <a:schemeClr val="bg1"/>
                </a:solidFill>
              </a:rPr>
              <a:t>Teams design a solution with their partner, pilot it for about six months, then refine it and monitor results for about nine more.</a:t>
            </a:r>
            <a:endParaRPr lang="en-US" sz="1400" dirty="0"/>
          </a:p>
          <a:p>
            <a:pPr marL="177800" indent="-177800">
              <a:spcAft>
                <a:spcPts val="1000"/>
              </a:spcAft>
              <a:buSzPct val="100000"/>
              <a:buChar char="•"/>
            </a:pPr>
            <a:r>
              <a:rPr lang="en-US" sz="1400" dirty="0">
                <a:solidFill>
                  <a:schemeClr val="bg1"/>
                </a:solidFill>
              </a:rPr>
              <a:t>Phase 3 scales solutions toward commercial adoption.</a:t>
            </a:r>
            <a:endParaRPr lang="en-US" sz="1400" dirty="0"/>
          </a:p>
        </p:txBody>
      </p:sp>
      <p:sp>
        <p:nvSpPr>
          <p:cNvPr id="9" name="Text 7"/>
          <p:cNvSpPr txBox="1"/>
          <p:nvPr/>
        </p:nvSpPr>
        <p:spPr>
          <a:xfrm>
            <a:off x="6309360" y="4526280"/>
            <a:ext cx="5029200" cy="1188720"/>
          </a:xfrm>
          <a:prstGeom prst="rect">
            <a:avLst/>
          </a:prstGeom>
          <a:noFill/>
          <a:ln/>
        </p:spPr>
        <p:txBody>
          <a:bodyPr wrap="square" lIns="0" tIns="0" rIns="0" bIns="0" rtlCol="0" anchor="t"/>
          <a:lstStyle/>
          <a:p>
            <a:pPr indent="0" marL="0">
              <a:buNone/>
            </a:pPr>
            <a:r>
              <a:rPr lang="en-US" sz="1350" b="1" dirty="0">
                <a:solidFill>
                  <a:schemeClr val="accent4"/>
                </a:solidFill>
              </a:rPr>
              <a:t>The design implication: </a:t>
            </a:r>
            <a:pPr indent="0" marL="0">
              <a:buNone/>
            </a:pPr>
            <a:r>
              <a:rPr lang="en-US" sz="1350" dirty="0">
                <a:solidFill>
                  <a:schemeClr val="bg1"/>
                </a:solidFill>
              </a:rPr>
              <a:t>Phase 1 must be built backward from Phase 2. The use cases, the winner count and the judging criteria should all serve the pairing.</a:t>
            </a:r>
            <a:endParaRPr lang="en-US" sz="1350" dirty="0"/>
          </a:p>
        </p:txBody>
      </p:sp>
      <p:sp>
        <p:nvSpPr>
          <p:cNvPr id="10" name="Text 8"/>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Sources: RFTP NOIS3-085 §1.3 (Phase 2 and Phase 3); 500 Startups survey of 100+ corporate innovation programs, via Fortune (2017).</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Our six-phase approach, applied: commitment is done, and the next 60 days decide the design</a:t>
            </a:r>
            <a:endParaRPr lang="en-US" sz="2800" dirty="0"/>
          </a:p>
        </p:txBody>
      </p:sp>
      <p:sp>
        <p:nvSpPr>
          <p:cNvPr id="3" name="phase-1"/>
          <p:cNvSpPr/>
          <p:nvPr/>
        </p:nvSpPr>
        <p:spPr>
          <a:xfrm>
            <a:off x="548640" y="1463040"/>
            <a:ext cx="1676400" cy="4023360"/>
          </a:xfrm>
          <a:prstGeom prst="roundRect">
            <a:avLst>
              <a:gd name="adj" fmla="val 4364"/>
            </a:avLst>
          </a:prstGeom>
          <a:solidFill>
            <a:schemeClr val="bg2"/>
          </a:solidFill>
          <a:ln w="9525">
            <a:solidFill>
              <a:schemeClr val="bg2"/>
            </a:solidFill>
            <a:prstDash val="solid"/>
          </a:ln>
        </p:spPr>
      </p:sp>
      <p:sp>
        <p:nvSpPr>
          <p:cNvPr id="4" name="Shape 2"/>
          <p:cNvSpPr/>
          <p:nvPr/>
        </p:nvSpPr>
        <p:spPr>
          <a:xfrm>
            <a:off x="713232" y="1645920"/>
            <a:ext cx="566928" cy="566928"/>
          </a:xfrm>
          <a:prstGeom prst="ellipse">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859536" y="1792224"/>
            <a:ext cx="274320" cy="274320"/>
          </a:xfrm>
          <a:prstGeom prst="rect">
            <a:avLst/>
          </a:prstGeom>
        </p:spPr>
      </p:pic>
      <p:sp>
        <p:nvSpPr>
          <p:cNvPr id="6" name="Text 3"/>
          <p:cNvSpPr txBox="1"/>
          <p:nvPr/>
        </p:nvSpPr>
        <p:spPr>
          <a:xfrm>
            <a:off x="1658112" y="1627632"/>
            <a:ext cx="411480" cy="548640"/>
          </a:xfrm>
          <a:prstGeom prst="rect">
            <a:avLst/>
          </a:prstGeom>
          <a:noFill/>
          <a:ln/>
        </p:spPr>
        <p:txBody>
          <a:bodyPr wrap="square" lIns="0" tIns="0" rIns="0" bIns="0" rtlCol="0" anchor="t"/>
          <a:lstStyle/>
          <a:p>
            <a:pPr algn="r" indent="0" marL="0">
              <a:buNone/>
            </a:pPr>
            <a:r>
              <a:rPr lang="en-US" sz="3000" b="1" dirty="0">
                <a:solidFill>
                  <a:schemeClr val="accent2"/>
                </a:solidFill>
                <a:latin typeface="Cambria" pitchFamily="34" charset="0"/>
                <a:ea typeface="Cambria" pitchFamily="34" charset="-122"/>
                <a:cs typeface="Cambria" pitchFamily="34" charset="-120"/>
              </a:rPr>
              <a:t>1</a:t>
            </a:r>
            <a:endParaRPr lang="en-US" sz="3000" dirty="0"/>
          </a:p>
        </p:txBody>
      </p:sp>
      <p:sp>
        <p:nvSpPr>
          <p:cNvPr id="7" name="Text 4"/>
          <p:cNvSpPr txBox="1"/>
          <p:nvPr/>
        </p:nvSpPr>
        <p:spPr>
          <a:xfrm>
            <a:off x="713232" y="2331720"/>
            <a:ext cx="1402080" cy="384048"/>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Commit</a:t>
            </a:r>
            <a:endParaRPr lang="en-US" sz="1900" dirty="0"/>
          </a:p>
        </p:txBody>
      </p:sp>
      <p:sp>
        <p:nvSpPr>
          <p:cNvPr id="8" name="Shape 5"/>
          <p:cNvSpPr/>
          <p:nvPr/>
        </p:nvSpPr>
        <p:spPr>
          <a:xfrm>
            <a:off x="713232" y="2788920"/>
            <a:ext cx="1347216" cy="329184"/>
          </a:xfrm>
          <a:prstGeom prst="roundRect">
            <a:avLst>
              <a:gd name="adj" fmla="val 50000"/>
            </a:avLst>
          </a:prstGeom>
          <a:solidFill>
            <a:schemeClr val="accent3"/>
          </a:solidFill>
          <a:ln w="12700">
            <a:solidFill>
              <a:schemeClr val="accent3"/>
            </a:solidFill>
            <a:prstDash val="solid"/>
          </a:ln>
        </p:spPr>
      </p:sp>
      <p:sp>
        <p:nvSpPr>
          <p:cNvPr id="9" name="Text 6"/>
          <p:cNvSpPr txBox="1"/>
          <p:nvPr/>
        </p:nvSpPr>
        <p:spPr>
          <a:xfrm>
            <a:off x="713232" y="2788920"/>
            <a:ext cx="1347216" cy="329184"/>
          </a:xfrm>
          <a:prstGeom prst="rect">
            <a:avLst/>
          </a:prstGeom>
          <a:noFill/>
          <a:ln/>
        </p:spPr>
        <p:txBody>
          <a:bodyPr wrap="square" lIns="0" tIns="0" rIns="0" bIns="0" rtlCol="0" anchor="ctr"/>
          <a:lstStyle/>
          <a:p>
            <a:pPr algn="ctr" indent="0" marL="0">
              <a:buNone/>
            </a:pPr>
            <a:r>
              <a:rPr lang="en-US" sz="1150" b="1" dirty="0">
                <a:solidFill>
                  <a:schemeClr val="bg1"/>
                </a:solidFill>
              </a:rPr>
              <a:t>Done</a:t>
            </a:r>
            <a:endParaRPr lang="en-US" sz="1150" dirty="0"/>
          </a:p>
        </p:txBody>
      </p:sp>
      <p:sp>
        <p:nvSpPr>
          <p:cNvPr id="10" name="Text 7"/>
          <p:cNvSpPr txBox="1"/>
          <p:nvPr/>
        </p:nvSpPr>
        <p:spPr>
          <a:xfrm>
            <a:off x="713232" y="3246120"/>
            <a:ext cx="1383792" cy="2148840"/>
          </a:xfrm>
          <a:prstGeom prst="rect">
            <a:avLst/>
          </a:prstGeom>
          <a:noFill/>
          <a:ln/>
        </p:spPr>
        <p:txBody>
          <a:bodyPr wrap="square" lIns="0" tIns="0" rIns="0" bIns="0" rtlCol="0" anchor="t"/>
          <a:lstStyle/>
          <a:p>
            <a:pPr indent="0" marL="0">
              <a:buNone/>
            </a:pPr>
            <a:r>
              <a:rPr lang="en-US" sz="1200" dirty="0">
                <a:solidFill>
                  <a:schemeClr val="tx1"/>
                </a:solidFill>
              </a:rPr>
              <a:t>Project Triad mandate; COMPETES and CHIPS prize authority; $1M Phase 1 purse; task order awarded</a:t>
            </a:r>
            <a:endParaRPr lang="en-US" sz="1200" dirty="0"/>
          </a:p>
        </p:txBody>
      </p:sp>
      <p:sp>
        <p:nvSpPr>
          <p:cNvPr id="11" name="Shape 8"/>
          <p:cNvSpPr/>
          <p:nvPr/>
        </p:nvSpPr>
        <p:spPr>
          <a:xfrm>
            <a:off x="2243328" y="1810512"/>
            <a:ext cx="164592" cy="237744"/>
          </a:xfrm>
          <a:prstGeom prst="rightArrow">
            <a:avLst/>
          </a:prstGeom>
          <a:solidFill>
            <a:schemeClr val="accent2"/>
          </a:solidFill>
          <a:ln w="12700">
            <a:solidFill>
              <a:schemeClr val="accent2"/>
            </a:solidFill>
            <a:prstDash val="solid"/>
          </a:ln>
        </p:spPr>
      </p:sp>
      <p:sp>
        <p:nvSpPr>
          <p:cNvPr id="12" name="phase-2"/>
          <p:cNvSpPr/>
          <p:nvPr/>
        </p:nvSpPr>
        <p:spPr>
          <a:xfrm>
            <a:off x="2426208" y="1463040"/>
            <a:ext cx="1676400" cy="4023360"/>
          </a:xfrm>
          <a:prstGeom prst="roundRect">
            <a:avLst>
              <a:gd name="adj" fmla="val 4364"/>
            </a:avLst>
          </a:prstGeom>
          <a:solidFill>
            <a:schemeClr val="bg2"/>
          </a:solidFill>
          <a:ln w="9525">
            <a:solidFill>
              <a:schemeClr val="bg2"/>
            </a:solidFill>
            <a:prstDash val="solid"/>
          </a:ln>
        </p:spPr>
      </p:sp>
      <p:sp>
        <p:nvSpPr>
          <p:cNvPr id="13" name="Shape 10"/>
          <p:cNvSpPr/>
          <p:nvPr/>
        </p:nvSpPr>
        <p:spPr>
          <a:xfrm>
            <a:off x="2590800" y="1645920"/>
            <a:ext cx="566928" cy="566928"/>
          </a:xfrm>
          <a:prstGeom prst="ellipse">
            <a:avLst/>
          </a:prstGeom>
          <a:solidFill>
            <a:schemeClr val="tx2"/>
          </a:solidFill>
          <a:ln w="12700">
            <a:solidFill>
              <a:schemeClr val="tx2"/>
            </a:solidFill>
            <a:prstDash val="solid"/>
          </a:ln>
        </p:spPr>
      </p:sp>
      <p:pic>
        <p:nvPicPr>
          <p:cNvPr id="14" name="Image 1" descr="preencoded.png">    </p:cNvPr>
          <p:cNvPicPr>
            <a:picLocks noChangeAspect="1"/>
          </p:cNvPicPr>
          <p:nvPr/>
        </p:nvPicPr>
        <p:blipFill>
          <a:blip r:embed="rId2"/>
          <a:stretch>
            <a:fillRect/>
          </a:stretch>
        </p:blipFill>
        <p:spPr>
          <a:xfrm>
            <a:off x="2737104" y="1792224"/>
            <a:ext cx="274320" cy="274320"/>
          </a:xfrm>
          <a:prstGeom prst="rect">
            <a:avLst/>
          </a:prstGeom>
        </p:spPr>
      </p:pic>
      <p:sp>
        <p:nvSpPr>
          <p:cNvPr id="15" name="Text 11"/>
          <p:cNvSpPr txBox="1"/>
          <p:nvPr/>
        </p:nvSpPr>
        <p:spPr>
          <a:xfrm>
            <a:off x="3535680" y="1627632"/>
            <a:ext cx="411480" cy="548640"/>
          </a:xfrm>
          <a:prstGeom prst="rect">
            <a:avLst/>
          </a:prstGeom>
          <a:noFill/>
          <a:ln/>
        </p:spPr>
        <p:txBody>
          <a:bodyPr wrap="square" lIns="0" tIns="0" rIns="0" bIns="0" rtlCol="0" anchor="t"/>
          <a:lstStyle/>
          <a:p>
            <a:pPr algn="r" indent="0" marL="0">
              <a:buNone/>
            </a:pPr>
            <a:r>
              <a:rPr lang="en-US" sz="3000" b="1" dirty="0">
                <a:solidFill>
                  <a:schemeClr val="accent2"/>
                </a:solidFill>
                <a:latin typeface="Cambria" pitchFamily="34" charset="0"/>
                <a:ea typeface="Cambria" pitchFamily="34" charset="-122"/>
                <a:cs typeface="Cambria" pitchFamily="34" charset="-120"/>
              </a:rPr>
              <a:t>2</a:t>
            </a:r>
            <a:endParaRPr lang="en-US" sz="3000" dirty="0"/>
          </a:p>
        </p:txBody>
      </p:sp>
      <p:sp>
        <p:nvSpPr>
          <p:cNvPr id="16" name="Text 12"/>
          <p:cNvSpPr txBox="1"/>
          <p:nvPr/>
        </p:nvSpPr>
        <p:spPr>
          <a:xfrm>
            <a:off x="2590800" y="2331720"/>
            <a:ext cx="1402080" cy="384048"/>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Frame</a:t>
            </a:r>
            <a:endParaRPr lang="en-US" sz="1900" dirty="0"/>
          </a:p>
        </p:txBody>
      </p:sp>
      <p:sp>
        <p:nvSpPr>
          <p:cNvPr id="17" name="Shape 13"/>
          <p:cNvSpPr/>
          <p:nvPr/>
        </p:nvSpPr>
        <p:spPr>
          <a:xfrm>
            <a:off x="2590800" y="2788920"/>
            <a:ext cx="1347216" cy="329184"/>
          </a:xfrm>
          <a:prstGeom prst="roundRect">
            <a:avLst>
              <a:gd name="adj" fmla="val 50000"/>
            </a:avLst>
          </a:prstGeom>
          <a:solidFill>
            <a:schemeClr val="accent2"/>
          </a:solidFill>
          <a:ln w="12700">
            <a:solidFill>
              <a:schemeClr val="accent2"/>
            </a:solidFill>
            <a:prstDash val="solid"/>
          </a:ln>
        </p:spPr>
      </p:sp>
      <p:sp>
        <p:nvSpPr>
          <p:cNvPr id="18" name="Text 14"/>
          <p:cNvSpPr txBox="1"/>
          <p:nvPr/>
        </p:nvSpPr>
        <p:spPr>
          <a:xfrm>
            <a:off x="2590800" y="2788920"/>
            <a:ext cx="1347216" cy="329184"/>
          </a:xfrm>
          <a:prstGeom prst="rect">
            <a:avLst/>
          </a:prstGeom>
          <a:noFill/>
          <a:ln/>
        </p:spPr>
        <p:txBody>
          <a:bodyPr wrap="square" lIns="0" tIns="0" rIns="0" bIns="0" rtlCol="0" anchor="ctr"/>
          <a:lstStyle/>
          <a:p>
            <a:pPr algn="ctr" indent="0" marL="0">
              <a:buNone/>
            </a:pPr>
            <a:r>
              <a:rPr lang="en-US" sz="1150" b="1" dirty="0">
                <a:solidFill>
                  <a:schemeClr val="bg1"/>
                </a:solidFill>
              </a:rPr>
              <a:t>In progress</a:t>
            </a:r>
            <a:endParaRPr lang="en-US" sz="1150" dirty="0"/>
          </a:p>
        </p:txBody>
      </p:sp>
      <p:sp>
        <p:nvSpPr>
          <p:cNvPr id="19" name="Text 15"/>
          <p:cNvSpPr txBox="1"/>
          <p:nvPr/>
        </p:nvSpPr>
        <p:spPr>
          <a:xfrm>
            <a:off x="2590800" y="3246120"/>
            <a:ext cx="1383792" cy="2148840"/>
          </a:xfrm>
          <a:prstGeom prst="rect">
            <a:avLst/>
          </a:prstGeom>
          <a:noFill/>
          <a:ln/>
        </p:spPr>
        <p:txBody>
          <a:bodyPr wrap="square" lIns="0" tIns="0" rIns="0" bIns="0" rtlCol="0" anchor="t"/>
          <a:lstStyle/>
          <a:p>
            <a:pPr indent="0" marL="0">
              <a:buNone/>
            </a:pPr>
            <a:r>
              <a:rPr lang="en-US" sz="1200" dirty="0">
                <a:solidFill>
                  <a:schemeClr val="tx1"/>
                </a:solidFill>
              </a:rPr>
              <a:t>Problem statement and use-case scope, anchored in collaborators' real constraints</a:t>
            </a:r>
            <a:endParaRPr lang="en-US" sz="1200" dirty="0"/>
          </a:p>
        </p:txBody>
      </p:sp>
      <p:sp>
        <p:nvSpPr>
          <p:cNvPr id="20" name="Shape 16"/>
          <p:cNvSpPr/>
          <p:nvPr/>
        </p:nvSpPr>
        <p:spPr>
          <a:xfrm>
            <a:off x="4120896" y="1810512"/>
            <a:ext cx="164592" cy="237744"/>
          </a:xfrm>
          <a:prstGeom prst="rightArrow">
            <a:avLst/>
          </a:prstGeom>
          <a:solidFill>
            <a:schemeClr val="accent2"/>
          </a:solidFill>
          <a:ln w="12700">
            <a:solidFill>
              <a:schemeClr val="accent2"/>
            </a:solidFill>
            <a:prstDash val="solid"/>
          </a:ln>
        </p:spPr>
      </p:sp>
      <p:sp>
        <p:nvSpPr>
          <p:cNvPr id="21" name="phase-3"/>
          <p:cNvSpPr/>
          <p:nvPr/>
        </p:nvSpPr>
        <p:spPr>
          <a:xfrm>
            <a:off x="4303776" y="1463040"/>
            <a:ext cx="1676400" cy="4023360"/>
          </a:xfrm>
          <a:prstGeom prst="roundRect">
            <a:avLst>
              <a:gd name="adj" fmla="val 4364"/>
            </a:avLst>
          </a:prstGeom>
          <a:solidFill>
            <a:schemeClr val="bg2"/>
          </a:solidFill>
          <a:ln w="9525">
            <a:solidFill>
              <a:schemeClr val="bg2"/>
            </a:solidFill>
            <a:prstDash val="solid"/>
          </a:ln>
        </p:spPr>
      </p:sp>
      <p:sp>
        <p:nvSpPr>
          <p:cNvPr id="22" name="Shape 18"/>
          <p:cNvSpPr/>
          <p:nvPr/>
        </p:nvSpPr>
        <p:spPr>
          <a:xfrm>
            <a:off x="4468368" y="1645920"/>
            <a:ext cx="566928" cy="566928"/>
          </a:xfrm>
          <a:prstGeom prst="ellipse">
            <a:avLst/>
          </a:prstGeom>
          <a:solidFill>
            <a:schemeClr val="tx2"/>
          </a:solidFill>
          <a:ln w="12700">
            <a:solidFill>
              <a:schemeClr val="tx2"/>
            </a:solidFill>
            <a:prstDash val="solid"/>
          </a:ln>
        </p:spPr>
      </p:sp>
      <p:pic>
        <p:nvPicPr>
          <p:cNvPr id="23" name="Image 2" descr="preencoded.png">    </p:cNvPr>
          <p:cNvPicPr>
            <a:picLocks noChangeAspect="1"/>
          </p:cNvPicPr>
          <p:nvPr/>
        </p:nvPicPr>
        <p:blipFill>
          <a:blip r:embed="rId3"/>
          <a:stretch>
            <a:fillRect/>
          </a:stretch>
        </p:blipFill>
        <p:spPr>
          <a:xfrm>
            <a:off x="4614672" y="1792224"/>
            <a:ext cx="274320" cy="274320"/>
          </a:xfrm>
          <a:prstGeom prst="rect">
            <a:avLst/>
          </a:prstGeom>
        </p:spPr>
      </p:pic>
      <p:sp>
        <p:nvSpPr>
          <p:cNvPr id="24" name="Text 19"/>
          <p:cNvSpPr txBox="1"/>
          <p:nvPr/>
        </p:nvSpPr>
        <p:spPr>
          <a:xfrm>
            <a:off x="5413248" y="1627632"/>
            <a:ext cx="411480" cy="548640"/>
          </a:xfrm>
          <a:prstGeom prst="rect">
            <a:avLst/>
          </a:prstGeom>
          <a:noFill/>
          <a:ln/>
        </p:spPr>
        <p:txBody>
          <a:bodyPr wrap="square" lIns="0" tIns="0" rIns="0" bIns="0" rtlCol="0" anchor="t"/>
          <a:lstStyle/>
          <a:p>
            <a:pPr algn="r" indent="0" marL="0">
              <a:buNone/>
            </a:pPr>
            <a:r>
              <a:rPr lang="en-US" sz="3000" b="1" dirty="0">
                <a:solidFill>
                  <a:schemeClr val="accent2"/>
                </a:solidFill>
                <a:latin typeface="Cambria" pitchFamily="34" charset="0"/>
                <a:ea typeface="Cambria" pitchFamily="34" charset="-122"/>
                <a:cs typeface="Cambria" pitchFamily="34" charset="-120"/>
              </a:rPr>
              <a:t>3</a:t>
            </a:r>
            <a:endParaRPr lang="en-US" sz="3000" dirty="0"/>
          </a:p>
        </p:txBody>
      </p:sp>
      <p:sp>
        <p:nvSpPr>
          <p:cNvPr id="25" name="Text 20"/>
          <p:cNvSpPr txBox="1"/>
          <p:nvPr/>
        </p:nvSpPr>
        <p:spPr>
          <a:xfrm>
            <a:off x="4468368" y="2331720"/>
            <a:ext cx="1402080" cy="384048"/>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Design</a:t>
            </a:r>
            <a:endParaRPr lang="en-US" sz="1900" dirty="0"/>
          </a:p>
        </p:txBody>
      </p:sp>
      <p:sp>
        <p:nvSpPr>
          <p:cNvPr id="26" name="Shape 21"/>
          <p:cNvSpPr/>
          <p:nvPr/>
        </p:nvSpPr>
        <p:spPr>
          <a:xfrm>
            <a:off x="4468368" y="2788920"/>
            <a:ext cx="1347216" cy="329184"/>
          </a:xfrm>
          <a:prstGeom prst="roundRect">
            <a:avLst>
              <a:gd name="adj" fmla="val 50000"/>
            </a:avLst>
          </a:prstGeom>
          <a:solidFill>
            <a:schemeClr val="accent2"/>
          </a:solidFill>
          <a:ln w="12700">
            <a:solidFill>
              <a:schemeClr val="accent2"/>
            </a:solidFill>
            <a:prstDash val="solid"/>
          </a:ln>
        </p:spPr>
      </p:sp>
      <p:sp>
        <p:nvSpPr>
          <p:cNvPr id="27" name="Text 22"/>
          <p:cNvSpPr txBox="1"/>
          <p:nvPr/>
        </p:nvSpPr>
        <p:spPr>
          <a:xfrm>
            <a:off x="4468368" y="2788920"/>
            <a:ext cx="1347216" cy="329184"/>
          </a:xfrm>
          <a:prstGeom prst="rect">
            <a:avLst/>
          </a:prstGeom>
          <a:noFill/>
          <a:ln/>
        </p:spPr>
        <p:txBody>
          <a:bodyPr wrap="square" lIns="0" tIns="0" rIns="0" bIns="0" rtlCol="0" anchor="ctr"/>
          <a:lstStyle/>
          <a:p>
            <a:pPr algn="ctr" indent="0" marL="0">
              <a:buNone/>
            </a:pPr>
            <a:r>
              <a:rPr lang="en-US" sz="1150" b="1" dirty="0">
                <a:solidFill>
                  <a:schemeClr val="bg1"/>
                </a:solidFill>
              </a:rPr>
              <a:t>In progress</a:t>
            </a:r>
            <a:endParaRPr lang="en-US" sz="1150" dirty="0"/>
          </a:p>
        </p:txBody>
      </p:sp>
      <p:sp>
        <p:nvSpPr>
          <p:cNvPr id="28" name="Text 23"/>
          <p:cNvSpPr txBox="1"/>
          <p:nvPr/>
        </p:nvSpPr>
        <p:spPr>
          <a:xfrm>
            <a:off x="4468368" y="3246120"/>
            <a:ext cx="1383792" cy="2148840"/>
          </a:xfrm>
          <a:prstGeom prst="rect">
            <a:avLst/>
          </a:prstGeom>
          <a:noFill/>
          <a:ln/>
        </p:spPr>
        <p:txBody>
          <a:bodyPr wrap="square" lIns="0" tIns="0" rIns="0" bIns="0" rtlCol="0" anchor="t"/>
          <a:lstStyle/>
          <a:p>
            <a:pPr indent="0" marL="0">
              <a:buNone/>
            </a:pPr>
            <a:r>
              <a:rPr lang="en-US" sz="1200" dirty="0">
                <a:solidFill>
                  <a:schemeClr val="tx1"/>
                </a:solidFill>
              </a:rPr>
              <a:t>Prize structure, judging criteria, rules and participation agreement into NSF review in November</a:t>
            </a:r>
            <a:endParaRPr lang="en-US" sz="1200" dirty="0"/>
          </a:p>
        </p:txBody>
      </p:sp>
      <p:sp>
        <p:nvSpPr>
          <p:cNvPr id="29" name="Shape 24"/>
          <p:cNvSpPr/>
          <p:nvPr/>
        </p:nvSpPr>
        <p:spPr>
          <a:xfrm>
            <a:off x="5998464" y="1810512"/>
            <a:ext cx="164592" cy="237744"/>
          </a:xfrm>
          <a:prstGeom prst="rightArrow">
            <a:avLst/>
          </a:prstGeom>
          <a:solidFill>
            <a:schemeClr val="accent2"/>
          </a:solidFill>
          <a:ln w="12700">
            <a:solidFill>
              <a:schemeClr val="accent2"/>
            </a:solidFill>
            <a:prstDash val="solid"/>
          </a:ln>
        </p:spPr>
      </p:sp>
      <p:sp>
        <p:nvSpPr>
          <p:cNvPr id="30" name="phase-4"/>
          <p:cNvSpPr/>
          <p:nvPr/>
        </p:nvSpPr>
        <p:spPr>
          <a:xfrm>
            <a:off x="6181344" y="1463040"/>
            <a:ext cx="1676400" cy="4023360"/>
          </a:xfrm>
          <a:prstGeom prst="roundRect">
            <a:avLst>
              <a:gd name="adj" fmla="val 4364"/>
            </a:avLst>
          </a:prstGeom>
          <a:solidFill>
            <a:schemeClr val="bg2"/>
          </a:solidFill>
          <a:ln w="9525">
            <a:solidFill>
              <a:schemeClr val="bg2"/>
            </a:solidFill>
            <a:prstDash val="solid"/>
          </a:ln>
        </p:spPr>
      </p:sp>
      <p:sp>
        <p:nvSpPr>
          <p:cNvPr id="31" name="Shape 26"/>
          <p:cNvSpPr/>
          <p:nvPr/>
        </p:nvSpPr>
        <p:spPr>
          <a:xfrm>
            <a:off x="6345936" y="1645920"/>
            <a:ext cx="566928" cy="566928"/>
          </a:xfrm>
          <a:prstGeom prst="ellipse">
            <a:avLst/>
          </a:prstGeom>
          <a:solidFill>
            <a:schemeClr val="tx2"/>
          </a:solidFill>
          <a:ln w="12700">
            <a:solidFill>
              <a:schemeClr val="tx2"/>
            </a:solidFill>
            <a:prstDash val="solid"/>
          </a:ln>
        </p:spPr>
      </p:sp>
      <p:pic>
        <p:nvPicPr>
          <p:cNvPr id="32" name="Image 3" descr="preencoded.png">    </p:cNvPr>
          <p:cNvPicPr>
            <a:picLocks noChangeAspect="1"/>
          </p:cNvPicPr>
          <p:nvPr/>
        </p:nvPicPr>
        <p:blipFill>
          <a:blip r:embed="rId4"/>
          <a:stretch>
            <a:fillRect/>
          </a:stretch>
        </p:blipFill>
        <p:spPr>
          <a:xfrm>
            <a:off x="6492240" y="1792224"/>
            <a:ext cx="274320" cy="274320"/>
          </a:xfrm>
          <a:prstGeom prst="rect">
            <a:avLst/>
          </a:prstGeom>
        </p:spPr>
      </p:pic>
      <p:sp>
        <p:nvSpPr>
          <p:cNvPr id="33" name="Text 27"/>
          <p:cNvSpPr txBox="1"/>
          <p:nvPr/>
        </p:nvSpPr>
        <p:spPr>
          <a:xfrm>
            <a:off x="7290816" y="1627632"/>
            <a:ext cx="411480" cy="548640"/>
          </a:xfrm>
          <a:prstGeom prst="rect">
            <a:avLst/>
          </a:prstGeom>
          <a:noFill/>
          <a:ln/>
        </p:spPr>
        <p:txBody>
          <a:bodyPr wrap="square" lIns="0" tIns="0" rIns="0" bIns="0" rtlCol="0" anchor="t"/>
          <a:lstStyle/>
          <a:p>
            <a:pPr algn="r" indent="0" marL="0">
              <a:buNone/>
            </a:pPr>
            <a:r>
              <a:rPr lang="en-US" sz="3000" b="1" dirty="0">
                <a:solidFill>
                  <a:schemeClr val="accent2"/>
                </a:solidFill>
                <a:latin typeface="Cambria" pitchFamily="34" charset="0"/>
                <a:ea typeface="Cambria" pitchFamily="34" charset="-122"/>
                <a:cs typeface="Cambria" pitchFamily="34" charset="-120"/>
              </a:rPr>
              <a:t>4</a:t>
            </a:r>
            <a:endParaRPr lang="en-US" sz="3000" dirty="0"/>
          </a:p>
        </p:txBody>
      </p:sp>
      <p:sp>
        <p:nvSpPr>
          <p:cNvPr id="34" name="Text 28"/>
          <p:cNvSpPr txBox="1"/>
          <p:nvPr/>
        </p:nvSpPr>
        <p:spPr>
          <a:xfrm>
            <a:off x="6345936" y="2331720"/>
            <a:ext cx="1402080" cy="384048"/>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Mobilize</a:t>
            </a:r>
            <a:endParaRPr lang="en-US" sz="1900" dirty="0"/>
          </a:p>
        </p:txBody>
      </p:sp>
      <p:sp>
        <p:nvSpPr>
          <p:cNvPr id="35" name="Shape 29"/>
          <p:cNvSpPr/>
          <p:nvPr/>
        </p:nvSpPr>
        <p:spPr>
          <a:xfrm>
            <a:off x="6345936" y="2788920"/>
            <a:ext cx="1347216" cy="329184"/>
          </a:xfrm>
          <a:prstGeom prst="roundRect">
            <a:avLst>
              <a:gd name="adj" fmla="val 50000"/>
            </a:avLst>
          </a:prstGeom>
          <a:solidFill>
            <a:schemeClr val="accent4"/>
          </a:solidFill>
          <a:ln w="12700">
            <a:solidFill>
              <a:schemeClr val="accent4"/>
            </a:solidFill>
            <a:prstDash val="solid"/>
          </a:ln>
        </p:spPr>
      </p:sp>
      <p:sp>
        <p:nvSpPr>
          <p:cNvPr id="36" name="Text 30"/>
          <p:cNvSpPr txBox="1"/>
          <p:nvPr/>
        </p:nvSpPr>
        <p:spPr>
          <a:xfrm>
            <a:off x="6345936" y="2788920"/>
            <a:ext cx="1347216" cy="329184"/>
          </a:xfrm>
          <a:prstGeom prst="rect">
            <a:avLst/>
          </a:prstGeom>
          <a:noFill/>
          <a:ln/>
        </p:spPr>
        <p:txBody>
          <a:bodyPr wrap="square" lIns="0" tIns="0" rIns="0" bIns="0" rtlCol="0" anchor="ctr"/>
          <a:lstStyle/>
          <a:p>
            <a:pPr algn="ctr" indent="0" marL="0">
              <a:buNone/>
            </a:pPr>
            <a:r>
              <a:rPr lang="en-US" sz="1150" b="1" dirty="0">
                <a:solidFill>
                  <a:schemeClr val="bg1"/>
                </a:solidFill>
              </a:rPr>
              <a:t>Started</a:t>
            </a:r>
            <a:endParaRPr lang="en-US" sz="1150" dirty="0"/>
          </a:p>
        </p:txBody>
      </p:sp>
      <p:sp>
        <p:nvSpPr>
          <p:cNvPr id="37" name="Text 31"/>
          <p:cNvSpPr txBox="1"/>
          <p:nvPr/>
        </p:nvSpPr>
        <p:spPr>
          <a:xfrm>
            <a:off x="6345936" y="3246120"/>
            <a:ext cx="1383792" cy="2148840"/>
          </a:xfrm>
          <a:prstGeom prst="rect">
            <a:avLst/>
          </a:prstGeom>
          <a:noFill/>
          <a:ln/>
        </p:spPr>
        <p:txBody>
          <a:bodyPr wrap="square" lIns="0" tIns="0" rIns="0" bIns="0" rtlCol="0" anchor="t"/>
          <a:lstStyle/>
          <a:p>
            <a:pPr indent="0" marL="0">
              <a:buNone/>
            </a:pPr>
            <a:r>
              <a:rPr lang="en-US" sz="1200" dirty="0">
                <a:solidFill>
                  <a:schemeClr val="tx1"/>
                </a:solidFill>
              </a:rPr>
              <a:t>Splash page live; Quantum World Congress handout done. Window: early Dec 2026 to Mar 2027</a:t>
            </a:r>
            <a:endParaRPr lang="en-US" sz="1200" dirty="0"/>
          </a:p>
        </p:txBody>
      </p:sp>
      <p:sp>
        <p:nvSpPr>
          <p:cNvPr id="38" name="Shape 32"/>
          <p:cNvSpPr/>
          <p:nvPr/>
        </p:nvSpPr>
        <p:spPr>
          <a:xfrm>
            <a:off x="7876032" y="1810512"/>
            <a:ext cx="164592" cy="237744"/>
          </a:xfrm>
          <a:prstGeom prst="rightArrow">
            <a:avLst/>
          </a:prstGeom>
          <a:solidFill>
            <a:schemeClr val="accent2"/>
          </a:solidFill>
          <a:ln w="12700">
            <a:solidFill>
              <a:schemeClr val="accent2"/>
            </a:solidFill>
            <a:prstDash val="solid"/>
          </a:ln>
        </p:spPr>
      </p:sp>
      <p:sp>
        <p:nvSpPr>
          <p:cNvPr id="39" name="phase-5"/>
          <p:cNvSpPr/>
          <p:nvPr/>
        </p:nvSpPr>
        <p:spPr>
          <a:xfrm>
            <a:off x="8058912" y="1463040"/>
            <a:ext cx="1676400" cy="4023360"/>
          </a:xfrm>
          <a:prstGeom prst="roundRect">
            <a:avLst>
              <a:gd name="adj" fmla="val 4364"/>
            </a:avLst>
          </a:prstGeom>
          <a:solidFill>
            <a:schemeClr val="bg2"/>
          </a:solidFill>
          <a:ln w="9525">
            <a:solidFill>
              <a:schemeClr val="bg2"/>
            </a:solidFill>
            <a:prstDash val="solid"/>
          </a:ln>
        </p:spPr>
      </p:sp>
      <p:sp>
        <p:nvSpPr>
          <p:cNvPr id="40" name="Shape 34"/>
          <p:cNvSpPr/>
          <p:nvPr/>
        </p:nvSpPr>
        <p:spPr>
          <a:xfrm>
            <a:off x="8223504" y="1645920"/>
            <a:ext cx="566928" cy="566928"/>
          </a:xfrm>
          <a:prstGeom prst="ellipse">
            <a:avLst/>
          </a:prstGeom>
          <a:solidFill>
            <a:schemeClr val="tx2"/>
          </a:solidFill>
          <a:ln w="12700">
            <a:solidFill>
              <a:schemeClr val="tx2"/>
            </a:solidFill>
            <a:prstDash val="solid"/>
          </a:ln>
        </p:spPr>
      </p:sp>
      <p:pic>
        <p:nvPicPr>
          <p:cNvPr id="41" name="Image 4" descr="preencoded.png">    </p:cNvPr>
          <p:cNvPicPr>
            <a:picLocks noChangeAspect="1"/>
          </p:cNvPicPr>
          <p:nvPr/>
        </p:nvPicPr>
        <p:blipFill>
          <a:blip r:embed="rId5"/>
          <a:stretch>
            <a:fillRect/>
          </a:stretch>
        </p:blipFill>
        <p:spPr>
          <a:xfrm>
            <a:off x="8369808" y="1792224"/>
            <a:ext cx="274320" cy="274320"/>
          </a:xfrm>
          <a:prstGeom prst="rect">
            <a:avLst/>
          </a:prstGeom>
        </p:spPr>
      </p:pic>
      <p:sp>
        <p:nvSpPr>
          <p:cNvPr id="42" name="Text 35"/>
          <p:cNvSpPr txBox="1"/>
          <p:nvPr/>
        </p:nvSpPr>
        <p:spPr>
          <a:xfrm>
            <a:off x="9168384" y="1627632"/>
            <a:ext cx="411480" cy="548640"/>
          </a:xfrm>
          <a:prstGeom prst="rect">
            <a:avLst/>
          </a:prstGeom>
          <a:noFill/>
          <a:ln/>
        </p:spPr>
        <p:txBody>
          <a:bodyPr wrap="square" lIns="0" tIns="0" rIns="0" bIns="0" rtlCol="0" anchor="t"/>
          <a:lstStyle/>
          <a:p>
            <a:pPr algn="r" indent="0" marL="0">
              <a:buNone/>
            </a:pPr>
            <a:r>
              <a:rPr lang="en-US" sz="3000" b="1" dirty="0">
                <a:solidFill>
                  <a:schemeClr val="accent2"/>
                </a:solidFill>
                <a:latin typeface="Cambria" pitchFamily="34" charset="0"/>
                <a:ea typeface="Cambria" pitchFamily="34" charset="-122"/>
                <a:cs typeface="Cambria" pitchFamily="34" charset="-120"/>
              </a:rPr>
              <a:t>5</a:t>
            </a:r>
            <a:endParaRPr lang="en-US" sz="3000" dirty="0"/>
          </a:p>
        </p:txBody>
      </p:sp>
      <p:sp>
        <p:nvSpPr>
          <p:cNvPr id="43" name="Text 36"/>
          <p:cNvSpPr txBox="1"/>
          <p:nvPr/>
        </p:nvSpPr>
        <p:spPr>
          <a:xfrm>
            <a:off x="8223504" y="2331720"/>
            <a:ext cx="1402080" cy="384048"/>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Select</a:t>
            </a:r>
            <a:endParaRPr lang="en-US" sz="1900" dirty="0"/>
          </a:p>
        </p:txBody>
      </p:sp>
      <p:sp>
        <p:nvSpPr>
          <p:cNvPr id="44" name="Shape 37"/>
          <p:cNvSpPr/>
          <p:nvPr/>
        </p:nvSpPr>
        <p:spPr>
          <a:xfrm>
            <a:off x="8223504" y="2788920"/>
            <a:ext cx="1347216" cy="329184"/>
          </a:xfrm>
          <a:prstGeom prst="roundRect">
            <a:avLst>
              <a:gd name="adj" fmla="val 50000"/>
            </a:avLst>
          </a:prstGeom>
          <a:solidFill>
            <a:schemeClr val="accent5"/>
          </a:solidFill>
          <a:ln w="12700">
            <a:solidFill>
              <a:schemeClr val="accent5"/>
            </a:solidFill>
            <a:prstDash val="solid"/>
          </a:ln>
        </p:spPr>
      </p:sp>
      <p:sp>
        <p:nvSpPr>
          <p:cNvPr id="45" name="Text 38"/>
          <p:cNvSpPr txBox="1"/>
          <p:nvPr/>
        </p:nvSpPr>
        <p:spPr>
          <a:xfrm>
            <a:off x="8223504" y="2788920"/>
            <a:ext cx="1347216" cy="329184"/>
          </a:xfrm>
          <a:prstGeom prst="rect">
            <a:avLst/>
          </a:prstGeom>
          <a:noFill/>
          <a:ln/>
        </p:spPr>
        <p:txBody>
          <a:bodyPr wrap="square" lIns="0" tIns="0" rIns="0" bIns="0" rtlCol="0" anchor="ctr"/>
          <a:lstStyle/>
          <a:p>
            <a:pPr algn="ctr" indent="0" marL="0">
              <a:buNone/>
            </a:pPr>
            <a:r>
              <a:rPr lang="en-US" sz="1150" b="1" dirty="0">
                <a:solidFill>
                  <a:schemeClr val="bg1"/>
                </a:solidFill>
              </a:rPr>
              <a:t>Apr–May 2027</a:t>
            </a:r>
            <a:endParaRPr lang="en-US" sz="1150" dirty="0"/>
          </a:p>
        </p:txBody>
      </p:sp>
      <p:sp>
        <p:nvSpPr>
          <p:cNvPr id="46" name="Text 39"/>
          <p:cNvSpPr txBox="1"/>
          <p:nvPr/>
        </p:nvSpPr>
        <p:spPr>
          <a:xfrm>
            <a:off x="8223504" y="3246120"/>
            <a:ext cx="1383792" cy="2148840"/>
          </a:xfrm>
          <a:prstGeom prst="rect">
            <a:avLst/>
          </a:prstGeom>
          <a:noFill/>
          <a:ln/>
        </p:spPr>
        <p:txBody>
          <a:bodyPr wrap="square" lIns="0" tIns="0" rIns="0" bIns="0" rtlCol="0" anchor="t"/>
          <a:lstStyle/>
          <a:p>
            <a:pPr indent="0" marL="0">
              <a:buNone/>
            </a:pPr>
            <a:r>
              <a:rPr lang="en-US" sz="1200" dirty="0">
                <a:solidFill>
                  <a:schemeClr val="tx1"/>
                </a:solidFill>
              </a:rPr>
              <a:t>Federal and industry judges; up to 40 winners; solutions to NSF by May 20, 2027</a:t>
            </a:r>
            <a:endParaRPr lang="en-US" sz="1200" dirty="0"/>
          </a:p>
        </p:txBody>
      </p:sp>
      <p:sp>
        <p:nvSpPr>
          <p:cNvPr id="47" name="Shape 40"/>
          <p:cNvSpPr/>
          <p:nvPr/>
        </p:nvSpPr>
        <p:spPr>
          <a:xfrm>
            <a:off x="9753600" y="1810512"/>
            <a:ext cx="164592" cy="237744"/>
          </a:xfrm>
          <a:prstGeom prst="rightArrow">
            <a:avLst/>
          </a:prstGeom>
          <a:solidFill>
            <a:schemeClr val="accent2"/>
          </a:solidFill>
          <a:ln w="12700">
            <a:solidFill>
              <a:schemeClr val="accent2"/>
            </a:solidFill>
            <a:prstDash val="solid"/>
          </a:ln>
        </p:spPr>
      </p:sp>
      <p:sp>
        <p:nvSpPr>
          <p:cNvPr id="48" name="phase-6"/>
          <p:cNvSpPr/>
          <p:nvPr/>
        </p:nvSpPr>
        <p:spPr>
          <a:xfrm>
            <a:off x="9936480" y="1463040"/>
            <a:ext cx="1676400" cy="4023360"/>
          </a:xfrm>
          <a:prstGeom prst="roundRect">
            <a:avLst>
              <a:gd name="adj" fmla="val 4364"/>
            </a:avLst>
          </a:prstGeom>
          <a:solidFill>
            <a:schemeClr val="bg2"/>
          </a:solidFill>
          <a:ln w="9525">
            <a:solidFill>
              <a:schemeClr val="bg2"/>
            </a:solidFill>
            <a:prstDash val="solid"/>
          </a:ln>
        </p:spPr>
      </p:sp>
      <p:sp>
        <p:nvSpPr>
          <p:cNvPr id="49" name="Shape 42"/>
          <p:cNvSpPr/>
          <p:nvPr/>
        </p:nvSpPr>
        <p:spPr>
          <a:xfrm>
            <a:off x="10101072" y="1645920"/>
            <a:ext cx="566928" cy="566928"/>
          </a:xfrm>
          <a:prstGeom prst="ellipse">
            <a:avLst/>
          </a:prstGeom>
          <a:solidFill>
            <a:schemeClr val="tx2"/>
          </a:solidFill>
          <a:ln w="12700">
            <a:solidFill>
              <a:schemeClr val="tx2"/>
            </a:solidFill>
            <a:prstDash val="solid"/>
          </a:ln>
        </p:spPr>
      </p:sp>
      <p:pic>
        <p:nvPicPr>
          <p:cNvPr id="50" name="Image 5" descr="preencoded.png">    </p:cNvPr>
          <p:cNvPicPr>
            <a:picLocks noChangeAspect="1"/>
          </p:cNvPicPr>
          <p:nvPr/>
        </p:nvPicPr>
        <p:blipFill>
          <a:blip r:embed="rId6"/>
          <a:stretch>
            <a:fillRect/>
          </a:stretch>
        </p:blipFill>
        <p:spPr>
          <a:xfrm>
            <a:off x="10247376" y="1792224"/>
            <a:ext cx="274320" cy="274320"/>
          </a:xfrm>
          <a:prstGeom prst="rect">
            <a:avLst/>
          </a:prstGeom>
        </p:spPr>
      </p:pic>
      <p:sp>
        <p:nvSpPr>
          <p:cNvPr id="51" name="Text 43"/>
          <p:cNvSpPr txBox="1"/>
          <p:nvPr/>
        </p:nvSpPr>
        <p:spPr>
          <a:xfrm>
            <a:off x="11045952" y="1627632"/>
            <a:ext cx="411480" cy="548640"/>
          </a:xfrm>
          <a:prstGeom prst="rect">
            <a:avLst/>
          </a:prstGeom>
          <a:noFill/>
          <a:ln/>
        </p:spPr>
        <p:txBody>
          <a:bodyPr wrap="square" lIns="0" tIns="0" rIns="0" bIns="0" rtlCol="0" anchor="t"/>
          <a:lstStyle/>
          <a:p>
            <a:pPr algn="r" indent="0" marL="0">
              <a:buNone/>
            </a:pPr>
            <a:r>
              <a:rPr lang="en-US" sz="3000" b="1" dirty="0">
                <a:solidFill>
                  <a:schemeClr val="accent2"/>
                </a:solidFill>
                <a:latin typeface="Cambria" pitchFamily="34" charset="0"/>
                <a:ea typeface="Cambria" pitchFamily="34" charset="-122"/>
                <a:cs typeface="Cambria" pitchFamily="34" charset="-120"/>
              </a:rPr>
              <a:t>6</a:t>
            </a:r>
            <a:endParaRPr lang="en-US" sz="3000" dirty="0"/>
          </a:p>
        </p:txBody>
      </p:sp>
      <p:sp>
        <p:nvSpPr>
          <p:cNvPr id="52" name="Text 44"/>
          <p:cNvSpPr txBox="1"/>
          <p:nvPr/>
        </p:nvSpPr>
        <p:spPr>
          <a:xfrm>
            <a:off x="10101072" y="2331720"/>
            <a:ext cx="1402080" cy="384048"/>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Adopt</a:t>
            </a:r>
            <a:endParaRPr lang="en-US" sz="1900" dirty="0"/>
          </a:p>
        </p:txBody>
      </p:sp>
      <p:sp>
        <p:nvSpPr>
          <p:cNvPr id="53" name="Shape 45"/>
          <p:cNvSpPr/>
          <p:nvPr/>
        </p:nvSpPr>
        <p:spPr>
          <a:xfrm>
            <a:off x="10101072" y="2788920"/>
            <a:ext cx="1347216" cy="329184"/>
          </a:xfrm>
          <a:prstGeom prst="roundRect">
            <a:avLst>
              <a:gd name="adj" fmla="val 50000"/>
            </a:avLst>
          </a:prstGeom>
          <a:solidFill>
            <a:schemeClr val="accent5"/>
          </a:solidFill>
          <a:ln w="12700">
            <a:solidFill>
              <a:schemeClr val="accent5"/>
            </a:solidFill>
            <a:prstDash val="solid"/>
          </a:ln>
        </p:spPr>
      </p:sp>
      <p:sp>
        <p:nvSpPr>
          <p:cNvPr id="54" name="Text 46"/>
          <p:cNvSpPr txBox="1"/>
          <p:nvPr/>
        </p:nvSpPr>
        <p:spPr>
          <a:xfrm>
            <a:off x="10101072" y="2788920"/>
            <a:ext cx="1347216" cy="329184"/>
          </a:xfrm>
          <a:prstGeom prst="rect">
            <a:avLst/>
          </a:prstGeom>
          <a:noFill/>
          <a:ln/>
        </p:spPr>
        <p:txBody>
          <a:bodyPr wrap="square" lIns="0" tIns="0" rIns="0" bIns="0" rtlCol="0" anchor="ctr"/>
          <a:lstStyle/>
          <a:p>
            <a:pPr algn="ctr" indent="0" marL="0">
              <a:buNone/>
            </a:pPr>
            <a:r>
              <a:rPr lang="en-US" sz="1150" b="1" dirty="0">
                <a:solidFill>
                  <a:schemeClr val="bg1"/>
                </a:solidFill>
              </a:rPr>
              <a:t>Mid-2027–2029</a:t>
            </a:r>
            <a:endParaRPr lang="en-US" sz="1150" dirty="0"/>
          </a:p>
        </p:txBody>
      </p:sp>
      <p:sp>
        <p:nvSpPr>
          <p:cNvPr id="55" name="Text 47"/>
          <p:cNvSpPr txBox="1"/>
          <p:nvPr/>
        </p:nvSpPr>
        <p:spPr>
          <a:xfrm>
            <a:off x="10101072" y="3246120"/>
            <a:ext cx="1383792" cy="2148840"/>
          </a:xfrm>
          <a:prstGeom prst="rect">
            <a:avLst/>
          </a:prstGeom>
          <a:noFill/>
          <a:ln/>
        </p:spPr>
        <p:txBody>
          <a:bodyPr wrap="square" lIns="0" tIns="0" rIns="0" bIns="0" rtlCol="0" anchor="t"/>
          <a:lstStyle/>
          <a:p>
            <a:pPr indent="0" marL="0">
              <a:buNone/>
            </a:pPr>
            <a:r>
              <a:rPr lang="en-US" sz="1200" dirty="0">
                <a:solidFill>
                  <a:schemeClr val="tx1"/>
                </a:solidFill>
              </a:rPr>
              <a:t>Phase 2 pairing, six-month pilot, nine-month monitoring; Phase 3 scaling</a:t>
            </a:r>
            <a:endParaRPr lang="en-US" sz="1200" dirty="0"/>
          </a:p>
        </p:txBody>
      </p:sp>
      <p:sp>
        <p:nvSpPr>
          <p:cNvPr id="56" name="Text 48"/>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350" b="1" dirty="0">
                <a:solidFill>
                  <a:schemeClr val="accent2"/>
                </a:solidFill>
              </a:rPr>
              <a:t>Today: </a:t>
            </a:r>
            <a:pPr indent="0" marL="0">
              <a:buNone/>
            </a:pPr>
            <a:r>
              <a:rPr lang="en-US" sz="1350" dirty="0">
                <a:solidFill>
                  <a:schemeClr val="tx1"/>
                </a:solidFill>
              </a:rPr>
              <a:t>Frame and Design run in parallel, and both need inputs from the industry collaborators before rules are finalized.</a:t>
            </a:r>
            <a:endParaRPr lang="en-US" sz="13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three NSF phases climb from ideas to pilots to markets, so each phase must screen for the next</a:t>
            </a:r>
            <a:endParaRPr lang="en-US" sz="2800" dirty="0"/>
          </a:p>
        </p:txBody>
      </p:sp>
      <p:sp>
        <p:nvSpPr>
          <p:cNvPr id="3" name="step-1"/>
          <p:cNvSpPr/>
          <p:nvPr/>
        </p:nvSpPr>
        <p:spPr>
          <a:xfrm>
            <a:off x="548640" y="3246120"/>
            <a:ext cx="3520440" cy="2606040"/>
          </a:xfrm>
          <a:prstGeom prst="roundRect">
            <a:avLst>
              <a:gd name="adj" fmla="val 2807"/>
            </a:avLst>
          </a:prstGeom>
          <a:solidFill>
            <a:schemeClr val="bg2"/>
          </a:solidFill>
          <a:ln w="9525">
            <a:solidFill>
              <a:schemeClr val="bg2"/>
            </a:solidFill>
            <a:prstDash val="solid"/>
          </a:ln>
        </p:spPr>
      </p:sp>
      <p:sp>
        <p:nvSpPr>
          <p:cNvPr id="4" name="Text 2"/>
          <p:cNvSpPr txBox="1"/>
          <p:nvPr/>
        </p:nvSpPr>
        <p:spPr>
          <a:xfrm>
            <a:off x="777240" y="3410712"/>
            <a:ext cx="3108960" cy="320040"/>
          </a:xfrm>
          <a:prstGeom prst="rect">
            <a:avLst/>
          </a:prstGeom>
          <a:noFill/>
          <a:ln/>
        </p:spPr>
        <p:txBody>
          <a:bodyPr wrap="square" lIns="0" tIns="0" rIns="0" bIns="0" rtlCol="0" anchor="t"/>
          <a:lstStyle/>
          <a:p>
            <a:pPr indent="0" marL="0">
              <a:buNone/>
            </a:pPr>
            <a:r>
              <a:rPr lang="en-US" sz="1250" b="1" dirty="0">
                <a:solidFill>
                  <a:schemeClr val="accent2"/>
                </a:solidFill>
              </a:rPr>
              <a:t>Phase 1  ·  Proposal</a:t>
            </a:r>
            <a:endParaRPr lang="en-US" sz="1250" dirty="0"/>
          </a:p>
        </p:txBody>
      </p:sp>
      <p:sp>
        <p:nvSpPr>
          <p:cNvPr id="5" name="Text 3"/>
          <p:cNvSpPr txBox="1"/>
          <p:nvPr/>
        </p:nvSpPr>
        <p:spPr>
          <a:xfrm>
            <a:off x="777240" y="3749040"/>
            <a:ext cx="310896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Attract new ideas</a:t>
            </a:r>
            <a:endParaRPr lang="en-US" sz="1700" dirty="0"/>
          </a:p>
        </p:txBody>
      </p:sp>
      <p:sp>
        <p:nvSpPr>
          <p:cNvPr id="6" name="Text 4"/>
          <p:cNvSpPr txBox="1"/>
          <p:nvPr/>
        </p:nvSpPr>
        <p:spPr>
          <a:xfrm>
            <a:off x="777240" y="4480560"/>
            <a:ext cx="3108960" cy="960120"/>
          </a:xfrm>
          <a:prstGeom prst="rect">
            <a:avLst/>
          </a:prstGeom>
          <a:noFill/>
          <a:ln/>
        </p:spPr>
        <p:txBody>
          <a:bodyPr wrap="square" lIns="0" tIns="0" rIns="0" bIns="0" rtlCol="0" anchor="t"/>
          <a:lstStyle/>
          <a:p>
            <a:pPr indent="0" marL="0">
              <a:buNone/>
            </a:pPr>
            <a:r>
              <a:rPr lang="en-US" sz="1250" dirty="0">
                <a:solidFill>
                  <a:schemeClr val="tx1"/>
                </a:solidFill>
              </a:rPr>
              <a:t>Algorithms with real use cases, benchmarks and preliminary results. No quantum hardware required.</a:t>
            </a:r>
            <a:endParaRPr lang="en-US" sz="1250" dirty="0"/>
          </a:p>
        </p:txBody>
      </p:sp>
      <p:sp>
        <p:nvSpPr>
          <p:cNvPr id="7" name="Text 5"/>
          <p:cNvSpPr txBox="1"/>
          <p:nvPr/>
        </p:nvSpPr>
        <p:spPr>
          <a:xfrm>
            <a:off x="777240" y="5394960"/>
            <a:ext cx="3108960" cy="320040"/>
          </a:xfrm>
          <a:prstGeom prst="rect">
            <a:avLst/>
          </a:prstGeom>
          <a:noFill/>
          <a:ln/>
        </p:spPr>
        <p:txBody>
          <a:bodyPr wrap="square" lIns="0" tIns="0" rIns="0" bIns="0" rtlCol="0" anchor="t"/>
          <a:lstStyle/>
          <a:p>
            <a:pPr indent="0" marL="0">
              <a:buNone/>
            </a:pPr>
            <a:r>
              <a:rPr lang="en-US" sz="1200" i="1" dirty="0">
                <a:solidFill>
                  <a:schemeClr val="accent5"/>
                </a:solidFill>
              </a:rPr>
              <a:t>Up to 40 × $25,000</a:t>
            </a:r>
            <a:endParaRPr lang="en-US" sz="1200" dirty="0"/>
          </a:p>
        </p:txBody>
      </p:sp>
      <p:sp>
        <p:nvSpPr>
          <p:cNvPr id="8" name="step-2"/>
          <p:cNvSpPr/>
          <p:nvPr/>
        </p:nvSpPr>
        <p:spPr>
          <a:xfrm>
            <a:off x="4297680" y="2423160"/>
            <a:ext cx="3520440" cy="3429000"/>
          </a:xfrm>
          <a:prstGeom prst="roundRect">
            <a:avLst>
              <a:gd name="adj" fmla="val 2133"/>
            </a:avLst>
          </a:prstGeom>
          <a:solidFill>
            <a:schemeClr val="tx2"/>
          </a:solidFill>
          <a:ln w="9525">
            <a:solidFill>
              <a:schemeClr val="tx2"/>
            </a:solidFill>
            <a:prstDash val="solid"/>
          </a:ln>
        </p:spPr>
      </p:sp>
      <p:sp>
        <p:nvSpPr>
          <p:cNvPr id="9" name="Text 7"/>
          <p:cNvSpPr txBox="1"/>
          <p:nvPr/>
        </p:nvSpPr>
        <p:spPr>
          <a:xfrm>
            <a:off x="4526280" y="2587752"/>
            <a:ext cx="3108960" cy="320040"/>
          </a:xfrm>
          <a:prstGeom prst="rect">
            <a:avLst/>
          </a:prstGeom>
          <a:noFill/>
          <a:ln/>
        </p:spPr>
        <p:txBody>
          <a:bodyPr wrap="square" lIns="0" tIns="0" rIns="0" bIns="0" rtlCol="0" anchor="t"/>
          <a:lstStyle/>
          <a:p>
            <a:pPr indent="0" marL="0">
              <a:buNone/>
            </a:pPr>
            <a:r>
              <a:rPr lang="en-US" sz="1250" b="1" dirty="0">
                <a:solidFill>
                  <a:schemeClr val="accent4"/>
                </a:solidFill>
              </a:rPr>
              <a:t>Phase 2  ·  Development</a:t>
            </a:r>
            <a:endParaRPr lang="en-US" sz="1250" dirty="0"/>
          </a:p>
        </p:txBody>
      </p:sp>
      <p:sp>
        <p:nvSpPr>
          <p:cNvPr id="10" name="Text 8"/>
          <p:cNvSpPr txBox="1"/>
          <p:nvPr/>
        </p:nvSpPr>
        <p:spPr>
          <a:xfrm>
            <a:off x="4526280" y="2926080"/>
            <a:ext cx="3108960" cy="68580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Build prototypes and launch pilots</a:t>
            </a:r>
            <a:endParaRPr lang="en-US" sz="1700" dirty="0"/>
          </a:p>
        </p:txBody>
      </p:sp>
      <p:sp>
        <p:nvSpPr>
          <p:cNvPr id="11" name="Text 9"/>
          <p:cNvSpPr txBox="1"/>
          <p:nvPr/>
        </p:nvSpPr>
        <p:spPr>
          <a:xfrm>
            <a:off x="4526280" y="3657600"/>
            <a:ext cx="3108960" cy="960120"/>
          </a:xfrm>
          <a:prstGeom prst="rect">
            <a:avLst/>
          </a:prstGeom>
          <a:noFill/>
          <a:ln/>
        </p:spPr>
        <p:txBody>
          <a:bodyPr wrap="square" lIns="0" tIns="0" rIns="0" bIns="0" rtlCol="0" anchor="t"/>
          <a:lstStyle/>
          <a:p>
            <a:pPr indent="0" marL="0">
              <a:buNone/>
            </a:pPr>
            <a:r>
              <a:rPr lang="en-US" sz="1250" dirty="0">
                <a:solidFill>
                  <a:schemeClr val="bg1"/>
                </a:solidFill>
              </a:rPr>
              <a:t>Industry pairing, joint design, six-month pilot, nine-month monitoring.</a:t>
            </a:r>
            <a:endParaRPr lang="en-US" sz="1250" dirty="0"/>
          </a:p>
        </p:txBody>
      </p:sp>
      <p:sp>
        <p:nvSpPr>
          <p:cNvPr id="12" name="Text 10"/>
          <p:cNvSpPr txBox="1"/>
          <p:nvPr/>
        </p:nvSpPr>
        <p:spPr>
          <a:xfrm>
            <a:off x="4526280" y="5394960"/>
            <a:ext cx="3108960" cy="320040"/>
          </a:xfrm>
          <a:prstGeom prst="rect">
            <a:avLst/>
          </a:prstGeom>
          <a:noFill/>
          <a:ln/>
        </p:spPr>
        <p:txBody>
          <a:bodyPr wrap="square" lIns="0" tIns="0" rIns="0" bIns="0" rtlCol="0" anchor="t"/>
          <a:lstStyle/>
          <a:p>
            <a:pPr indent="0" marL="0">
              <a:buNone/>
            </a:pPr>
            <a:r>
              <a:rPr lang="en-US" sz="1200" i="1" dirty="0">
                <a:solidFill>
                  <a:schemeClr val="accent6"/>
                </a:solidFill>
              </a:rPr>
              <a:t>Purse and payer to be determined</a:t>
            </a:r>
            <a:endParaRPr lang="en-US" sz="1200" dirty="0"/>
          </a:p>
        </p:txBody>
      </p:sp>
      <p:sp>
        <p:nvSpPr>
          <p:cNvPr id="13" name="step-3"/>
          <p:cNvSpPr/>
          <p:nvPr/>
        </p:nvSpPr>
        <p:spPr>
          <a:xfrm>
            <a:off x="8046720" y="1600200"/>
            <a:ext cx="3520440" cy="4251960"/>
          </a:xfrm>
          <a:prstGeom prst="roundRect">
            <a:avLst>
              <a:gd name="adj" fmla="val 2078"/>
            </a:avLst>
          </a:prstGeom>
          <a:solidFill>
            <a:schemeClr val="bg2"/>
          </a:solidFill>
          <a:ln w="9525">
            <a:solidFill>
              <a:schemeClr val="bg2"/>
            </a:solidFill>
            <a:prstDash val="solid"/>
          </a:ln>
        </p:spPr>
      </p:sp>
      <p:sp>
        <p:nvSpPr>
          <p:cNvPr id="14" name="Text 12"/>
          <p:cNvSpPr txBox="1"/>
          <p:nvPr/>
        </p:nvSpPr>
        <p:spPr>
          <a:xfrm>
            <a:off x="8275320" y="1764792"/>
            <a:ext cx="3108960" cy="320040"/>
          </a:xfrm>
          <a:prstGeom prst="rect">
            <a:avLst/>
          </a:prstGeom>
          <a:noFill/>
          <a:ln/>
        </p:spPr>
        <p:txBody>
          <a:bodyPr wrap="square" lIns="0" tIns="0" rIns="0" bIns="0" rtlCol="0" anchor="t"/>
          <a:lstStyle/>
          <a:p>
            <a:pPr indent="0" marL="0">
              <a:buNone/>
            </a:pPr>
            <a:r>
              <a:rPr lang="en-US" sz="1250" b="1" dirty="0">
                <a:solidFill>
                  <a:schemeClr val="accent2"/>
                </a:solidFill>
              </a:rPr>
              <a:t>Phase 3  ·  Scaling and translation</a:t>
            </a:r>
            <a:endParaRPr lang="en-US" sz="1250" dirty="0"/>
          </a:p>
        </p:txBody>
      </p:sp>
      <p:sp>
        <p:nvSpPr>
          <p:cNvPr id="15" name="Text 13"/>
          <p:cNvSpPr txBox="1"/>
          <p:nvPr/>
        </p:nvSpPr>
        <p:spPr>
          <a:xfrm>
            <a:off x="8275320" y="2103120"/>
            <a:ext cx="310896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Stimulate markets</a:t>
            </a:r>
            <a:endParaRPr lang="en-US" sz="1700" dirty="0"/>
          </a:p>
        </p:txBody>
      </p:sp>
      <p:sp>
        <p:nvSpPr>
          <p:cNvPr id="16" name="Text 14"/>
          <p:cNvSpPr txBox="1"/>
          <p:nvPr/>
        </p:nvSpPr>
        <p:spPr>
          <a:xfrm>
            <a:off x="8275320" y="2834640"/>
            <a:ext cx="3108960" cy="960120"/>
          </a:xfrm>
          <a:prstGeom prst="rect">
            <a:avLst/>
          </a:prstGeom>
          <a:noFill/>
          <a:ln/>
        </p:spPr>
        <p:txBody>
          <a:bodyPr wrap="square" lIns="0" tIns="0" rIns="0" bIns="0" rtlCol="0" anchor="t"/>
          <a:lstStyle/>
          <a:p>
            <a:pPr indent="0" marL="0">
              <a:buNone/>
            </a:pPr>
            <a:r>
              <a:rPr lang="en-US" sz="1250" dirty="0">
                <a:solidFill>
                  <a:schemeClr val="tx1"/>
                </a:solidFill>
              </a:rPr>
              <a:t>Refine, scale and prepare for commercial adoption. Final versions may run on promising quantum hardware.</a:t>
            </a:r>
            <a:endParaRPr lang="en-US" sz="1250" dirty="0"/>
          </a:p>
        </p:txBody>
      </p:sp>
      <p:sp>
        <p:nvSpPr>
          <p:cNvPr id="17" name="Text 15"/>
          <p:cNvSpPr txBox="1"/>
          <p:nvPr/>
        </p:nvSpPr>
        <p:spPr>
          <a:xfrm>
            <a:off x="8275320" y="5394960"/>
            <a:ext cx="3108960" cy="320040"/>
          </a:xfrm>
          <a:prstGeom prst="rect">
            <a:avLst/>
          </a:prstGeom>
          <a:noFill/>
          <a:ln/>
        </p:spPr>
        <p:txBody>
          <a:bodyPr wrap="square" lIns="0" tIns="0" rIns="0" bIns="0" rtlCol="0" anchor="t"/>
          <a:lstStyle/>
          <a:p>
            <a:pPr indent="0" marL="0">
              <a:buNone/>
            </a:pPr>
            <a:r>
              <a:rPr lang="en-US" sz="1200" i="1" dirty="0">
                <a:solidFill>
                  <a:schemeClr val="accent5"/>
                </a:solidFill>
              </a:rPr>
              <a:t>Outside this task order</a:t>
            </a:r>
            <a:endParaRPr lang="en-US" sz="1200" dirty="0"/>
          </a:p>
        </p:txBody>
      </p:sp>
      <p:sp>
        <p:nvSpPr>
          <p:cNvPr id="18" name="Text 16"/>
          <p:cNvSpPr txBox="1"/>
          <p:nvPr/>
        </p:nvSpPr>
        <p:spPr>
          <a:xfrm>
            <a:off x="548640" y="1371600"/>
            <a:ext cx="7040880" cy="12801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Implication: Phase 1 judging should reward evidence that a team can work with an industry partner, not only algorithmic novelty.</a:t>
            </a:r>
            <a:endParaRPr lang="en-US" sz="1500" dirty="0"/>
          </a:p>
        </p:txBody>
      </p:sp>
      <p:sp>
        <p:nvSpPr>
          <p:cNvPr id="19" name="Text 17"/>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Outcome labels follow Deloitte's prize-outcome typology (2014). Phase details: RFTP NOIS3-085 §1.3. Phase 2 purse, payer and number of prizes not yet determined (RFTP).</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Timeline: launch in early December, winners by May 20, 2027, task order complete by October 1, 2029</a:t>
            </a:r>
            <a:endParaRPr lang="en-US" sz="2800" dirty="0"/>
          </a:p>
        </p:txBody>
      </p:sp>
      <p:sp>
        <p:nvSpPr>
          <p:cNvPr id="3" name="Shape 1"/>
          <p:cNvSpPr/>
          <p:nvPr/>
        </p:nvSpPr>
        <p:spPr>
          <a:xfrm>
            <a:off x="3017520" y="1783080"/>
            <a:ext cx="0" cy="3749040"/>
          </a:xfrm>
          <a:prstGeom prst="line">
            <a:avLst/>
          </a:prstGeom>
          <a:noFill/>
          <a:ln w="9525">
            <a:solidFill>
              <a:srgbClr val="BFE0D8"/>
            </a:solidFill>
            <a:prstDash val="dash"/>
          </a:ln>
        </p:spPr>
      </p:sp>
      <p:sp>
        <p:nvSpPr>
          <p:cNvPr id="4" name="Text 2"/>
          <p:cNvSpPr txBox="1"/>
          <p:nvPr/>
        </p:nvSpPr>
        <p:spPr>
          <a:xfrm>
            <a:off x="2514600" y="146304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Sep 2026</a:t>
            </a:r>
            <a:endParaRPr lang="en-US" sz="1100" dirty="0"/>
          </a:p>
        </p:txBody>
      </p:sp>
      <p:sp>
        <p:nvSpPr>
          <p:cNvPr id="5" name="Shape 3"/>
          <p:cNvSpPr/>
          <p:nvPr/>
        </p:nvSpPr>
        <p:spPr>
          <a:xfrm>
            <a:off x="3936863" y="1783080"/>
            <a:ext cx="0" cy="3749040"/>
          </a:xfrm>
          <a:prstGeom prst="line">
            <a:avLst/>
          </a:prstGeom>
          <a:noFill/>
          <a:ln w="9525">
            <a:solidFill>
              <a:srgbClr val="BFE0D8"/>
            </a:solidFill>
            <a:prstDash val="dash"/>
          </a:ln>
        </p:spPr>
      </p:sp>
      <p:sp>
        <p:nvSpPr>
          <p:cNvPr id="6" name="Text 4"/>
          <p:cNvSpPr txBox="1"/>
          <p:nvPr/>
        </p:nvSpPr>
        <p:spPr>
          <a:xfrm>
            <a:off x="3433943" y="146304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Jan 2027</a:t>
            </a:r>
            <a:endParaRPr lang="en-US" sz="1100" dirty="0"/>
          </a:p>
        </p:txBody>
      </p:sp>
      <p:sp>
        <p:nvSpPr>
          <p:cNvPr id="7" name="Shape 5"/>
          <p:cNvSpPr/>
          <p:nvPr/>
        </p:nvSpPr>
        <p:spPr>
          <a:xfrm>
            <a:off x="6694891" y="1783080"/>
            <a:ext cx="0" cy="3749040"/>
          </a:xfrm>
          <a:prstGeom prst="line">
            <a:avLst/>
          </a:prstGeom>
          <a:noFill/>
          <a:ln w="9525">
            <a:solidFill>
              <a:srgbClr val="BFE0D8"/>
            </a:solidFill>
            <a:prstDash val="dash"/>
          </a:ln>
        </p:spPr>
      </p:sp>
      <p:sp>
        <p:nvSpPr>
          <p:cNvPr id="8" name="Text 6"/>
          <p:cNvSpPr txBox="1"/>
          <p:nvPr/>
        </p:nvSpPr>
        <p:spPr>
          <a:xfrm>
            <a:off x="6191971" y="146304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Jan 2028</a:t>
            </a:r>
            <a:endParaRPr lang="en-US" sz="1100" dirty="0"/>
          </a:p>
        </p:txBody>
      </p:sp>
      <p:sp>
        <p:nvSpPr>
          <p:cNvPr id="9" name="Shape 7"/>
          <p:cNvSpPr/>
          <p:nvPr/>
        </p:nvSpPr>
        <p:spPr>
          <a:xfrm>
            <a:off x="9452919" y="1783080"/>
            <a:ext cx="0" cy="3749040"/>
          </a:xfrm>
          <a:prstGeom prst="line">
            <a:avLst/>
          </a:prstGeom>
          <a:noFill/>
          <a:ln w="9525">
            <a:solidFill>
              <a:srgbClr val="BFE0D8"/>
            </a:solidFill>
            <a:prstDash val="dash"/>
          </a:ln>
        </p:spPr>
      </p:sp>
      <p:sp>
        <p:nvSpPr>
          <p:cNvPr id="10" name="Text 8"/>
          <p:cNvSpPr txBox="1"/>
          <p:nvPr/>
        </p:nvSpPr>
        <p:spPr>
          <a:xfrm>
            <a:off x="8949999" y="146304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Jan 2029</a:t>
            </a:r>
            <a:endParaRPr lang="en-US" sz="1100" dirty="0"/>
          </a:p>
        </p:txBody>
      </p:sp>
      <p:sp>
        <p:nvSpPr>
          <p:cNvPr id="11" name="Shape 9"/>
          <p:cNvSpPr/>
          <p:nvPr/>
        </p:nvSpPr>
        <p:spPr>
          <a:xfrm>
            <a:off x="11521440" y="1783080"/>
            <a:ext cx="0" cy="3749040"/>
          </a:xfrm>
          <a:prstGeom prst="line">
            <a:avLst/>
          </a:prstGeom>
          <a:noFill/>
          <a:ln w="9525">
            <a:solidFill>
              <a:srgbClr val="BFE0D8"/>
            </a:solidFill>
            <a:prstDash val="dash"/>
          </a:ln>
        </p:spPr>
      </p:sp>
      <p:sp>
        <p:nvSpPr>
          <p:cNvPr id="12" name="Text 10"/>
          <p:cNvSpPr txBox="1"/>
          <p:nvPr/>
        </p:nvSpPr>
        <p:spPr>
          <a:xfrm>
            <a:off x="11018520" y="146304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Oct 2029</a:t>
            </a:r>
            <a:endParaRPr lang="en-US" sz="1100" dirty="0"/>
          </a:p>
        </p:txBody>
      </p:sp>
      <p:sp>
        <p:nvSpPr>
          <p:cNvPr id="13" name="Text 11"/>
          <p:cNvSpPr txBox="1"/>
          <p:nvPr/>
        </p:nvSpPr>
        <p:spPr>
          <a:xfrm>
            <a:off x="548640" y="1920240"/>
            <a:ext cx="2377440" cy="411480"/>
          </a:xfrm>
          <a:prstGeom prst="rect">
            <a:avLst/>
          </a:prstGeom>
          <a:noFill/>
          <a:ln/>
        </p:spPr>
        <p:txBody>
          <a:bodyPr wrap="square" lIns="0" tIns="0" rIns="0" bIns="0" rtlCol="0" anchor="ctr"/>
          <a:lstStyle/>
          <a:p>
            <a:pPr indent="0" marL="0">
              <a:buNone/>
            </a:pPr>
            <a:r>
              <a:rPr lang="en-US" sz="1250" b="1" dirty="0">
                <a:solidFill>
                  <a:schemeClr val="tx2"/>
                </a:solidFill>
              </a:rPr>
              <a:t>Stand-up: rules, website, USA.gov</a:t>
            </a:r>
            <a:endParaRPr lang="en-US" sz="1250" dirty="0"/>
          </a:p>
        </p:txBody>
      </p:sp>
      <p:sp>
        <p:nvSpPr>
          <p:cNvPr id="14" name="Shape 12"/>
          <p:cNvSpPr/>
          <p:nvPr/>
        </p:nvSpPr>
        <p:spPr>
          <a:xfrm>
            <a:off x="3132438" y="1975104"/>
            <a:ext cx="574589" cy="310896"/>
          </a:xfrm>
          <a:prstGeom prst="roundRect">
            <a:avLst>
              <a:gd name="adj" fmla="val 23529"/>
            </a:avLst>
          </a:prstGeom>
          <a:solidFill>
            <a:schemeClr val="tx2"/>
          </a:solidFill>
          <a:ln w="12700">
            <a:solidFill>
              <a:schemeClr val="tx2"/>
            </a:solidFill>
            <a:prstDash val="solid"/>
          </a:ln>
        </p:spPr>
      </p:sp>
      <p:sp>
        <p:nvSpPr>
          <p:cNvPr id="15" name="Text 13"/>
          <p:cNvSpPr txBox="1"/>
          <p:nvPr/>
        </p:nvSpPr>
        <p:spPr>
          <a:xfrm>
            <a:off x="3798467" y="1920240"/>
            <a:ext cx="2011680" cy="411480"/>
          </a:xfrm>
          <a:prstGeom prst="rect">
            <a:avLst/>
          </a:prstGeom>
          <a:noFill/>
          <a:ln/>
        </p:spPr>
        <p:txBody>
          <a:bodyPr wrap="square" lIns="0" tIns="0" rIns="0" bIns="0" rtlCol="0" anchor="ctr"/>
          <a:lstStyle/>
          <a:p>
            <a:pPr indent="0" marL="0">
              <a:buNone/>
            </a:pPr>
            <a:r>
              <a:rPr lang="en-US" sz="1100" i="1" dirty="0">
                <a:solidFill>
                  <a:schemeClr val="accent5"/>
                </a:solidFill>
              </a:rPr>
              <a:t>Sep–Nov 2026</a:t>
            </a:r>
            <a:endParaRPr lang="en-US" sz="1100" dirty="0"/>
          </a:p>
        </p:txBody>
      </p:sp>
      <p:sp>
        <p:nvSpPr>
          <p:cNvPr id="16" name="Text 14"/>
          <p:cNvSpPr txBox="1"/>
          <p:nvPr/>
        </p:nvSpPr>
        <p:spPr>
          <a:xfrm>
            <a:off x="548640" y="2487168"/>
            <a:ext cx="2377440" cy="411480"/>
          </a:xfrm>
          <a:prstGeom prst="rect">
            <a:avLst/>
          </a:prstGeom>
          <a:noFill/>
          <a:ln/>
        </p:spPr>
        <p:txBody>
          <a:bodyPr wrap="square" lIns="0" tIns="0" rIns="0" bIns="0" rtlCol="0" anchor="ctr"/>
          <a:lstStyle/>
          <a:p>
            <a:pPr indent="0" marL="0">
              <a:buNone/>
            </a:pPr>
            <a:r>
              <a:rPr lang="en-US" sz="1250" b="1" dirty="0">
                <a:solidFill>
                  <a:schemeClr val="tx2"/>
                </a:solidFill>
              </a:rPr>
              <a:t>Phase 1 submission window</a:t>
            </a:r>
            <a:endParaRPr lang="en-US" sz="1250" dirty="0"/>
          </a:p>
        </p:txBody>
      </p:sp>
      <p:sp>
        <p:nvSpPr>
          <p:cNvPr id="17" name="Shape 15"/>
          <p:cNvSpPr/>
          <p:nvPr/>
        </p:nvSpPr>
        <p:spPr>
          <a:xfrm>
            <a:off x="3707027" y="2542032"/>
            <a:ext cx="919343" cy="310896"/>
          </a:xfrm>
          <a:prstGeom prst="roundRect">
            <a:avLst>
              <a:gd name="adj" fmla="val 23529"/>
            </a:avLst>
          </a:prstGeom>
          <a:solidFill>
            <a:schemeClr val="accent2"/>
          </a:solidFill>
          <a:ln w="12700">
            <a:solidFill>
              <a:schemeClr val="accent2"/>
            </a:solidFill>
            <a:prstDash val="solid"/>
          </a:ln>
        </p:spPr>
      </p:sp>
      <p:sp>
        <p:nvSpPr>
          <p:cNvPr id="18" name="Text 16"/>
          <p:cNvSpPr txBox="1"/>
          <p:nvPr/>
        </p:nvSpPr>
        <p:spPr>
          <a:xfrm>
            <a:off x="4717810" y="2487168"/>
            <a:ext cx="2011680" cy="411480"/>
          </a:xfrm>
          <a:prstGeom prst="rect">
            <a:avLst/>
          </a:prstGeom>
          <a:noFill/>
          <a:ln/>
        </p:spPr>
        <p:txBody>
          <a:bodyPr wrap="square" lIns="0" tIns="0" rIns="0" bIns="0" rtlCol="0" anchor="ctr"/>
          <a:lstStyle/>
          <a:p>
            <a:pPr indent="0" marL="0">
              <a:buNone/>
            </a:pPr>
            <a:r>
              <a:rPr lang="en-US" sz="1100" i="1" dirty="0">
                <a:solidFill>
                  <a:schemeClr val="accent5"/>
                </a:solidFill>
              </a:rPr>
              <a:t>Dec 2026–Mar 2027</a:t>
            </a:r>
            <a:endParaRPr lang="en-US" sz="1100" dirty="0"/>
          </a:p>
        </p:txBody>
      </p:sp>
      <p:sp>
        <p:nvSpPr>
          <p:cNvPr id="19" name="Text 17"/>
          <p:cNvSpPr txBox="1"/>
          <p:nvPr/>
        </p:nvSpPr>
        <p:spPr>
          <a:xfrm>
            <a:off x="548640" y="3054096"/>
            <a:ext cx="2377440" cy="411480"/>
          </a:xfrm>
          <a:prstGeom prst="rect">
            <a:avLst/>
          </a:prstGeom>
          <a:noFill/>
          <a:ln/>
        </p:spPr>
        <p:txBody>
          <a:bodyPr wrap="square" lIns="0" tIns="0" rIns="0" bIns="0" rtlCol="0" anchor="ctr"/>
          <a:lstStyle/>
          <a:p>
            <a:pPr indent="0" marL="0">
              <a:buNone/>
            </a:pPr>
            <a:r>
              <a:rPr lang="en-US" sz="1250" b="1" dirty="0">
                <a:solidFill>
                  <a:schemeClr val="tx2"/>
                </a:solidFill>
              </a:rPr>
              <a:t>Judging, verification, awards</a:t>
            </a:r>
            <a:endParaRPr lang="en-US" sz="1250" dirty="0"/>
          </a:p>
        </p:txBody>
      </p:sp>
      <p:sp>
        <p:nvSpPr>
          <p:cNvPr id="20" name="Shape 18"/>
          <p:cNvSpPr/>
          <p:nvPr/>
        </p:nvSpPr>
        <p:spPr>
          <a:xfrm>
            <a:off x="4626370" y="3108960"/>
            <a:ext cx="379229" cy="310896"/>
          </a:xfrm>
          <a:prstGeom prst="roundRect">
            <a:avLst>
              <a:gd name="adj" fmla="val 23529"/>
            </a:avLst>
          </a:prstGeom>
          <a:solidFill>
            <a:schemeClr val="accent2"/>
          </a:solidFill>
          <a:ln w="12700">
            <a:solidFill>
              <a:schemeClr val="accent2"/>
            </a:solidFill>
            <a:prstDash val="solid"/>
          </a:ln>
        </p:spPr>
      </p:sp>
      <p:sp>
        <p:nvSpPr>
          <p:cNvPr id="21" name="Text 19"/>
          <p:cNvSpPr txBox="1"/>
          <p:nvPr/>
        </p:nvSpPr>
        <p:spPr>
          <a:xfrm>
            <a:off x="5097039" y="3054096"/>
            <a:ext cx="2011680" cy="411480"/>
          </a:xfrm>
          <a:prstGeom prst="rect">
            <a:avLst/>
          </a:prstGeom>
          <a:noFill/>
          <a:ln/>
        </p:spPr>
        <p:txBody>
          <a:bodyPr wrap="square" lIns="0" tIns="0" rIns="0" bIns="0" rtlCol="0" anchor="ctr"/>
          <a:lstStyle/>
          <a:p>
            <a:pPr indent="0" marL="0">
              <a:buNone/>
            </a:pPr>
            <a:r>
              <a:rPr lang="en-US" sz="1100" i="1" dirty="0">
                <a:solidFill>
                  <a:schemeClr val="accent5"/>
                </a:solidFill>
              </a:rPr>
              <a:t>by May 20, 2027</a:t>
            </a:r>
            <a:endParaRPr lang="en-US" sz="1100" dirty="0"/>
          </a:p>
        </p:txBody>
      </p:sp>
      <p:sp>
        <p:nvSpPr>
          <p:cNvPr id="22" name="Text 20"/>
          <p:cNvSpPr txBox="1"/>
          <p:nvPr/>
        </p:nvSpPr>
        <p:spPr>
          <a:xfrm>
            <a:off x="548640" y="3621024"/>
            <a:ext cx="2377440" cy="411480"/>
          </a:xfrm>
          <a:prstGeom prst="rect">
            <a:avLst/>
          </a:prstGeom>
          <a:noFill/>
          <a:ln/>
        </p:spPr>
        <p:txBody>
          <a:bodyPr wrap="square" lIns="0" tIns="0" rIns="0" bIns="0" rtlCol="0" anchor="ctr"/>
          <a:lstStyle/>
          <a:p>
            <a:pPr indent="0" marL="0">
              <a:buNone/>
            </a:pPr>
            <a:r>
              <a:rPr lang="en-US" sz="1250" b="1" dirty="0">
                <a:solidFill>
                  <a:schemeClr val="tx2"/>
                </a:solidFill>
              </a:rPr>
              <a:t>Phase 2 pairing event (third-party)</a:t>
            </a:r>
            <a:endParaRPr lang="en-US" sz="1250" dirty="0"/>
          </a:p>
        </p:txBody>
      </p:sp>
      <p:sp>
        <p:nvSpPr>
          <p:cNvPr id="23" name="Shape 21"/>
          <p:cNvSpPr/>
          <p:nvPr/>
        </p:nvSpPr>
        <p:spPr>
          <a:xfrm>
            <a:off x="5086041" y="3675888"/>
            <a:ext cx="459671" cy="310896"/>
          </a:xfrm>
          <a:prstGeom prst="roundRect">
            <a:avLst>
              <a:gd name="adj" fmla="val 23529"/>
            </a:avLst>
          </a:prstGeom>
          <a:solidFill>
            <a:schemeClr val="accent3"/>
          </a:solidFill>
          <a:ln w="12700">
            <a:solidFill>
              <a:schemeClr val="accent3"/>
            </a:solidFill>
            <a:prstDash val="solid"/>
          </a:ln>
        </p:spPr>
      </p:sp>
      <p:sp>
        <p:nvSpPr>
          <p:cNvPr id="24" name="Text 22"/>
          <p:cNvSpPr txBox="1"/>
          <p:nvPr/>
        </p:nvSpPr>
        <p:spPr>
          <a:xfrm>
            <a:off x="5637152" y="3621024"/>
            <a:ext cx="2011680" cy="411480"/>
          </a:xfrm>
          <a:prstGeom prst="rect">
            <a:avLst/>
          </a:prstGeom>
          <a:noFill/>
          <a:ln/>
        </p:spPr>
        <p:txBody>
          <a:bodyPr wrap="square" lIns="0" tIns="0" rIns="0" bIns="0" rtlCol="0" anchor="ctr"/>
          <a:lstStyle/>
          <a:p>
            <a:pPr indent="0" marL="0">
              <a:buNone/>
            </a:pPr>
            <a:r>
              <a:rPr lang="en-US" sz="1100" i="1" dirty="0">
                <a:solidFill>
                  <a:schemeClr val="accent5"/>
                </a:solidFill>
              </a:rPr>
              <a:t>1–2 months after winners</a:t>
            </a:r>
            <a:endParaRPr lang="en-US" sz="1100" dirty="0"/>
          </a:p>
        </p:txBody>
      </p:sp>
      <p:sp>
        <p:nvSpPr>
          <p:cNvPr id="25" name="Text 23"/>
          <p:cNvSpPr txBox="1"/>
          <p:nvPr/>
        </p:nvSpPr>
        <p:spPr>
          <a:xfrm>
            <a:off x="548640" y="4187952"/>
            <a:ext cx="2377440" cy="411480"/>
          </a:xfrm>
          <a:prstGeom prst="rect">
            <a:avLst/>
          </a:prstGeom>
          <a:noFill/>
          <a:ln/>
        </p:spPr>
        <p:txBody>
          <a:bodyPr wrap="square" lIns="0" tIns="0" rIns="0" bIns="0" rtlCol="0" anchor="ctr"/>
          <a:lstStyle/>
          <a:p>
            <a:pPr indent="0" marL="0">
              <a:buNone/>
            </a:pPr>
            <a:r>
              <a:rPr lang="en-US" sz="1250" b="1" dirty="0">
                <a:solidFill>
                  <a:schemeClr val="tx2"/>
                </a:solidFill>
              </a:rPr>
              <a:t>Phase 2 design, pilot, monitoring</a:t>
            </a:r>
            <a:endParaRPr lang="en-US" sz="1250" dirty="0"/>
          </a:p>
        </p:txBody>
      </p:sp>
      <p:sp>
        <p:nvSpPr>
          <p:cNvPr id="26" name="Shape 24"/>
          <p:cNvSpPr/>
          <p:nvPr/>
        </p:nvSpPr>
        <p:spPr>
          <a:xfrm>
            <a:off x="5545712" y="4242816"/>
            <a:ext cx="4137042" cy="310896"/>
          </a:xfrm>
          <a:prstGeom prst="roundRect">
            <a:avLst>
              <a:gd name="adj" fmla="val 23529"/>
            </a:avLst>
          </a:prstGeom>
          <a:solidFill>
            <a:schemeClr val="accent3"/>
          </a:solidFill>
          <a:ln w="12700">
            <a:solidFill>
              <a:schemeClr val="accent3"/>
            </a:solidFill>
            <a:prstDash val="solid"/>
          </a:ln>
        </p:spPr>
      </p:sp>
      <p:sp>
        <p:nvSpPr>
          <p:cNvPr id="27" name="Text 25"/>
          <p:cNvSpPr txBox="1"/>
          <p:nvPr/>
        </p:nvSpPr>
        <p:spPr>
          <a:xfrm>
            <a:off x="5655440" y="4187952"/>
            <a:ext cx="2011680" cy="411480"/>
          </a:xfrm>
          <a:prstGeom prst="rect">
            <a:avLst/>
          </a:prstGeom>
          <a:noFill/>
          <a:ln/>
        </p:spPr>
        <p:txBody>
          <a:bodyPr wrap="square" lIns="0" tIns="0" rIns="0" bIns="0" rtlCol="0" anchor="ctr"/>
          <a:lstStyle/>
          <a:p>
            <a:pPr indent="0" marL="0">
              <a:buNone/>
            </a:pPr>
            <a:r>
              <a:rPr lang="en-US" sz="1100" i="1" dirty="0">
                <a:solidFill>
                  <a:schemeClr val="bg1"/>
                </a:solidFill>
              </a:rPr>
              <a:t>~6-mo pilot + ~9-mo monitoring</a:t>
            </a:r>
            <a:endParaRPr lang="en-US" sz="1100" dirty="0"/>
          </a:p>
        </p:txBody>
      </p:sp>
      <p:sp>
        <p:nvSpPr>
          <p:cNvPr id="28" name="Text 26"/>
          <p:cNvSpPr txBox="1"/>
          <p:nvPr/>
        </p:nvSpPr>
        <p:spPr>
          <a:xfrm>
            <a:off x="548640" y="4754880"/>
            <a:ext cx="2377440" cy="411480"/>
          </a:xfrm>
          <a:prstGeom prst="rect">
            <a:avLst/>
          </a:prstGeom>
          <a:noFill/>
          <a:ln/>
        </p:spPr>
        <p:txBody>
          <a:bodyPr wrap="square" lIns="0" tIns="0" rIns="0" bIns="0" rtlCol="0" anchor="ctr"/>
          <a:lstStyle/>
          <a:p>
            <a:pPr indent="0" marL="0">
              <a:buNone/>
            </a:pPr>
            <a:r>
              <a:rPr lang="en-US" sz="1250" b="1" dirty="0">
                <a:solidFill>
                  <a:schemeClr val="tx2"/>
                </a:solidFill>
              </a:rPr>
              <a:t>Phase 3 (outside this task order)</a:t>
            </a:r>
            <a:endParaRPr lang="en-US" sz="1250" dirty="0"/>
          </a:p>
        </p:txBody>
      </p:sp>
      <p:sp>
        <p:nvSpPr>
          <p:cNvPr id="29" name="Shape 27"/>
          <p:cNvSpPr/>
          <p:nvPr/>
        </p:nvSpPr>
        <p:spPr>
          <a:xfrm>
            <a:off x="9682755" y="4809744"/>
            <a:ext cx="1838685" cy="310896"/>
          </a:xfrm>
          <a:prstGeom prst="roundRect">
            <a:avLst>
              <a:gd name="adj" fmla="val 23529"/>
            </a:avLst>
          </a:prstGeom>
          <a:solidFill>
            <a:schemeClr val="accent6"/>
          </a:solidFill>
          <a:ln w="12700">
            <a:solidFill>
              <a:schemeClr val="accent6"/>
            </a:solidFill>
            <a:prstDash val="solid"/>
          </a:ln>
        </p:spPr>
      </p:sp>
      <p:sp>
        <p:nvSpPr>
          <p:cNvPr id="30" name="Text 28"/>
          <p:cNvSpPr txBox="1"/>
          <p:nvPr/>
        </p:nvSpPr>
        <p:spPr>
          <a:xfrm>
            <a:off x="9792483" y="4754880"/>
            <a:ext cx="2011680" cy="411480"/>
          </a:xfrm>
          <a:prstGeom prst="rect">
            <a:avLst/>
          </a:prstGeom>
          <a:noFill/>
          <a:ln/>
        </p:spPr>
        <p:txBody>
          <a:bodyPr wrap="square" lIns="0" tIns="0" rIns="0" bIns="0" rtlCol="0" anchor="ctr"/>
          <a:lstStyle/>
          <a:p>
            <a:pPr indent="0" marL="0">
              <a:buNone/>
            </a:pPr>
            <a:r>
              <a:rPr lang="en-US" sz="1100" i="1" dirty="0">
                <a:solidFill>
                  <a:schemeClr val="accent5"/>
                </a:solidFill>
              </a:rPr>
              <a:t>informational</a:t>
            </a:r>
            <a:endParaRPr lang="en-US" sz="1100" dirty="0"/>
          </a:p>
        </p:txBody>
      </p:sp>
      <p:sp>
        <p:nvSpPr>
          <p:cNvPr id="31" name="Shape 29"/>
          <p:cNvSpPr/>
          <p:nvPr/>
        </p:nvSpPr>
        <p:spPr>
          <a:xfrm>
            <a:off x="3270339" y="1783080"/>
            <a:ext cx="0" cy="3749040"/>
          </a:xfrm>
          <a:prstGeom prst="line">
            <a:avLst/>
          </a:prstGeom>
          <a:noFill/>
          <a:ln w="25400">
            <a:solidFill>
              <a:srgbClr val="E8602C"/>
            </a:solidFill>
            <a:prstDash val="solid"/>
          </a:ln>
        </p:spPr>
      </p:sp>
      <p:sp>
        <p:nvSpPr>
          <p:cNvPr id="32" name="Text 30"/>
          <p:cNvSpPr txBox="1"/>
          <p:nvPr/>
        </p:nvSpPr>
        <p:spPr>
          <a:xfrm>
            <a:off x="2904579" y="5577840"/>
            <a:ext cx="731520" cy="274320"/>
          </a:xfrm>
          <a:prstGeom prst="rect">
            <a:avLst/>
          </a:prstGeom>
          <a:noFill/>
          <a:ln/>
        </p:spPr>
        <p:txBody>
          <a:bodyPr wrap="square" lIns="0" tIns="0" rIns="0" bIns="0" rtlCol="0" anchor="t"/>
          <a:lstStyle/>
          <a:p>
            <a:pPr algn="ctr" indent="0" marL="0">
              <a:buNone/>
            </a:pPr>
            <a:r>
              <a:rPr lang="en-US" sz="1100" b="1" dirty="0">
                <a:solidFill>
                  <a:schemeClr val="accent2"/>
                </a:solidFill>
              </a:rPr>
              <a:t>Today</a:t>
            </a:r>
            <a:endParaRPr lang="en-US" sz="1100" dirty="0"/>
          </a:p>
        </p:txBody>
      </p:sp>
      <p:sp>
        <p:nvSpPr>
          <p:cNvPr id="33" name="Text 31"/>
          <p:cNvSpPr txBox="1"/>
          <p:nvPr/>
        </p:nvSpPr>
        <p:spPr>
          <a:xfrm>
            <a:off x="3017520" y="5897880"/>
            <a:ext cx="8503920" cy="274320"/>
          </a:xfrm>
          <a:prstGeom prst="rect">
            <a:avLst/>
          </a:prstGeom>
          <a:noFill/>
          <a:ln/>
        </p:spPr>
        <p:txBody>
          <a:bodyPr wrap="square" lIns="0" tIns="0" rIns="0" bIns="0" rtlCol="0" anchor="t"/>
          <a:lstStyle/>
          <a:p>
            <a:pPr indent="0" marL="0">
              <a:buNone/>
            </a:pPr>
            <a:r>
              <a:rPr lang="en-US" sz="1200" dirty="0">
                <a:solidFill>
                  <a:schemeClr val="tx1"/>
                </a:solidFill>
              </a:rPr>
              <a:t>Done: splash page and Quantum World Congress handout (Sep 23–25, 2026)</a:t>
            </a:r>
            <a:endParaRPr lang="en-US" sz="1200" dirty="0"/>
          </a:p>
        </p:txBody>
      </p:sp>
      <p:sp>
        <p:nvSpPr>
          <p:cNvPr id="34" name="Text 32"/>
          <p:cNvSpPr txBox="1"/>
          <p:nvPr/>
        </p:nvSpPr>
        <p:spPr>
          <a:xfrm>
            <a:off x="548640" y="6035040"/>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RFTP NOIS3-085 §1.3, §3.1–3.2; proposed schedule (award assumed Sep 16, 2026). Phase 2 internal timing is indicative and depends on NSF decisions.</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Frame: industry use cases turn "any quantum algorithm" into problems worth solving</a:t>
            </a:r>
            <a:endParaRPr lang="en-US" sz="2800" dirty="0"/>
          </a:p>
        </p:txBody>
      </p:sp>
      <p:sp>
        <p:nvSpPr>
          <p:cNvPr id="3"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500" b="1" dirty="0">
                <a:solidFill>
                  <a:schemeClr val="tx2"/>
                </a:solidFill>
              </a:rPr>
              <a:t>What a Phase 1 submission must show</a:t>
            </a:r>
            <a:endParaRPr lang="en-US" sz="1500" dirty="0"/>
          </a:p>
        </p:txBody>
      </p:sp>
      <p:sp>
        <p:nvSpPr>
          <p:cNvPr id="4" name="Text 2"/>
          <p:cNvSpPr txBox="1"/>
          <p:nvPr/>
        </p:nvSpPr>
        <p:spPr>
          <a:xfrm>
            <a:off x="548640" y="1783080"/>
            <a:ext cx="5394960" cy="2468880"/>
          </a:xfrm>
          <a:prstGeom prst="rect">
            <a:avLst/>
          </a:prstGeom>
          <a:noFill/>
          <a:ln/>
        </p:spPr>
        <p:txBody>
          <a:bodyPr wrap="square" lIns="0" tIns="0" rIns="0" bIns="0" rtlCol="0" anchor="t"/>
          <a:lstStyle/>
          <a:p>
            <a:pPr marL="177800" indent="-177800">
              <a:spcAft>
                <a:spcPts val="900"/>
              </a:spcAft>
              <a:buSzPct val="100000"/>
              <a:buChar char="•"/>
            </a:pPr>
            <a:r>
              <a:rPr lang="en-US" sz="1350" b="1" dirty="0">
                <a:solidFill>
                  <a:schemeClr val="tx1"/>
                </a:solidFill>
              </a:rPr>
              <a:t>The algorithm: </a:t>
            </a:r>
            <a:pPr indent="0" marL="0">
              <a:buNone/>
            </a:pPr>
            <a:r>
              <a:rPr lang="en-US" sz="1350" dirty="0">
                <a:solidFill>
                  <a:schemeClr val="tx1"/>
                </a:solidFill>
              </a:rPr>
              <a:t>novel, or a creative extension of an existing one.</a:t>
            </a:r>
            <a:endParaRPr lang="en-US" sz="1400" dirty="0"/>
          </a:p>
          <a:p>
            <a:pPr marL="177800" indent="-177800">
              <a:spcAft>
                <a:spcPts val="900"/>
              </a:spcAft>
              <a:buSzPct val="100000"/>
              <a:buChar char="•"/>
            </a:pPr>
            <a:r>
              <a:rPr lang="en-US" sz="1350" b="1" dirty="0">
                <a:solidFill>
                  <a:schemeClr val="tx1"/>
                </a:solidFill>
              </a:rPr>
              <a:t>The real-world use case </a:t>
            </a:r>
            <a:pPr indent="0" marL="0">
              <a:buNone/>
            </a:pPr>
            <a:r>
              <a:rPr lang="en-US" sz="1350" dirty="0">
                <a:solidFill>
                  <a:schemeClr val="tx1"/>
                </a:solidFill>
              </a:rPr>
              <a:t>and the impact it could have.</a:t>
            </a:r>
            <a:endParaRPr lang="en-US" sz="1400" dirty="0"/>
          </a:p>
          <a:p>
            <a:pPr marL="177800" indent="-177800">
              <a:spcAft>
                <a:spcPts val="900"/>
              </a:spcAft>
              <a:buSzPct val="100000"/>
              <a:buChar char="•"/>
            </a:pPr>
            <a:r>
              <a:rPr lang="en-US" sz="1350" b="1" dirty="0">
                <a:solidFill>
                  <a:schemeClr val="tx1"/>
                </a:solidFill>
              </a:rPr>
              <a:t>Benchmarks </a:t>
            </a:r>
            <a:pPr indent="0" marL="0">
              <a:buNone/>
            </a:pPr>
            <a:r>
              <a:rPr lang="en-US" sz="1350" dirty="0">
                <a:solidFill>
                  <a:schemeClr val="tx1"/>
                </a:solidFill>
              </a:rPr>
              <a:t>developed for it, with preliminary analyses and results showing efficacy.</a:t>
            </a:r>
            <a:endParaRPr lang="en-US" sz="1400" dirty="0"/>
          </a:p>
          <a:p>
            <a:pPr marL="177800" indent="-177800">
              <a:spcAft>
                <a:spcPts val="900"/>
              </a:spcAft>
              <a:buSzPct val="100000"/>
              <a:buChar char="•"/>
            </a:pPr>
            <a:r>
              <a:rPr lang="en-US" sz="1350" b="1" dirty="0">
                <a:solidFill>
                  <a:schemeClr val="tx1"/>
                </a:solidFill>
              </a:rPr>
              <a:t>The hardware and other resources </a:t>
            </a:r>
            <a:pPr indent="0" marL="0">
              <a:buNone/>
            </a:pPr>
            <a:r>
              <a:rPr lang="en-US" sz="1350" dirty="0">
                <a:solidFill>
                  <a:schemeClr val="tx1"/>
                </a:solidFill>
              </a:rPr>
              <a:t>needed to implement it.</a:t>
            </a:r>
            <a:endParaRPr lang="en-US" sz="1400" dirty="0"/>
          </a:p>
        </p:txBody>
      </p:sp>
      <p:sp>
        <p:nvSpPr>
          <p:cNvPr id="5" name="framing-choice"/>
          <p:cNvSpPr/>
          <p:nvPr/>
        </p:nvSpPr>
        <p:spPr>
          <a:xfrm>
            <a:off x="548640" y="4343400"/>
            <a:ext cx="5394960" cy="1508760"/>
          </a:xfrm>
          <a:prstGeom prst="roundRect">
            <a:avLst>
              <a:gd name="adj" fmla="val 4848"/>
            </a:avLst>
          </a:prstGeom>
          <a:solidFill>
            <a:schemeClr val="bg2"/>
          </a:solidFill>
          <a:ln w="9525">
            <a:solidFill>
              <a:schemeClr val="bg2"/>
            </a:solidFill>
            <a:prstDash val="solid"/>
          </a:ln>
        </p:spPr>
      </p:sp>
      <p:sp>
        <p:nvSpPr>
          <p:cNvPr id="6" name="Text 4"/>
          <p:cNvSpPr txBox="1"/>
          <p:nvPr/>
        </p:nvSpPr>
        <p:spPr>
          <a:xfrm>
            <a:off x="777240" y="4462272"/>
            <a:ext cx="4937760" cy="320040"/>
          </a:xfrm>
          <a:prstGeom prst="rect">
            <a:avLst/>
          </a:prstGeom>
          <a:noFill/>
          <a:ln/>
        </p:spPr>
        <p:txBody>
          <a:bodyPr wrap="square" lIns="0" tIns="0" rIns="0" bIns="0" rtlCol="0" anchor="t"/>
          <a:lstStyle/>
          <a:p>
            <a:pPr indent="0" marL="0">
              <a:buNone/>
            </a:pPr>
            <a:r>
              <a:rPr lang="en-US" sz="1400" b="1" dirty="0">
                <a:solidFill>
                  <a:schemeClr val="accent2"/>
                </a:solidFill>
              </a:rPr>
              <a:t>The framing choice for NSF</a:t>
            </a:r>
            <a:endParaRPr lang="en-US" sz="1400" dirty="0"/>
          </a:p>
        </p:txBody>
      </p:sp>
      <p:sp>
        <p:nvSpPr>
          <p:cNvPr id="7" name="Text 5"/>
          <p:cNvSpPr txBox="1"/>
          <p:nvPr/>
        </p:nvSpPr>
        <p:spPr>
          <a:xfrm>
            <a:off x="777240" y="4800600"/>
            <a:ext cx="4937760" cy="1005840"/>
          </a:xfrm>
          <a:prstGeom prst="rect">
            <a:avLst/>
          </a:prstGeom>
          <a:noFill/>
          <a:ln/>
        </p:spPr>
        <p:txBody>
          <a:bodyPr wrap="square" lIns="0" tIns="0" rIns="0" bIns="0" rtlCol="0" anchor="t"/>
          <a:lstStyle/>
          <a:p>
            <a:pPr indent="0" marL="0">
              <a:buNone/>
            </a:pPr>
            <a:r>
              <a:rPr lang="en-US" sz="1250" dirty="0">
                <a:solidFill>
                  <a:schemeClr val="tx1"/>
                </a:solidFill>
              </a:rPr>
              <a:t>Open sectors (energy, finance, biotechnology, pharmaceuticals and others), or anchored to problem areas the collaborators publish? Anchoring improves Phase 2 fit; staying open widens the solver pool.</a:t>
            </a:r>
            <a:endParaRPr lang="en-US" sz="1250" dirty="0"/>
          </a:p>
        </p:txBody>
      </p:sp>
      <p:sp>
        <p:nvSpPr>
          <p:cNvPr id="8" name="use-case-brief"/>
          <p:cNvSpPr/>
          <p:nvPr/>
        </p:nvSpPr>
        <p:spPr>
          <a:xfrm>
            <a:off x="6263640" y="1371600"/>
            <a:ext cx="5349240" cy="4480560"/>
          </a:xfrm>
          <a:prstGeom prst="roundRect">
            <a:avLst>
              <a:gd name="adj" fmla="val 1633"/>
            </a:avLst>
          </a:prstGeom>
          <a:solidFill>
            <a:schemeClr val="tx2"/>
          </a:solidFill>
          <a:ln w="9525">
            <a:solidFill>
              <a:schemeClr val="tx2"/>
            </a:solidFill>
            <a:prstDash val="solid"/>
          </a:ln>
        </p:spPr>
      </p:sp>
      <p:sp>
        <p:nvSpPr>
          <p:cNvPr id="9" name="Text 7"/>
          <p:cNvSpPr txBox="1"/>
          <p:nvPr/>
        </p:nvSpPr>
        <p:spPr>
          <a:xfrm>
            <a:off x="6492240" y="1508760"/>
            <a:ext cx="4937760" cy="365760"/>
          </a:xfrm>
          <a:prstGeom prst="rect">
            <a:avLst/>
          </a:prstGeom>
          <a:noFill/>
          <a:ln/>
        </p:spPr>
        <p:txBody>
          <a:bodyPr wrap="square" lIns="0" tIns="0" rIns="0" bIns="0" rtlCol="0" anchor="t"/>
          <a:lstStyle/>
          <a:p>
            <a:pPr indent="0" marL="0">
              <a:buNone/>
            </a:pPr>
            <a:r>
              <a:rPr lang="en-US" sz="1500" b="1" dirty="0">
                <a:solidFill>
                  <a:schemeClr val="bg1"/>
                </a:solidFill>
              </a:rPr>
              <a:t>A collaborator use-case brief (one page)</a:t>
            </a:r>
            <a:endParaRPr lang="en-US" sz="1500" dirty="0"/>
          </a:p>
        </p:txBody>
      </p:sp>
      <p:sp>
        <p:nvSpPr>
          <p:cNvPr id="10" name="Text 8"/>
          <p:cNvSpPr txBox="1"/>
          <p:nvPr/>
        </p:nvSpPr>
        <p:spPr>
          <a:xfrm>
            <a:off x="6492240" y="1965960"/>
            <a:ext cx="4937760" cy="3749040"/>
          </a:xfrm>
          <a:prstGeom prst="rect">
            <a:avLst/>
          </a:prstGeom>
          <a:noFill/>
          <a:ln/>
        </p:spPr>
        <p:txBody>
          <a:bodyPr wrap="square" lIns="0" tIns="0" rIns="0" bIns="0" rtlCol="0" anchor="t"/>
          <a:lstStyle/>
          <a:p>
            <a:pPr marL="177800" indent="-177800">
              <a:spcAft>
                <a:spcPts val="800"/>
              </a:spcAft>
              <a:buSzPct val="100000"/>
              <a:buChar char="•"/>
            </a:pPr>
            <a:r>
              <a:rPr lang="en-US" sz="1250" b="1" dirty="0">
                <a:solidFill>
                  <a:schemeClr val="bg1"/>
                </a:solidFill>
              </a:rPr>
              <a:t>Problem area: </a:t>
            </a:r>
            <a:pPr indent="0" marL="0">
              <a:buNone/>
            </a:pPr>
            <a:r>
              <a:rPr lang="en-US" sz="1250" dirty="0">
                <a:solidFill>
                  <a:schemeClr val="bg1"/>
                </a:solidFill>
              </a:rPr>
              <a:t>the business or scientific problem, in plain language.</a:t>
            </a:r>
            <a:endParaRPr lang="en-US" sz="1400" dirty="0"/>
          </a:p>
          <a:p>
            <a:pPr marL="177800" indent="-177800">
              <a:spcAft>
                <a:spcPts val="800"/>
              </a:spcAft>
              <a:buSzPct val="100000"/>
              <a:buChar char="•"/>
            </a:pPr>
            <a:r>
              <a:rPr lang="en-US" sz="1250" b="1" dirty="0">
                <a:solidFill>
                  <a:schemeClr val="bg1"/>
                </a:solidFill>
              </a:rPr>
              <a:t>Why it's hard classically: </a:t>
            </a:r>
            <a:pPr indent="0" marL="0">
              <a:buNone/>
            </a:pPr>
            <a:r>
              <a:rPr lang="en-US" sz="1250" dirty="0">
                <a:solidFill>
                  <a:schemeClr val="bg1"/>
                </a:solidFill>
              </a:rPr>
              <a:t>the limits of current methods, in scale, accuracy or cost.</a:t>
            </a:r>
            <a:endParaRPr lang="en-US" sz="1400" dirty="0"/>
          </a:p>
          <a:p>
            <a:pPr marL="177800" indent="-177800">
              <a:spcAft>
                <a:spcPts val="800"/>
              </a:spcAft>
              <a:buSzPct val="100000"/>
              <a:buChar char="•"/>
            </a:pPr>
            <a:r>
              <a:rPr lang="en-US" sz="1250" b="1" dirty="0">
                <a:solidFill>
                  <a:schemeClr val="bg1"/>
                </a:solidFill>
              </a:rPr>
              <a:t>Realistic constraints: </a:t>
            </a:r>
            <a:pPr indent="0" marL="0">
              <a:buNone/>
            </a:pPr>
            <a:r>
              <a:rPr lang="en-US" sz="1250" dirty="0">
                <a:solidFill>
                  <a:schemeClr val="bg1"/>
                </a:solidFill>
              </a:rPr>
              <a:t>data size and type, latency, accuracy thresholds.</a:t>
            </a:r>
            <a:endParaRPr lang="en-US" sz="1400" dirty="0"/>
          </a:p>
          <a:p>
            <a:pPr marL="177800" indent="-177800">
              <a:spcAft>
                <a:spcPts val="800"/>
              </a:spcAft>
              <a:buSzPct val="100000"/>
              <a:buChar char="•"/>
            </a:pPr>
            <a:r>
              <a:rPr lang="en-US" sz="1250" b="1" dirty="0">
                <a:solidFill>
                  <a:schemeClr val="bg1"/>
                </a:solidFill>
              </a:rPr>
              <a:t>What "better" looks like: </a:t>
            </a:r>
            <a:pPr indent="0" marL="0">
              <a:buNone/>
            </a:pPr>
            <a:r>
              <a:rPr lang="en-US" sz="1250" dirty="0">
                <a:solidFill>
                  <a:schemeClr val="bg1"/>
                </a:solidFill>
              </a:rPr>
              <a:t>a measurable improvement over the classical baseline.</a:t>
            </a:r>
            <a:endParaRPr lang="en-US" sz="1400" dirty="0"/>
          </a:p>
          <a:p>
            <a:pPr marL="177800" indent="-177800">
              <a:spcAft>
                <a:spcPts val="800"/>
              </a:spcAft>
              <a:buSzPct val="100000"/>
              <a:buChar char="•"/>
            </a:pPr>
            <a:r>
              <a:rPr lang="en-US" sz="1250" b="1" dirty="0">
                <a:solidFill>
                  <a:schemeClr val="bg1"/>
                </a:solidFill>
              </a:rPr>
              <a:t>What can be shared: </a:t>
            </a:r>
            <a:pPr indent="0" marL="0">
              <a:buNone/>
            </a:pPr>
            <a:r>
              <a:rPr lang="en-US" sz="1250" dirty="0">
                <a:solidFill>
                  <a:schemeClr val="bg1"/>
                </a:solidFill>
              </a:rPr>
              <a:t>public datasets or synthetic data; the brief can be anonymized.</a:t>
            </a:r>
            <a:endParaRPr lang="en-US" sz="1400" dirty="0"/>
          </a:p>
          <a:p>
            <a:pPr marL="177800" indent="-177800">
              <a:spcAft>
                <a:spcPts val="800"/>
              </a:spcAft>
              <a:buSzPct val="100000"/>
              <a:buChar char="•"/>
            </a:pPr>
            <a:r>
              <a:rPr lang="en-US" sz="1250" b="1" dirty="0">
                <a:solidFill>
                  <a:schemeClr val="bg1"/>
                </a:solidFill>
              </a:rPr>
              <a:t>Phase 2 offer: </a:t>
            </a:r>
            <a:pPr indent="0" marL="0">
              <a:buNone/>
            </a:pPr>
            <a:r>
              <a:rPr lang="en-US" sz="1250" dirty="0">
                <a:solidFill>
                  <a:schemeClr val="bg1"/>
                </a:solidFill>
              </a:rPr>
              <a:t>data, compute or hardware access, and expert time.</a:t>
            </a:r>
            <a:endParaRPr lang="en-US" sz="1400" dirty="0"/>
          </a:p>
        </p:txBody>
      </p:sp>
      <p:sp>
        <p:nvSpPr>
          <p:cNvPr id="11" name="Text 9"/>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RFTP NOIS3-085 §1.3 (Phase 1 requirements). Brief structure adapts the problem-statement canvas (Spradlin, HBR 2012) to an industry partner. Abstraction lets solvers from distant fields contribute (Jeppesen &amp; Lakhani, 2010).</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Prize structure: set the winner count by Phase 2 pairing capacity, and the award size by what a credible entry costs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2377440"/>
                <a:gridCol w="3474720"/>
                <a:gridCol w="3017520"/>
              </a:tblGrid>
              <a:tr h="0">
                <a:tc>
                  <a:txBody>
                    <a:bodyPr/>
                    <a:lstStyle/>
                    <a:p>
                      <a:pPr indent="0" marL="0">
                        <a:buNone/>
                      </a:pPr>
                      <a:r>
                        <a:rPr lang="en-US" sz="1350" b="1" dirty="0">
                          <a:solidFill>
                            <a:schemeClr val="bg1"/>
                          </a:solidFill>
                        </a:rPr>
                        <a:t>Option</a:t>
                      </a:r>
                      <a:endParaRPr lang="en-US" sz="13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Structure ($1M)</a:t>
                      </a:r>
                      <a:endParaRPr lang="en-US" sz="13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Strengths</a:t>
                      </a:r>
                      <a:endParaRPr lang="en-US" sz="13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Watch-outs</a:t>
                      </a:r>
                      <a:endParaRPr lang="en-US" sz="13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r>
              <a:tr h="0">
                <a:tc>
                  <a:txBody>
                    <a:bodyPr/>
                    <a:lstStyle/>
                    <a:p>
                      <a:pPr indent="0" marL="0">
                        <a:buNone/>
                      </a:pPr>
                      <a:r>
                        <a:rPr lang="en-US" sz="1350" b="1" dirty="0">
                          <a:solidFill>
                            <a:schemeClr val="tx1"/>
                          </a:solidFill>
                        </a:rPr>
                        <a:t>A · RFTP baseline</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40 × $25,000</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Widest funnel into Phase 2; rewards the most teams, including first-time NSF applicants</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With about 8 collaborators, roughly 5 winners per company to pair</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r>
              <a:tr h="0">
                <a:tc>
                  <a:txBody>
                    <a:bodyPr/>
                    <a:lstStyle/>
                    <a:p>
                      <a:pPr indent="0" marL="0">
                        <a:buNone/>
                      </a:pPr>
                      <a:r>
                        <a:rPr lang="en-US" sz="1350" b="1" dirty="0">
                          <a:solidFill>
                            <a:schemeClr val="tx1"/>
                          </a:solidFill>
                        </a:rPr>
                        <a:t>B · Tiered</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20 × $25,000 + 10 × $50,000</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Signals quality; the top tier could get pairing priority</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Needs judging precision at the tier line</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r>
              <a:tr h="0">
                <a:tc>
                  <a:txBody>
                    <a:bodyPr/>
                    <a:lstStyle/>
                    <a:p>
                      <a:pPr indent="0" marL="0">
                        <a:buNone/>
                      </a:pPr>
                      <a:r>
                        <a:rPr lang="en-US" sz="1350" b="1" dirty="0">
                          <a:solidFill>
                            <a:schemeClr val="tx1"/>
                          </a:solidFill>
                        </a:rPr>
                        <a:t>C · Fewer, larger</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20 × $50,000</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Matches tighter pairing capacity; a stronger incentive for benchmark-heavy work</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Narrower funnel; fewer teams reach Phase 2</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r>
              <a:tr h="0">
                <a:tc>
                  <a:txBody>
                    <a:bodyPr/>
                    <a:lstStyle/>
                    <a:p>
                      <a:pPr indent="0" marL="0">
                        <a:buNone/>
                      </a:pPr>
                      <a:r>
                        <a:rPr lang="en-US" sz="1350" b="1" dirty="0">
                          <a:solidFill>
                            <a:schemeClr val="tx1"/>
                          </a:solidFill>
                        </a:rPr>
                        <a:t>If the purse rises to $2M</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e.g., 40 × $50,000 (RFTP example)</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Larger awards at the same breadth</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Added by task order modification; decide timing relative to the rules</a:t>
                      </a:r>
                      <a:endParaRPr lang="en-US" sz="13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r>
            </a:tbl>
          </a:graphicData>
        </a:graphic>
      </p:graphicFrame>
      <p:sp>
        <p:nvSpPr>
          <p:cNvPr id="4" name="prize-question"/>
          <p:cNvSpPr/>
          <p:nvPr/>
        </p:nvSpPr>
        <p:spPr>
          <a:xfrm>
            <a:off x="548640" y="4343400"/>
            <a:ext cx="11064240" cy="1463040"/>
          </a:xfrm>
          <a:prstGeom prst="roundRect">
            <a:avLst>
              <a:gd name="adj" fmla="val 5000"/>
            </a:avLst>
          </a:prstGeom>
          <a:solidFill>
            <a:schemeClr val="bg2"/>
          </a:solidFill>
          <a:ln w="9525">
            <a:solidFill>
              <a:schemeClr val="bg2"/>
            </a:solidFill>
            <a:prstDash val="solid"/>
          </a:ln>
        </p:spPr>
      </p:sp>
      <p:sp>
        <p:nvSpPr>
          <p:cNvPr id="5" name="Text 2"/>
          <p:cNvSpPr txBox="1"/>
          <p:nvPr/>
        </p:nvSpPr>
        <p:spPr>
          <a:xfrm>
            <a:off x="777240" y="4462272"/>
            <a:ext cx="4572000" cy="320040"/>
          </a:xfrm>
          <a:prstGeom prst="rect">
            <a:avLst/>
          </a:prstGeom>
          <a:noFill/>
          <a:ln/>
        </p:spPr>
        <p:txBody>
          <a:bodyPr wrap="square" lIns="0" tIns="0" rIns="0" bIns="0" rtlCol="0" anchor="t"/>
          <a:lstStyle/>
          <a:p>
            <a:pPr indent="0" marL="0">
              <a:buNone/>
            </a:pPr>
            <a:r>
              <a:rPr lang="en-US" sz="1400" b="1" dirty="0">
                <a:solidFill>
                  <a:schemeClr val="accent2"/>
                </a:solidFill>
              </a:rPr>
              <a:t>What we need to decide</a:t>
            </a:r>
            <a:endParaRPr lang="en-US" sz="1400" dirty="0"/>
          </a:p>
        </p:txBody>
      </p:sp>
      <p:sp>
        <p:nvSpPr>
          <p:cNvPr id="6" name="Text 3"/>
          <p:cNvSpPr txBox="1"/>
          <p:nvPr/>
        </p:nvSpPr>
        <p:spPr>
          <a:xfrm>
            <a:off x="777240" y="4800600"/>
            <a:ext cx="10607040" cy="960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Collaborators: how many Phase 2 teams can each of you realistically take on?</a:t>
            </a:r>
            <a:endParaRPr lang="en-US" sz="1400" dirty="0"/>
          </a:p>
          <a:p>
            <a:pPr marL="177800" indent="-177800">
              <a:spcAft>
                <a:spcPts val="500"/>
              </a:spcAft>
              <a:buSzPct val="100000"/>
              <a:buChar char="•"/>
            </a:pPr>
            <a:r>
              <a:rPr lang="en-US" sz="1300" dirty="0">
                <a:solidFill>
                  <a:schemeClr val="tx1"/>
                </a:solidFill>
              </a:rPr>
              <a:t>NSF: which option goes into the rules, and can the rules accommodate a later purse increase? (A question for NSF counsel.)</a:t>
            </a:r>
            <a:endParaRPr lang="en-US" sz="1400" dirty="0"/>
          </a:p>
        </p:txBody>
      </p:sp>
      <p:sp>
        <p:nvSpPr>
          <p:cNvPr id="7" name="Text 4"/>
          <p:cNvSpPr txBox="1"/>
          <p:nvPr/>
        </p:nvSpPr>
        <p:spPr>
          <a:xfrm>
            <a:off x="548640" y="5989320"/>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RFTP NOIS3-085 §1.3: "open to contractors proposing a better alternative prize structure, if appropriate"; $2M possibility and task order modification. Options B and C are illustrations for discussion.</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Judging: score each dimension separately, and manage conflicts where industry judges may later partner with teams</a:t>
            </a:r>
            <a:endParaRPr lang="en-US" sz="2800" dirty="0"/>
          </a:p>
        </p:txBody>
      </p:sp>
      <p:sp>
        <p:nvSpPr>
          <p:cNvPr id="3" name="criterion-1"/>
          <p:cNvSpPr/>
          <p:nvPr/>
        </p:nvSpPr>
        <p:spPr>
          <a:xfrm>
            <a:off x="548640" y="1371600"/>
            <a:ext cx="2103120" cy="1965960"/>
          </a:xfrm>
          <a:prstGeom prst="roundRect">
            <a:avLst>
              <a:gd name="adj" fmla="val 3721"/>
            </a:avLst>
          </a:prstGeom>
          <a:solidFill>
            <a:schemeClr val="bg2"/>
          </a:solidFill>
          <a:ln w="9525">
            <a:solidFill>
              <a:schemeClr val="bg2"/>
            </a:solidFill>
            <a:prstDash val="solid"/>
          </a:ln>
        </p:spPr>
      </p:sp>
      <p:sp>
        <p:nvSpPr>
          <p:cNvPr id="4" name="Shape 2"/>
          <p:cNvSpPr/>
          <p:nvPr/>
        </p:nvSpPr>
        <p:spPr>
          <a:xfrm>
            <a:off x="713232" y="1508760"/>
            <a:ext cx="411480" cy="411480"/>
          </a:xfrm>
          <a:prstGeom prst="ellipse">
            <a:avLst/>
          </a:prstGeom>
          <a:solidFill>
            <a:schemeClr val="tx2"/>
          </a:solidFill>
          <a:ln w="12700">
            <a:solidFill>
              <a:schemeClr val="tx2"/>
            </a:solidFill>
            <a:prstDash val="solid"/>
          </a:ln>
        </p:spPr>
      </p:sp>
      <p:sp>
        <p:nvSpPr>
          <p:cNvPr id="5" name="Text 3"/>
          <p:cNvSpPr txBox="1"/>
          <p:nvPr/>
        </p:nvSpPr>
        <p:spPr>
          <a:xfrm>
            <a:off x="713232"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713232" y="1993392"/>
            <a:ext cx="1783080" cy="548640"/>
          </a:xfrm>
          <a:prstGeom prst="rect">
            <a:avLst/>
          </a:prstGeom>
          <a:noFill/>
          <a:ln/>
        </p:spPr>
        <p:txBody>
          <a:bodyPr wrap="square" lIns="0" tIns="0" rIns="0" bIns="0" rtlCol="0" anchor="t"/>
          <a:lstStyle/>
          <a:p>
            <a:pPr indent="0" marL="0">
              <a:buNone/>
            </a:pPr>
            <a:r>
              <a:rPr lang="en-US" sz="1350" b="1" dirty="0">
                <a:solidFill>
                  <a:schemeClr val="tx2"/>
                </a:solidFill>
              </a:rPr>
              <a:t>Algorithmic novelty</a:t>
            </a:r>
            <a:endParaRPr lang="en-US" sz="1350" dirty="0"/>
          </a:p>
        </p:txBody>
      </p:sp>
      <p:sp>
        <p:nvSpPr>
          <p:cNvPr id="7" name="Text 5"/>
          <p:cNvSpPr txBox="1"/>
          <p:nvPr/>
        </p:nvSpPr>
        <p:spPr>
          <a:xfrm>
            <a:off x="713232" y="2560320"/>
            <a:ext cx="1783080" cy="731520"/>
          </a:xfrm>
          <a:prstGeom prst="rect">
            <a:avLst/>
          </a:prstGeom>
          <a:noFill/>
          <a:ln/>
        </p:spPr>
        <p:txBody>
          <a:bodyPr wrap="square" lIns="0" tIns="0" rIns="0" bIns="0" rtlCol="0" anchor="t"/>
          <a:lstStyle/>
          <a:p>
            <a:pPr indent="0" marL="0">
              <a:buNone/>
            </a:pPr>
            <a:r>
              <a:rPr lang="en-US" sz="1150" dirty="0">
                <a:solidFill>
                  <a:schemeClr val="tx1"/>
                </a:solidFill>
              </a:rPr>
              <a:t>New, or a creative extension of an existing algorithm</a:t>
            </a:r>
            <a:endParaRPr lang="en-US" sz="1150" dirty="0"/>
          </a:p>
        </p:txBody>
      </p:sp>
      <p:sp>
        <p:nvSpPr>
          <p:cNvPr id="8" name="criterion-2"/>
          <p:cNvSpPr/>
          <p:nvPr/>
        </p:nvSpPr>
        <p:spPr>
          <a:xfrm>
            <a:off x="2798064" y="1371600"/>
            <a:ext cx="2103120" cy="1965960"/>
          </a:xfrm>
          <a:prstGeom prst="roundRect">
            <a:avLst>
              <a:gd name="adj" fmla="val 3721"/>
            </a:avLst>
          </a:prstGeom>
          <a:solidFill>
            <a:schemeClr val="bg2"/>
          </a:solidFill>
          <a:ln w="9525">
            <a:solidFill>
              <a:schemeClr val="bg2"/>
            </a:solidFill>
            <a:prstDash val="solid"/>
          </a:ln>
        </p:spPr>
      </p:sp>
      <p:sp>
        <p:nvSpPr>
          <p:cNvPr id="9" name="Shape 7"/>
          <p:cNvSpPr/>
          <p:nvPr/>
        </p:nvSpPr>
        <p:spPr>
          <a:xfrm>
            <a:off x="2962656" y="1508760"/>
            <a:ext cx="411480" cy="411480"/>
          </a:xfrm>
          <a:prstGeom prst="ellipse">
            <a:avLst/>
          </a:prstGeom>
          <a:solidFill>
            <a:schemeClr val="tx2"/>
          </a:solidFill>
          <a:ln w="12700">
            <a:solidFill>
              <a:schemeClr val="tx2"/>
            </a:solidFill>
            <a:prstDash val="solid"/>
          </a:ln>
        </p:spPr>
      </p:sp>
      <p:sp>
        <p:nvSpPr>
          <p:cNvPr id="10" name="Text 8"/>
          <p:cNvSpPr txBox="1"/>
          <p:nvPr/>
        </p:nvSpPr>
        <p:spPr>
          <a:xfrm>
            <a:off x="2962656"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2962656" y="1993392"/>
            <a:ext cx="1783080" cy="548640"/>
          </a:xfrm>
          <a:prstGeom prst="rect">
            <a:avLst/>
          </a:prstGeom>
          <a:noFill/>
          <a:ln/>
        </p:spPr>
        <p:txBody>
          <a:bodyPr wrap="square" lIns="0" tIns="0" rIns="0" bIns="0" rtlCol="0" anchor="t"/>
          <a:lstStyle/>
          <a:p>
            <a:pPr indent="0" marL="0">
              <a:buNone/>
            </a:pPr>
            <a:r>
              <a:rPr lang="en-US" sz="1350" b="1" dirty="0">
                <a:solidFill>
                  <a:schemeClr val="tx2"/>
                </a:solidFill>
              </a:rPr>
              <a:t>Use-case realism and impact</a:t>
            </a:r>
            <a:endParaRPr lang="en-US" sz="1350" dirty="0"/>
          </a:p>
        </p:txBody>
      </p:sp>
      <p:sp>
        <p:nvSpPr>
          <p:cNvPr id="12" name="Text 10"/>
          <p:cNvSpPr txBox="1"/>
          <p:nvPr/>
        </p:nvSpPr>
        <p:spPr>
          <a:xfrm>
            <a:off x="2962656" y="2560320"/>
            <a:ext cx="1783080" cy="731520"/>
          </a:xfrm>
          <a:prstGeom prst="rect">
            <a:avLst/>
          </a:prstGeom>
          <a:noFill/>
          <a:ln/>
        </p:spPr>
        <p:txBody>
          <a:bodyPr wrap="square" lIns="0" tIns="0" rIns="0" bIns="0" rtlCol="0" anchor="t"/>
          <a:lstStyle/>
          <a:p>
            <a:pPr indent="0" marL="0">
              <a:buNone/>
            </a:pPr>
            <a:r>
              <a:rPr lang="en-US" sz="1150" dirty="0">
                <a:solidFill>
                  <a:schemeClr val="tx1"/>
                </a:solidFill>
              </a:rPr>
              <a:t>A real problem under real constraints, with credible impact</a:t>
            </a:r>
            <a:endParaRPr lang="en-US" sz="1150" dirty="0"/>
          </a:p>
        </p:txBody>
      </p:sp>
      <p:sp>
        <p:nvSpPr>
          <p:cNvPr id="13" name="criterion-3"/>
          <p:cNvSpPr/>
          <p:nvPr/>
        </p:nvSpPr>
        <p:spPr>
          <a:xfrm>
            <a:off x="5047488" y="1371600"/>
            <a:ext cx="2103120" cy="1965960"/>
          </a:xfrm>
          <a:prstGeom prst="roundRect">
            <a:avLst>
              <a:gd name="adj" fmla="val 3721"/>
            </a:avLst>
          </a:prstGeom>
          <a:solidFill>
            <a:schemeClr val="bg2"/>
          </a:solidFill>
          <a:ln w="9525">
            <a:solidFill>
              <a:schemeClr val="bg2"/>
            </a:solidFill>
            <a:prstDash val="solid"/>
          </a:ln>
        </p:spPr>
      </p:sp>
      <p:sp>
        <p:nvSpPr>
          <p:cNvPr id="14" name="Shape 12"/>
          <p:cNvSpPr/>
          <p:nvPr/>
        </p:nvSpPr>
        <p:spPr>
          <a:xfrm>
            <a:off x="5212080" y="1508760"/>
            <a:ext cx="411480" cy="411480"/>
          </a:xfrm>
          <a:prstGeom prst="ellipse">
            <a:avLst/>
          </a:prstGeom>
          <a:solidFill>
            <a:schemeClr val="tx2"/>
          </a:solidFill>
          <a:ln w="12700">
            <a:solidFill>
              <a:schemeClr val="tx2"/>
            </a:solidFill>
            <a:prstDash val="solid"/>
          </a:ln>
        </p:spPr>
      </p:sp>
      <p:sp>
        <p:nvSpPr>
          <p:cNvPr id="15" name="Text 13"/>
          <p:cNvSpPr txBox="1"/>
          <p:nvPr/>
        </p:nvSpPr>
        <p:spPr>
          <a:xfrm>
            <a:off x="5212080"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5212080" y="1993392"/>
            <a:ext cx="1783080" cy="548640"/>
          </a:xfrm>
          <a:prstGeom prst="rect">
            <a:avLst/>
          </a:prstGeom>
          <a:noFill/>
          <a:ln/>
        </p:spPr>
        <p:txBody>
          <a:bodyPr wrap="square" lIns="0" tIns="0" rIns="0" bIns="0" rtlCol="0" anchor="t"/>
          <a:lstStyle/>
          <a:p>
            <a:pPr indent="0" marL="0">
              <a:buNone/>
            </a:pPr>
            <a:r>
              <a:rPr lang="en-US" sz="1350" b="1" dirty="0">
                <a:solidFill>
                  <a:schemeClr val="tx2"/>
                </a:solidFill>
              </a:rPr>
              <a:t>Evidence credibility</a:t>
            </a:r>
            <a:endParaRPr lang="en-US" sz="1350" dirty="0"/>
          </a:p>
        </p:txBody>
      </p:sp>
      <p:sp>
        <p:nvSpPr>
          <p:cNvPr id="17" name="Text 15"/>
          <p:cNvSpPr txBox="1"/>
          <p:nvPr/>
        </p:nvSpPr>
        <p:spPr>
          <a:xfrm>
            <a:off x="5212080" y="2560320"/>
            <a:ext cx="1783080" cy="731520"/>
          </a:xfrm>
          <a:prstGeom prst="rect">
            <a:avLst/>
          </a:prstGeom>
          <a:noFill/>
          <a:ln/>
        </p:spPr>
        <p:txBody>
          <a:bodyPr wrap="square" lIns="0" tIns="0" rIns="0" bIns="0" rtlCol="0" anchor="t"/>
          <a:lstStyle/>
          <a:p>
            <a:pPr indent="0" marL="0">
              <a:buNone/>
            </a:pPr>
            <a:r>
              <a:rPr lang="en-US" sz="1150" dirty="0">
                <a:solidFill>
                  <a:schemeClr val="tx1"/>
                </a:solidFill>
              </a:rPr>
              <a:t>Benchmarks and preliminary results compared with classical baselines</a:t>
            </a:r>
            <a:endParaRPr lang="en-US" sz="1150" dirty="0"/>
          </a:p>
        </p:txBody>
      </p:sp>
      <p:sp>
        <p:nvSpPr>
          <p:cNvPr id="18" name="criterion-4"/>
          <p:cNvSpPr/>
          <p:nvPr/>
        </p:nvSpPr>
        <p:spPr>
          <a:xfrm>
            <a:off x="7296912" y="1371600"/>
            <a:ext cx="2103120" cy="1965960"/>
          </a:xfrm>
          <a:prstGeom prst="roundRect">
            <a:avLst>
              <a:gd name="adj" fmla="val 3721"/>
            </a:avLst>
          </a:prstGeom>
          <a:solidFill>
            <a:schemeClr val="bg2"/>
          </a:solidFill>
          <a:ln w="9525">
            <a:solidFill>
              <a:schemeClr val="bg2"/>
            </a:solidFill>
            <a:prstDash val="solid"/>
          </a:ln>
        </p:spPr>
      </p:sp>
      <p:sp>
        <p:nvSpPr>
          <p:cNvPr id="19" name="Shape 17"/>
          <p:cNvSpPr/>
          <p:nvPr/>
        </p:nvSpPr>
        <p:spPr>
          <a:xfrm>
            <a:off x="7461504" y="1508760"/>
            <a:ext cx="411480" cy="411480"/>
          </a:xfrm>
          <a:prstGeom prst="ellipse">
            <a:avLst/>
          </a:prstGeom>
          <a:solidFill>
            <a:schemeClr val="tx2"/>
          </a:solidFill>
          <a:ln w="12700">
            <a:solidFill>
              <a:schemeClr val="tx2"/>
            </a:solidFill>
            <a:prstDash val="solid"/>
          </a:ln>
        </p:spPr>
      </p:sp>
      <p:sp>
        <p:nvSpPr>
          <p:cNvPr id="20" name="Text 18"/>
          <p:cNvSpPr txBox="1"/>
          <p:nvPr/>
        </p:nvSpPr>
        <p:spPr>
          <a:xfrm>
            <a:off x="7461504"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4</a:t>
            </a:r>
            <a:endParaRPr lang="en-US" sz="1400" dirty="0"/>
          </a:p>
        </p:txBody>
      </p:sp>
      <p:sp>
        <p:nvSpPr>
          <p:cNvPr id="21" name="Text 19"/>
          <p:cNvSpPr txBox="1"/>
          <p:nvPr/>
        </p:nvSpPr>
        <p:spPr>
          <a:xfrm>
            <a:off x="7461504" y="1993392"/>
            <a:ext cx="1783080" cy="548640"/>
          </a:xfrm>
          <a:prstGeom prst="rect">
            <a:avLst/>
          </a:prstGeom>
          <a:noFill/>
          <a:ln/>
        </p:spPr>
        <p:txBody>
          <a:bodyPr wrap="square" lIns="0" tIns="0" rIns="0" bIns="0" rtlCol="0" anchor="t"/>
          <a:lstStyle/>
          <a:p>
            <a:pPr indent="0" marL="0">
              <a:buNone/>
            </a:pPr>
            <a:r>
              <a:rPr lang="en-US" sz="1350" b="1" dirty="0">
                <a:solidFill>
                  <a:schemeClr val="tx2"/>
                </a:solidFill>
              </a:rPr>
              <a:t>Resource estimates</a:t>
            </a:r>
            <a:endParaRPr lang="en-US" sz="1350" dirty="0"/>
          </a:p>
        </p:txBody>
      </p:sp>
      <p:sp>
        <p:nvSpPr>
          <p:cNvPr id="22" name="Text 20"/>
          <p:cNvSpPr txBox="1"/>
          <p:nvPr/>
        </p:nvSpPr>
        <p:spPr>
          <a:xfrm>
            <a:off x="7461504" y="2560320"/>
            <a:ext cx="1783080" cy="731520"/>
          </a:xfrm>
          <a:prstGeom prst="rect">
            <a:avLst/>
          </a:prstGeom>
          <a:noFill/>
          <a:ln/>
        </p:spPr>
        <p:txBody>
          <a:bodyPr wrap="square" lIns="0" tIns="0" rIns="0" bIns="0" rtlCol="0" anchor="t"/>
          <a:lstStyle/>
          <a:p>
            <a:pPr indent="0" marL="0">
              <a:buNone/>
            </a:pPr>
            <a:r>
              <a:rPr lang="en-US" sz="1150" dirty="0">
                <a:solidFill>
                  <a:schemeClr val="tx1"/>
                </a:solidFill>
              </a:rPr>
              <a:t>Hardware and other resources needed, realistically assessed</a:t>
            </a:r>
            <a:endParaRPr lang="en-US" sz="1150" dirty="0"/>
          </a:p>
        </p:txBody>
      </p:sp>
      <p:sp>
        <p:nvSpPr>
          <p:cNvPr id="23" name="criterion-5"/>
          <p:cNvSpPr/>
          <p:nvPr/>
        </p:nvSpPr>
        <p:spPr>
          <a:xfrm>
            <a:off x="9546336" y="1371600"/>
            <a:ext cx="2103120" cy="1965960"/>
          </a:xfrm>
          <a:prstGeom prst="roundRect">
            <a:avLst>
              <a:gd name="adj" fmla="val 3721"/>
            </a:avLst>
          </a:prstGeom>
          <a:solidFill>
            <a:schemeClr val="bg1"/>
          </a:solidFill>
          <a:ln w="9525">
            <a:solidFill>
              <a:schemeClr val="accent2"/>
            </a:solidFill>
            <a:prstDash val="solid"/>
          </a:ln>
        </p:spPr>
      </p:sp>
      <p:sp>
        <p:nvSpPr>
          <p:cNvPr id="24" name="Shape 22"/>
          <p:cNvSpPr/>
          <p:nvPr/>
        </p:nvSpPr>
        <p:spPr>
          <a:xfrm>
            <a:off x="9710928" y="1508760"/>
            <a:ext cx="411480" cy="411480"/>
          </a:xfrm>
          <a:prstGeom prst="ellipse">
            <a:avLst/>
          </a:prstGeom>
          <a:solidFill>
            <a:schemeClr val="accent2"/>
          </a:solidFill>
          <a:ln w="12700">
            <a:solidFill>
              <a:schemeClr val="accent2"/>
            </a:solidFill>
            <a:prstDash val="solid"/>
          </a:ln>
        </p:spPr>
      </p:sp>
      <p:sp>
        <p:nvSpPr>
          <p:cNvPr id="25" name="Text 23"/>
          <p:cNvSpPr txBox="1"/>
          <p:nvPr/>
        </p:nvSpPr>
        <p:spPr>
          <a:xfrm>
            <a:off x="9710928"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5</a:t>
            </a:r>
            <a:endParaRPr lang="en-US" sz="1400" dirty="0"/>
          </a:p>
        </p:txBody>
      </p:sp>
      <p:sp>
        <p:nvSpPr>
          <p:cNvPr id="26" name="Text 24"/>
          <p:cNvSpPr txBox="1"/>
          <p:nvPr/>
        </p:nvSpPr>
        <p:spPr>
          <a:xfrm>
            <a:off x="9710928" y="1993392"/>
            <a:ext cx="1783080" cy="548640"/>
          </a:xfrm>
          <a:prstGeom prst="rect">
            <a:avLst/>
          </a:prstGeom>
          <a:noFill/>
          <a:ln/>
        </p:spPr>
        <p:txBody>
          <a:bodyPr wrap="square" lIns="0" tIns="0" rIns="0" bIns="0" rtlCol="0" anchor="t"/>
          <a:lstStyle/>
          <a:p>
            <a:pPr indent="0" marL="0">
              <a:buNone/>
            </a:pPr>
            <a:r>
              <a:rPr lang="en-US" sz="1350" b="1" dirty="0">
                <a:solidFill>
                  <a:schemeClr val="tx2"/>
                </a:solidFill>
              </a:rPr>
              <a:t>Phase 2 readiness (proposed)</a:t>
            </a:r>
            <a:endParaRPr lang="en-US" sz="1350" dirty="0"/>
          </a:p>
        </p:txBody>
      </p:sp>
      <p:sp>
        <p:nvSpPr>
          <p:cNvPr id="27" name="Text 25"/>
          <p:cNvSpPr txBox="1"/>
          <p:nvPr/>
        </p:nvSpPr>
        <p:spPr>
          <a:xfrm>
            <a:off x="9710928" y="2560320"/>
            <a:ext cx="1783080" cy="731520"/>
          </a:xfrm>
          <a:prstGeom prst="rect">
            <a:avLst/>
          </a:prstGeom>
          <a:noFill/>
          <a:ln/>
        </p:spPr>
        <p:txBody>
          <a:bodyPr wrap="square" lIns="0" tIns="0" rIns="0" bIns="0" rtlCol="0" anchor="t"/>
          <a:lstStyle/>
          <a:p>
            <a:pPr indent="0" marL="0">
              <a:buNone/>
            </a:pPr>
            <a:r>
              <a:rPr lang="en-US" sz="1150" dirty="0">
                <a:solidFill>
                  <a:schemeClr val="tx1"/>
                </a:solidFill>
              </a:rPr>
              <a:t>Team capacity and fit with an industry partner's problem</a:t>
            </a:r>
            <a:endParaRPr lang="en-US" sz="1150" dirty="0"/>
          </a:p>
        </p:txBody>
      </p:sp>
      <p:sp>
        <p:nvSpPr>
          <p:cNvPr id="28" name="Text 26"/>
          <p:cNvSpPr txBox="1"/>
          <p:nvPr/>
        </p:nvSpPr>
        <p:spPr>
          <a:xfrm>
            <a:off x="548640" y="3566160"/>
            <a:ext cx="5303520" cy="320040"/>
          </a:xfrm>
          <a:prstGeom prst="rect">
            <a:avLst/>
          </a:prstGeom>
          <a:noFill/>
          <a:ln/>
        </p:spPr>
        <p:txBody>
          <a:bodyPr wrap="square" lIns="0" tIns="0" rIns="0" bIns="0" rtlCol="0" anchor="t"/>
          <a:lstStyle/>
          <a:p>
            <a:pPr indent="0" marL="0">
              <a:buNone/>
            </a:pPr>
            <a:r>
              <a:rPr lang="en-US" sz="1400" b="1" dirty="0">
                <a:solidFill>
                  <a:schemeClr val="tx2"/>
                </a:solidFill>
              </a:rPr>
              <a:t>Process</a:t>
            </a:r>
            <a:endParaRPr lang="en-US" sz="1400" dirty="0"/>
          </a:p>
        </p:txBody>
      </p:sp>
      <p:sp>
        <p:nvSpPr>
          <p:cNvPr id="29" name="Text 27"/>
          <p:cNvSpPr txBox="1"/>
          <p:nvPr/>
        </p:nvSpPr>
        <p:spPr>
          <a:xfrm>
            <a:off x="548640" y="3931920"/>
            <a:ext cx="5303520" cy="1920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Eligibility and compliance screen as submissions arrive</a:t>
            </a:r>
            <a:endParaRPr lang="en-US" sz="1400" dirty="0"/>
          </a:p>
          <a:p>
            <a:pPr marL="177800" indent="-177800">
              <a:spcAft>
                <a:spcPts val="500"/>
              </a:spcAft>
              <a:buSzPct val="100000"/>
              <a:buChar char="•"/>
            </a:pPr>
            <a:r>
              <a:rPr lang="en-US" sz="1250" dirty="0">
                <a:solidFill>
                  <a:schemeClr val="tx1"/>
                </a:solidFill>
              </a:rPr>
              <a:t>Technical pre-read flags submissions for the panel</a:t>
            </a:r>
            <a:endParaRPr lang="en-US" sz="1400" dirty="0"/>
          </a:p>
          <a:p>
            <a:pPr marL="177800" indent="-177800">
              <a:spcAft>
                <a:spcPts val="500"/>
              </a:spcAft>
              <a:buSzPct val="100000"/>
              <a:buChar char="•"/>
            </a:pPr>
            <a:r>
              <a:rPr lang="en-US" sz="1250" dirty="0">
                <a:solidFill>
                  <a:schemeClr val="tx1"/>
                </a:solidFill>
              </a:rPr>
              <a:t>Calibrated federal and industry panel scores each dimension</a:t>
            </a:r>
            <a:endParaRPr lang="en-US" sz="1400" dirty="0"/>
          </a:p>
          <a:p>
            <a:pPr marL="177800" indent="-177800">
              <a:spcAft>
                <a:spcPts val="500"/>
              </a:spcAft>
              <a:buSzPct val="100000"/>
              <a:buChar char="•"/>
            </a:pPr>
            <a:r>
              <a:rPr lang="en-US" sz="1250" dirty="0">
                <a:solidFill>
                  <a:schemeClr val="tx1"/>
                </a:solidFill>
              </a:rPr>
              <a:t>Divergent scores reconciled; NSF concurrence before any announcement</a:t>
            </a:r>
            <a:endParaRPr lang="en-US" sz="1400" dirty="0"/>
          </a:p>
        </p:txBody>
      </p:sp>
      <p:sp>
        <p:nvSpPr>
          <p:cNvPr id="30" name="guardrails"/>
          <p:cNvSpPr/>
          <p:nvPr/>
        </p:nvSpPr>
        <p:spPr>
          <a:xfrm>
            <a:off x="6172200" y="3566160"/>
            <a:ext cx="5440680" cy="2286000"/>
          </a:xfrm>
          <a:prstGeom prst="roundRect">
            <a:avLst>
              <a:gd name="adj" fmla="val 3200"/>
            </a:avLst>
          </a:prstGeom>
          <a:solidFill>
            <a:schemeClr val="tx2"/>
          </a:solidFill>
          <a:ln w="9525">
            <a:solidFill>
              <a:schemeClr val="tx2"/>
            </a:solidFill>
            <a:prstDash val="solid"/>
          </a:ln>
        </p:spPr>
      </p:sp>
      <p:sp>
        <p:nvSpPr>
          <p:cNvPr id="31" name="Text 29"/>
          <p:cNvSpPr txBox="1"/>
          <p:nvPr/>
        </p:nvSpPr>
        <p:spPr>
          <a:xfrm>
            <a:off x="6400800" y="3675888"/>
            <a:ext cx="4937760" cy="320040"/>
          </a:xfrm>
          <a:prstGeom prst="rect">
            <a:avLst/>
          </a:prstGeom>
          <a:noFill/>
          <a:ln/>
        </p:spPr>
        <p:txBody>
          <a:bodyPr wrap="square" lIns="0" tIns="0" rIns="0" bIns="0" rtlCol="0" anchor="t"/>
          <a:lstStyle/>
          <a:p>
            <a:pPr indent="0" marL="0">
              <a:buNone/>
            </a:pPr>
            <a:r>
              <a:rPr lang="en-US" sz="1400" b="1" dirty="0">
                <a:solidFill>
                  <a:schemeClr val="bg1"/>
                </a:solidFill>
              </a:rPr>
              <a:t>Guardrails</a:t>
            </a:r>
            <a:endParaRPr lang="en-US" sz="1400" dirty="0"/>
          </a:p>
        </p:txBody>
      </p:sp>
      <p:sp>
        <p:nvSpPr>
          <p:cNvPr id="32" name="Text 30"/>
          <p:cNvSpPr txBox="1"/>
          <p:nvPr/>
        </p:nvSpPr>
        <p:spPr>
          <a:xfrm>
            <a:off x="6400800" y="4041648"/>
            <a:ext cx="5029200" cy="17373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External judges only from designated countries under FAR 52.225-5</a:t>
            </a:r>
            <a:endParaRPr lang="en-US" sz="1400" dirty="0"/>
          </a:p>
          <a:p>
            <a:pPr marL="177800" indent="-177800">
              <a:spcAft>
                <a:spcPts val="500"/>
              </a:spcAft>
              <a:buSzPct val="100000"/>
              <a:buChar char="•"/>
            </a:pPr>
            <a:r>
              <a:rPr lang="en-US" sz="1200" dirty="0">
                <a:solidFill>
                  <a:schemeClr val="bg1"/>
                </a:solidFill>
              </a:rPr>
              <a:t>NDA and conflict-of-interest attestation for every judge</a:t>
            </a:r>
            <a:endParaRPr lang="en-US" sz="1400" dirty="0"/>
          </a:p>
          <a:p>
            <a:pPr marL="177800" indent="-177800">
              <a:spcAft>
                <a:spcPts val="500"/>
              </a:spcAft>
              <a:buSzPct val="100000"/>
              <a:buChar char="•"/>
            </a:pPr>
            <a:r>
              <a:rPr lang="en-US" sz="1200" dirty="0">
                <a:solidFill>
                  <a:schemeClr val="bg1"/>
                </a:solidFill>
              </a:rPr>
              <a:t>Industry judges recuse from teams they have ties to; agree on a rule for future Phase 2 partners</a:t>
            </a:r>
            <a:endParaRPr lang="en-US" sz="1400" dirty="0"/>
          </a:p>
          <a:p>
            <a:pPr marL="177800" indent="-177800">
              <a:spcAft>
                <a:spcPts val="500"/>
              </a:spcAft>
              <a:buSzPct val="100000"/>
              <a:buChar char="•"/>
            </a:pPr>
            <a:r>
              <a:rPr lang="en-US" sz="1200" dirty="0">
                <a:solidFill>
                  <a:schemeClr val="bg1"/>
                </a:solidFill>
              </a:rPr>
              <a:t>Weights set with NSF and published in the rules</a:t>
            </a:r>
            <a:endParaRPr lang="en-US" sz="1400" dirty="0"/>
          </a:p>
        </p:txBody>
      </p:sp>
      <p:sp>
        <p:nvSpPr>
          <p:cNvPr id="33" name="Text 31"/>
          <p:cNvSpPr txBox="1"/>
          <p:nvPr/>
        </p:nvSpPr>
        <p:spPr>
          <a:xfrm>
            <a:off x="548640" y="5989320"/>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Criteria 1–4 as proposed; criterion 5 is a proposal for discussion. RFTP NOIS3-085 §2.1.5 (judging; industry partners may provide judges; FAR 52.225-5).</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Mobilize: reach algorithm builders and domain experts alike, with deliberate reach into EPSCoR jurisdictions</a:t>
            </a:r>
            <a:endParaRPr lang="en-US" sz="2800" dirty="0"/>
          </a:p>
        </p:txBody>
      </p:sp>
      <p:sp>
        <p:nvSpPr>
          <p:cNvPr id="3" name="segment-1"/>
          <p:cNvSpPr/>
          <p:nvPr/>
        </p:nvSpPr>
        <p:spPr>
          <a:xfrm>
            <a:off x="548640" y="1371600"/>
            <a:ext cx="2377440" cy="1691640"/>
          </a:xfrm>
          <a:prstGeom prst="roundRect">
            <a:avLst>
              <a:gd name="adj" fmla="val 4324"/>
            </a:avLst>
          </a:prstGeom>
          <a:solidFill>
            <a:schemeClr val="bg2"/>
          </a:solidFill>
          <a:ln w="9525">
            <a:solidFill>
              <a:schemeClr val="bg2"/>
            </a:solidFill>
            <a:prstDash val="solid"/>
          </a:ln>
        </p:spPr>
      </p:sp>
      <p:sp>
        <p:nvSpPr>
          <p:cNvPr id="4" name="Text 2"/>
          <p:cNvSpPr txBox="1"/>
          <p:nvPr/>
        </p:nvSpPr>
        <p:spPr>
          <a:xfrm>
            <a:off x="713232" y="1481328"/>
            <a:ext cx="2057400" cy="548640"/>
          </a:xfrm>
          <a:prstGeom prst="rect">
            <a:avLst/>
          </a:prstGeom>
          <a:noFill/>
          <a:ln/>
        </p:spPr>
        <p:txBody>
          <a:bodyPr wrap="square" lIns="0" tIns="0" rIns="0" bIns="0" rtlCol="0" anchor="ctr"/>
          <a:lstStyle/>
          <a:p>
            <a:pPr indent="0" marL="0">
              <a:buNone/>
            </a:pPr>
            <a:r>
              <a:rPr lang="en-US" sz="1300" b="1" dirty="0">
                <a:solidFill>
                  <a:schemeClr val="tx2"/>
                </a:solidFill>
              </a:rPr>
              <a:t>Quantum algorithm researchers</a:t>
            </a:r>
            <a:endParaRPr lang="en-US" sz="1300" dirty="0"/>
          </a:p>
        </p:txBody>
      </p:sp>
      <p:sp>
        <p:nvSpPr>
          <p:cNvPr id="5" name="Text 3"/>
          <p:cNvSpPr txBox="1"/>
          <p:nvPr/>
        </p:nvSpPr>
        <p:spPr>
          <a:xfrm>
            <a:off x="713232" y="2057400"/>
            <a:ext cx="2057400" cy="960120"/>
          </a:xfrm>
          <a:prstGeom prst="rect">
            <a:avLst/>
          </a:prstGeom>
          <a:noFill/>
          <a:ln/>
        </p:spPr>
        <p:txBody>
          <a:bodyPr wrap="square" lIns="0" tIns="0" rIns="0" bIns="0" rtlCol="0" anchor="t"/>
          <a:lstStyle/>
          <a:p>
            <a:pPr indent="0" marL="0">
              <a:buNone/>
            </a:pPr>
            <a:r>
              <a:rPr lang="en-US" sz="1150" dirty="0">
                <a:solidFill>
                  <a:schemeClr val="tx1"/>
                </a:solidFill>
              </a:rPr>
              <a:t>NSF Quantum Leap Challenge Institutes; university quantum information science centers</a:t>
            </a:r>
            <a:endParaRPr lang="en-US" sz="1150" dirty="0"/>
          </a:p>
        </p:txBody>
      </p:sp>
      <p:sp>
        <p:nvSpPr>
          <p:cNvPr id="6" name="segment-2"/>
          <p:cNvSpPr/>
          <p:nvPr/>
        </p:nvSpPr>
        <p:spPr>
          <a:xfrm>
            <a:off x="3063240" y="1371600"/>
            <a:ext cx="2377440" cy="1691640"/>
          </a:xfrm>
          <a:prstGeom prst="roundRect">
            <a:avLst>
              <a:gd name="adj" fmla="val 4324"/>
            </a:avLst>
          </a:prstGeom>
          <a:solidFill>
            <a:schemeClr val="bg2"/>
          </a:solidFill>
          <a:ln w="9525">
            <a:solidFill>
              <a:schemeClr val="bg2"/>
            </a:solidFill>
            <a:prstDash val="solid"/>
          </a:ln>
        </p:spPr>
      </p:sp>
      <p:sp>
        <p:nvSpPr>
          <p:cNvPr id="7" name="Text 5"/>
          <p:cNvSpPr txBox="1"/>
          <p:nvPr/>
        </p:nvSpPr>
        <p:spPr>
          <a:xfrm>
            <a:off x="3227832" y="1481328"/>
            <a:ext cx="2057400" cy="548640"/>
          </a:xfrm>
          <a:prstGeom prst="rect">
            <a:avLst/>
          </a:prstGeom>
          <a:noFill/>
          <a:ln/>
        </p:spPr>
        <p:txBody>
          <a:bodyPr wrap="square" lIns="0" tIns="0" rIns="0" bIns="0" rtlCol="0" anchor="ctr"/>
          <a:lstStyle/>
          <a:p>
            <a:pPr indent="0" marL="0">
              <a:buNone/>
            </a:pPr>
            <a:r>
              <a:rPr lang="en-US" sz="1300" b="1" dirty="0">
                <a:solidFill>
                  <a:schemeClr val="tx2"/>
                </a:solidFill>
              </a:rPr>
              <a:t>Quantum software startups</a:t>
            </a:r>
            <a:endParaRPr lang="en-US" sz="1300" dirty="0"/>
          </a:p>
        </p:txBody>
      </p:sp>
      <p:sp>
        <p:nvSpPr>
          <p:cNvPr id="8" name="Text 6"/>
          <p:cNvSpPr txBox="1"/>
          <p:nvPr/>
        </p:nvSpPr>
        <p:spPr>
          <a:xfrm>
            <a:off x="3227832" y="2057400"/>
            <a:ext cx="2057400" cy="960120"/>
          </a:xfrm>
          <a:prstGeom prst="rect">
            <a:avLst/>
          </a:prstGeom>
          <a:noFill/>
          <a:ln/>
        </p:spPr>
        <p:txBody>
          <a:bodyPr wrap="square" lIns="0" tIns="0" rIns="0" bIns="0" rtlCol="0" anchor="t"/>
          <a:lstStyle/>
          <a:p>
            <a:pPr indent="0" marL="0">
              <a:buNone/>
            </a:pPr>
            <a:r>
              <a:rPr lang="en-US" sz="1150" dirty="0">
                <a:solidFill>
                  <a:schemeClr val="tx1"/>
                </a:solidFill>
              </a:rPr>
              <a:t>Founders and developers building quantum software and tools</a:t>
            </a:r>
            <a:endParaRPr lang="en-US" sz="1150" dirty="0"/>
          </a:p>
        </p:txBody>
      </p:sp>
      <p:sp>
        <p:nvSpPr>
          <p:cNvPr id="9" name="segment-3"/>
          <p:cNvSpPr/>
          <p:nvPr/>
        </p:nvSpPr>
        <p:spPr>
          <a:xfrm>
            <a:off x="5577840" y="1371600"/>
            <a:ext cx="2377440" cy="1691640"/>
          </a:xfrm>
          <a:prstGeom prst="roundRect">
            <a:avLst>
              <a:gd name="adj" fmla="val 4324"/>
            </a:avLst>
          </a:prstGeom>
          <a:solidFill>
            <a:schemeClr val="bg2"/>
          </a:solidFill>
          <a:ln w="9525">
            <a:solidFill>
              <a:schemeClr val="bg2"/>
            </a:solidFill>
            <a:prstDash val="solid"/>
          </a:ln>
        </p:spPr>
      </p:sp>
      <p:sp>
        <p:nvSpPr>
          <p:cNvPr id="10" name="Text 8"/>
          <p:cNvSpPr txBox="1"/>
          <p:nvPr/>
        </p:nvSpPr>
        <p:spPr>
          <a:xfrm>
            <a:off x="5742432" y="1481328"/>
            <a:ext cx="2057400" cy="548640"/>
          </a:xfrm>
          <a:prstGeom prst="rect">
            <a:avLst/>
          </a:prstGeom>
          <a:noFill/>
          <a:ln/>
        </p:spPr>
        <p:txBody>
          <a:bodyPr wrap="square" lIns="0" tIns="0" rIns="0" bIns="0" rtlCol="0" anchor="ctr"/>
          <a:lstStyle/>
          <a:p>
            <a:pPr indent="0" marL="0">
              <a:buNone/>
            </a:pPr>
            <a:r>
              <a:rPr lang="en-US" sz="1300" b="1" dirty="0">
                <a:solidFill>
                  <a:schemeClr val="tx2"/>
                </a:solidFill>
              </a:rPr>
              <a:t>National laboratory groups</a:t>
            </a:r>
            <a:endParaRPr lang="en-US" sz="1300" dirty="0"/>
          </a:p>
        </p:txBody>
      </p:sp>
      <p:sp>
        <p:nvSpPr>
          <p:cNvPr id="11" name="Text 9"/>
          <p:cNvSpPr txBox="1"/>
          <p:nvPr/>
        </p:nvSpPr>
        <p:spPr>
          <a:xfrm>
            <a:off x="5742432" y="2057400"/>
            <a:ext cx="2057400" cy="960120"/>
          </a:xfrm>
          <a:prstGeom prst="rect">
            <a:avLst/>
          </a:prstGeom>
          <a:noFill/>
          <a:ln/>
        </p:spPr>
        <p:txBody>
          <a:bodyPr wrap="square" lIns="0" tIns="0" rIns="0" bIns="0" rtlCol="0" anchor="t"/>
          <a:lstStyle/>
          <a:p>
            <a:pPr indent="0" marL="0">
              <a:buNone/>
            </a:pPr>
            <a:r>
              <a:rPr lang="en-US" sz="1150" dirty="0">
                <a:solidFill>
                  <a:schemeClr val="tx1"/>
                </a:solidFill>
              </a:rPr>
              <a:t>Quantum teams at DOE national labs and research centers</a:t>
            </a:r>
            <a:endParaRPr lang="en-US" sz="1150" dirty="0"/>
          </a:p>
        </p:txBody>
      </p:sp>
      <p:sp>
        <p:nvSpPr>
          <p:cNvPr id="12" name="segment-4"/>
          <p:cNvSpPr/>
          <p:nvPr/>
        </p:nvSpPr>
        <p:spPr>
          <a:xfrm>
            <a:off x="548640" y="3200400"/>
            <a:ext cx="2377440" cy="1691640"/>
          </a:xfrm>
          <a:prstGeom prst="roundRect">
            <a:avLst>
              <a:gd name="adj" fmla="val 4324"/>
            </a:avLst>
          </a:prstGeom>
          <a:solidFill>
            <a:schemeClr val="bg2"/>
          </a:solidFill>
          <a:ln w="9525">
            <a:solidFill>
              <a:schemeClr val="bg2"/>
            </a:solidFill>
            <a:prstDash val="solid"/>
          </a:ln>
        </p:spPr>
      </p:sp>
      <p:sp>
        <p:nvSpPr>
          <p:cNvPr id="13" name="Text 11"/>
          <p:cNvSpPr txBox="1"/>
          <p:nvPr/>
        </p:nvSpPr>
        <p:spPr>
          <a:xfrm>
            <a:off x="713232" y="3310128"/>
            <a:ext cx="2057400" cy="548640"/>
          </a:xfrm>
          <a:prstGeom prst="rect">
            <a:avLst/>
          </a:prstGeom>
          <a:noFill/>
          <a:ln/>
        </p:spPr>
        <p:txBody>
          <a:bodyPr wrap="square" lIns="0" tIns="0" rIns="0" bIns="0" rtlCol="0" anchor="ctr"/>
          <a:lstStyle/>
          <a:p>
            <a:pPr indent="0" marL="0">
              <a:buNone/>
            </a:pPr>
            <a:r>
              <a:rPr lang="en-US" sz="1300" b="1" dirty="0">
                <a:solidFill>
                  <a:schemeClr val="tx2"/>
                </a:solidFill>
              </a:rPr>
              <a:t>Domain experts (the "X")</a:t>
            </a:r>
            <a:endParaRPr lang="en-US" sz="1300" dirty="0"/>
          </a:p>
        </p:txBody>
      </p:sp>
      <p:sp>
        <p:nvSpPr>
          <p:cNvPr id="14" name="Text 12"/>
          <p:cNvSpPr txBox="1"/>
          <p:nvPr/>
        </p:nvSpPr>
        <p:spPr>
          <a:xfrm>
            <a:off x="713232" y="3886200"/>
            <a:ext cx="2057400" cy="960120"/>
          </a:xfrm>
          <a:prstGeom prst="rect">
            <a:avLst/>
          </a:prstGeom>
          <a:noFill/>
          <a:ln/>
        </p:spPr>
        <p:txBody>
          <a:bodyPr wrap="square" lIns="0" tIns="0" rIns="0" bIns="0" rtlCol="0" anchor="t"/>
          <a:lstStyle/>
          <a:p>
            <a:pPr indent="0" marL="0">
              <a:buNone/>
            </a:pPr>
            <a:r>
              <a:rPr lang="en-US" sz="1150" dirty="0">
                <a:solidFill>
                  <a:schemeClr val="tx1"/>
                </a:solidFill>
              </a:rPr>
              <a:t>Energy, finance, biotechnology and pharmaceutical specialists who can team with quantum researchers</a:t>
            </a:r>
            <a:endParaRPr lang="en-US" sz="1150" dirty="0"/>
          </a:p>
        </p:txBody>
      </p:sp>
      <p:sp>
        <p:nvSpPr>
          <p:cNvPr id="15" name="segment-5"/>
          <p:cNvSpPr/>
          <p:nvPr/>
        </p:nvSpPr>
        <p:spPr>
          <a:xfrm>
            <a:off x="3063240" y="3200400"/>
            <a:ext cx="2377440" cy="1691640"/>
          </a:xfrm>
          <a:prstGeom prst="roundRect">
            <a:avLst>
              <a:gd name="adj" fmla="val 4324"/>
            </a:avLst>
          </a:prstGeom>
          <a:solidFill>
            <a:schemeClr val="bg2"/>
          </a:solidFill>
          <a:ln w="9525">
            <a:solidFill>
              <a:schemeClr val="bg2"/>
            </a:solidFill>
            <a:prstDash val="solid"/>
          </a:ln>
        </p:spPr>
      </p:sp>
      <p:sp>
        <p:nvSpPr>
          <p:cNvPr id="16" name="Text 14"/>
          <p:cNvSpPr txBox="1"/>
          <p:nvPr/>
        </p:nvSpPr>
        <p:spPr>
          <a:xfrm>
            <a:off x="3227832" y="3310128"/>
            <a:ext cx="2057400" cy="548640"/>
          </a:xfrm>
          <a:prstGeom prst="rect">
            <a:avLst/>
          </a:prstGeom>
          <a:noFill/>
          <a:ln/>
        </p:spPr>
        <p:txBody>
          <a:bodyPr wrap="square" lIns="0" tIns="0" rIns="0" bIns="0" rtlCol="0" anchor="ctr"/>
          <a:lstStyle/>
          <a:p>
            <a:pPr indent="0" marL="0">
              <a:buNone/>
            </a:pPr>
            <a:r>
              <a:rPr lang="en-US" sz="1300" b="1" dirty="0">
                <a:solidFill>
                  <a:schemeClr val="tx2"/>
                </a:solidFill>
              </a:rPr>
              <a:t>Students and early-career teams</a:t>
            </a:r>
            <a:endParaRPr lang="en-US" sz="1300" dirty="0"/>
          </a:p>
        </p:txBody>
      </p:sp>
      <p:sp>
        <p:nvSpPr>
          <p:cNvPr id="17" name="Text 15"/>
          <p:cNvSpPr txBox="1"/>
          <p:nvPr/>
        </p:nvSpPr>
        <p:spPr>
          <a:xfrm>
            <a:off x="3227832" y="3886200"/>
            <a:ext cx="2057400" cy="960120"/>
          </a:xfrm>
          <a:prstGeom prst="rect">
            <a:avLst/>
          </a:prstGeom>
          <a:noFill/>
          <a:ln/>
        </p:spPr>
        <p:txBody>
          <a:bodyPr wrap="square" lIns="0" tIns="0" rIns="0" bIns="0" rtlCol="0" anchor="t"/>
          <a:lstStyle/>
          <a:p>
            <a:pPr indent="0" marL="0">
              <a:buNone/>
            </a:pPr>
            <a:r>
              <a:rPr lang="en-US" sz="1150" dirty="0">
                <a:solidFill>
                  <a:schemeClr val="tx1"/>
                </a:solidFill>
              </a:rPr>
              <a:t>University programs and multidisciplinary student teams</a:t>
            </a:r>
            <a:endParaRPr lang="en-US" sz="1150" dirty="0"/>
          </a:p>
        </p:txBody>
      </p:sp>
      <p:sp>
        <p:nvSpPr>
          <p:cNvPr id="18" name="segment-6"/>
          <p:cNvSpPr/>
          <p:nvPr/>
        </p:nvSpPr>
        <p:spPr>
          <a:xfrm>
            <a:off x="5577840" y="3200400"/>
            <a:ext cx="2377440" cy="1691640"/>
          </a:xfrm>
          <a:prstGeom prst="roundRect">
            <a:avLst>
              <a:gd name="adj" fmla="val 4324"/>
            </a:avLst>
          </a:prstGeom>
          <a:solidFill>
            <a:schemeClr val="tx2"/>
          </a:solidFill>
          <a:ln w="9525">
            <a:solidFill>
              <a:schemeClr val="tx2"/>
            </a:solidFill>
            <a:prstDash val="solid"/>
          </a:ln>
        </p:spPr>
      </p:sp>
      <p:sp>
        <p:nvSpPr>
          <p:cNvPr id="19" name="Text 17"/>
          <p:cNvSpPr txBox="1"/>
          <p:nvPr/>
        </p:nvSpPr>
        <p:spPr>
          <a:xfrm>
            <a:off x="5742432" y="3310128"/>
            <a:ext cx="2057400" cy="548640"/>
          </a:xfrm>
          <a:prstGeom prst="rect">
            <a:avLst/>
          </a:prstGeom>
          <a:noFill/>
          <a:ln/>
        </p:spPr>
        <p:txBody>
          <a:bodyPr wrap="square" lIns="0" tIns="0" rIns="0" bIns="0" rtlCol="0" anchor="ctr"/>
          <a:lstStyle/>
          <a:p>
            <a:pPr indent="0" marL="0">
              <a:buNone/>
            </a:pPr>
            <a:r>
              <a:rPr lang="en-US" sz="1300" b="1" dirty="0">
                <a:solidFill>
                  <a:schemeClr val="bg1"/>
                </a:solidFill>
              </a:rPr>
              <a:t>EPSCoR jurisdictions</a:t>
            </a:r>
            <a:endParaRPr lang="en-US" sz="1300" dirty="0"/>
          </a:p>
        </p:txBody>
      </p:sp>
      <p:sp>
        <p:nvSpPr>
          <p:cNvPr id="20" name="Text 18"/>
          <p:cNvSpPr txBox="1"/>
          <p:nvPr/>
        </p:nvSpPr>
        <p:spPr>
          <a:xfrm>
            <a:off x="5742432" y="3886200"/>
            <a:ext cx="2057400" cy="960120"/>
          </a:xfrm>
          <a:prstGeom prst="rect">
            <a:avLst/>
          </a:prstGeom>
          <a:noFill/>
          <a:ln/>
        </p:spPr>
        <p:txBody>
          <a:bodyPr wrap="square" lIns="0" tIns="0" rIns="0" bIns="0" rtlCol="0" anchor="t"/>
          <a:lstStyle/>
          <a:p>
            <a:pPr indent="0" marL="0">
              <a:buNone/>
            </a:pPr>
            <a:r>
              <a:rPr lang="en-US" sz="1150" dirty="0">
                <a:solidFill>
                  <a:schemeClr val="accent6"/>
                </a:solidFill>
              </a:rPr>
              <a:t>Emerging quantum ecosystems, reached through state EPSCoR offices and university programs</a:t>
            </a:r>
            <a:endParaRPr lang="en-US" sz="1150" dirty="0"/>
          </a:p>
        </p:txBody>
      </p:sp>
      <p:sp>
        <p:nvSpPr>
          <p:cNvPr id="21" name="engagement"/>
          <p:cNvSpPr/>
          <p:nvPr/>
        </p:nvSpPr>
        <p:spPr>
          <a:xfrm>
            <a:off x="8229600" y="1371600"/>
            <a:ext cx="3383280" cy="3520440"/>
          </a:xfrm>
          <a:prstGeom prst="roundRect">
            <a:avLst>
              <a:gd name="adj" fmla="val 2162"/>
            </a:avLst>
          </a:prstGeom>
          <a:solidFill>
            <a:schemeClr val="bg1"/>
          </a:solidFill>
          <a:ln w="9525">
            <a:solidFill>
              <a:schemeClr val="accent6"/>
            </a:solidFill>
            <a:prstDash val="solid"/>
          </a:ln>
        </p:spPr>
      </p:sp>
      <p:sp>
        <p:nvSpPr>
          <p:cNvPr id="22" name="Text 20"/>
          <p:cNvSpPr txBox="1"/>
          <p:nvPr/>
        </p:nvSpPr>
        <p:spPr>
          <a:xfrm>
            <a:off x="8412480" y="1481328"/>
            <a:ext cx="3017520" cy="320040"/>
          </a:xfrm>
          <a:prstGeom prst="rect">
            <a:avLst/>
          </a:prstGeom>
          <a:noFill/>
          <a:ln/>
        </p:spPr>
        <p:txBody>
          <a:bodyPr wrap="square" lIns="0" tIns="0" rIns="0" bIns="0" rtlCol="0" anchor="t"/>
          <a:lstStyle/>
          <a:p>
            <a:pPr indent="0" marL="0">
              <a:buNone/>
            </a:pPr>
            <a:r>
              <a:rPr lang="en-US" sz="1350" b="1" dirty="0">
                <a:solidFill>
                  <a:schemeClr val="tx2"/>
                </a:solidFill>
              </a:rPr>
              <a:t>Engagement across the window</a:t>
            </a:r>
            <a:endParaRPr lang="en-US" sz="1350" dirty="0"/>
          </a:p>
        </p:txBody>
      </p:sp>
      <p:sp>
        <p:nvSpPr>
          <p:cNvPr id="23" name="Text 21"/>
          <p:cNvSpPr txBox="1"/>
          <p:nvPr/>
        </p:nvSpPr>
        <p:spPr>
          <a:xfrm>
            <a:off x="8412480" y="1847088"/>
            <a:ext cx="3063240" cy="29718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Launch announcement and USA.gov posting</a:t>
            </a:r>
            <a:endParaRPr lang="en-US" sz="1400" dirty="0"/>
          </a:p>
          <a:p>
            <a:pPr marL="177800" indent="-177800">
              <a:spcAft>
                <a:spcPts val="500"/>
              </a:spcAft>
              <a:buSzPct val="100000"/>
              <a:buChar char="•"/>
            </a:pPr>
            <a:r>
              <a:rPr lang="en-US" sz="1150" dirty="0">
                <a:solidFill>
                  <a:schemeClr val="tx1"/>
                </a:solidFill>
              </a:rPr>
              <a:t>Three collaborator webinars, hosted by a third party and promoted by us</a:t>
            </a:r>
            <a:endParaRPr lang="en-US" sz="1400" dirty="0"/>
          </a:p>
          <a:p>
            <a:pPr marL="177800" indent="-177800">
              <a:spcAft>
                <a:spcPts val="500"/>
              </a:spcAft>
              <a:buSzPct val="100000"/>
              <a:buChar char="•"/>
            </a:pPr>
            <a:r>
              <a:rPr lang="en-US" sz="1150" dirty="0">
                <a:solidFill>
                  <a:schemeClr val="tx1"/>
                </a:solidFill>
              </a:rPr>
              <a:t>Registrant Q&amp;A webinars</a:t>
            </a:r>
            <a:endParaRPr lang="en-US" sz="1400" dirty="0"/>
          </a:p>
          <a:p>
            <a:pPr marL="177800" indent="-177800">
              <a:spcAft>
                <a:spcPts val="500"/>
              </a:spcAft>
              <a:buSzPct val="100000"/>
              <a:buChar char="•"/>
            </a:pPr>
            <a:r>
              <a:rPr lang="en-US" sz="1150" dirty="0">
                <a:solidFill>
                  <a:schemeClr val="tx1"/>
                </a:solidFill>
              </a:rPr>
              <a:t>Monthly report on the registrant pool and likely high-quality submitters</a:t>
            </a:r>
            <a:endParaRPr lang="en-US" sz="1400" dirty="0"/>
          </a:p>
          <a:p>
            <a:pPr marL="177800" indent="-177800">
              <a:spcAft>
                <a:spcPts val="500"/>
              </a:spcAft>
              <a:buSzPct val="100000"/>
              <a:buChar char="•"/>
            </a:pPr>
            <a:r>
              <a:rPr lang="en-US" sz="1150" dirty="0">
                <a:solidFill>
                  <a:schemeClr val="tx1"/>
                </a:solidFill>
              </a:rPr>
              <a:t>Targeted pushes where the data shows gaps</a:t>
            </a:r>
            <a:endParaRPr lang="en-US" sz="1400" dirty="0"/>
          </a:p>
        </p:txBody>
      </p:sp>
      <p:sp>
        <p:nvSpPr>
          <p:cNvPr id="24" name="Text 22"/>
          <p:cNvSpPr txBox="1"/>
          <p:nvPr/>
        </p:nvSpPr>
        <p:spPr>
          <a:xfrm>
            <a:off x="548640" y="5120640"/>
            <a:ext cx="11064240" cy="685800"/>
          </a:xfrm>
          <a:prstGeom prst="rect">
            <a:avLst/>
          </a:prstGeom>
          <a:noFill/>
          <a:ln/>
        </p:spPr>
        <p:txBody>
          <a:bodyPr wrap="square" lIns="0" tIns="0" rIns="0" bIns="0" rtlCol="0" anchor="t"/>
          <a:lstStyle/>
          <a:p>
            <a:pPr indent="0" marL="0">
              <a:buNone/>
            </a:pPr>
            <a:r>
              <a:rPr lang="en-US" sz="1250" b="1" dirty="0">
                <a:solidFill>
                  <a:schemeClr val="accent2"/>
                </a:solidFill>
              </a:rPr>
              <a:t>Already done: </a:t>
            </a:r>
            <a:pPr indent="0" marL="0">
              <a:buNone/>
            </a:pPr>
            <a:r>
              <a:rPr lang="en-US" sz="1250" dirty="0">
                <a:solidFill>
                  <a:schemeClr val="tx1"/>
                </a:solidFill>
              </a:rPr>
              <a:t>splash page live to capture sign-ups; Quantum World Congress handout ready. A domain expert paired with a quantum researcher is the team most likely to clear the use-case bar.</a:t>
            </a:r>
            <a:endParaRPr lang="en-US" sz="1250" dirty="0"/>
          </a:p>
        </p:txBody>
      </p:sp>
      <p:sp>
        <p:nvSpPr>
          <p:cNvPr id="25" name="Text 23"/>
          <p:cNvSpPr txBox="1"/>
          <p:nvPr/>
        </p:nvSpPr>
        <p:spPr>
          <a:xfrm>
            <a:off x="548640" y="5989320"/>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RFTP NOIS3-085 §1.3 notes, §2.1.1.6, §2.1.4. Distant-field solvers win more often: Jeppesen &amp; Lakhani (2010).</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Select and verify: NSF's eligibility and research-security requirements are built in from registration</a:t>
            </a:r>
            <a:endParaRPr lang="en-US" sz="2800" dirty="0"/>
          </a:p>
        </p:txBody>
      </p:sp>
      <p:sp>
        <p:nvSpPr>
          <p:cNvPr id="3" name="comply-1"/>
          <p:cNvSpPr/>
          <p:nvPr/>
        </p:nvSpPr>
        <p:spPr>
          <a:xfrm>
            <a:off x="548640" y="1371600"/>
            <a:ext cx="3520440" cy="3611880"/>
          </a:xfrm>
          <a:prstGeom prst="roundRect">
            <a:avLst>
              <a:gd name="adj" fmla="val 2078"/>
            </a:avLst>
          </a:prstGeom>
          <a:solidFill>
            <a:schemeClr val="bg2"/>
          </a:solidFill>
          <a:ln w="9525">
            <a:solidFill>
              <a:schemeClr val="bg2"/>
            </a:solidFill>
            <a:prstDash val="solid"/>
          </a:ln>
        </p:spPr>
      </p:sp>
      <p:sp>
        <p:nvSpPr>
          <p:cNvPr id="4" name="Text 2"/>
          <p:cNvSpPr txBox="1"/>
          <p:nvPr/>
        </p:nvSpPr>
        <p:spPr>
          <a:xfrm>
            <a:off x="777240" y="1508760"/>
            <a:ext cx="3108960" cy="365760"/>
          </a:xfrm>
          <a:prstGeom prst="rect">
            <a:avLst/>
          </a:prstGeom>
          <a:noFill/>
          <a:ln/>
        </p:spPr>
        <p:txBody>
          <a:bodyPr wrap="square" lIns="0" tIns="0" rIns="0" bIns="0" rtlCol="0" anchor="t"/>
          <a:lstStyle/>
          <a:p>
            <a:pPr indent="0" marL="0">
              <a:buNone/>
            </a:pPr>
            <a:r>
              <a:rPr lang="en-US" sz="1500" b="1" dirty="0">
                <a:solidFill>
                  <a:schemeClr val="tx2"/>
                </a:solidFill>
              </a:rPr>
              <a:t>Eligibility to win</a:t>
            </a:r>
            <a:endParaRPr lang="en-US" sz="1500" dirty="0"/>
          </a:p>
        </p:txBody>
      </p:sp>
      <p:sp>
        <p:nvSpPr>
          <p:cNvPr id="5" name="Text 3"/>
          <p:cNvSpPr txBox="1"/>
          <p:nvPr/>
        </p:nvSpPr>
        <p:spPr>
          <a:xfrm>
            <a:off x="777240" y="1965960"/>
            <a:ext cx="3108960" cy="29260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U.S.-incorporated entity, or U.S. citizen or permanent resident</a:t>
            </a:r>
            <a:endParaRPr lang="en-US" sz="1400" dirty="0"/>
          </a:p>
          <a:p>
            <a:pPr marL="177800" indent="-177800">
              <a:spcAft>
                <a:spcPts val="600"/>
              </a:spcAft>
              <a:buSzPct val="100000"/>
              <a:buChar char="•"/>
            </a:pPr>
            <a:r>
              <a:rPr lang="en-US" sz="1250" dirty="0">
                <a:solidFill>
                  <a:schemeClr val="tx1"/>
                </a:solidFill>
              </a:rPr>
              <a:t>Not a federal entity or federal employee acting in that role</a:t>
            </a:r>
            <a:endParaRPr lang="en-US" sz="1400" dirty="0"/>
          </a:p>
          <a:p>
            <a:pPr marL="177800" indent="-177800">
              <a:spcAft>
                <a:spcPts val="600"/>
              </a:spcAft>
              <a:buSzPct val="100000"/>
              <a:buChar char="•"/>
            </a:pPr>
            <a:r>
              <a:rPr lang="en-US" sz="1250" dirty="0">
                <a:solidFill>
                  <a:schemeClr val="tx1"/>
                </a:solidFill>
              </a:rPr>
              <a:t>Not an NSF employee acting personally</a:t>
            </a:r>
            <a:endParaRPr lang="en-US" sz="1400" dirty="0"/>
          </a:p>
          <a:p>
            <a:pPr marL="177800" indent="-177800">
              <a:spcAft>
                <a:spcPts val="600"/>
              </a:spcAft>
              <a:buSzPct val="100000"/>
              <a:buChar char="•"/>
            </a:pPr>
            <a:r>
              <a:rPr lang="en-US" sz="1250" dirty="0">
                <a:solidFill>
                  <a:schemeClr val="tx1"/>
                </a:solidFill>
              </a:rPr>
              <a:t>Other federal employees consult their ethics official</a:t>
            </a:r>
            <a:endParaRPr lang="en-US" sz="1400" dirty="0"/>
          </a:p>
        </p:txBody>
      </p:sp>
      <p:sp>
        <p:nvSpPr>
          <p:cNvPr id="6" name="comply-2"/>
          <p:cNvSpPr/>
          <p:nvPr/>
        </p:nvSpPr>
        <p:spPr>
          <a:xfrm>
            <a:off x="4297680" y="1371600"/>
            <a:ext cx="3520440" cy="3611880"/>
          </a:xfrm>
          <a:prstGeom prst="roundRect">
            <a:avLst>
              <a:gd name="adj" fmla="val 2078"/>
            </a:avLst>
          </a:prstGeom>
          <a:solidFill>
            <a:schemeClr val="tx2"/>
          </a:solidFill>
          <a:ln w="9525">
            <a:solidFill>
              <a:schemeClr val="tx2"/>
            </a:solidFill>
            <a:prstDash val="solid"/>
          </a:ln>
        </p:spPr>
      </p:sp>
      <p:sp>
        <p:nvSpPr>
          <p:cNvPr id="7" name="Text 5"/>
          <p:cNvSpPr txBox="1"/>
          <p:nvPr/>
        </p:nvSpPr>
        <p:spPr>
          <a:xfrm>
            <a:off x="4526280" y="1508760"/>
            <a:ext cx="3108960" cy="365760"/>
          </a:xfrm>
          <a:prstGeom prst="rect">
            <a:avLst/>
          </a:prstGeom>
          <a:noFill/>
          <a:ln/>
        </p:spPr>
        <p:txBody>
          <a:bodyPr wrap="square" lIns="0" tIns="0" rIns="0" bIns="0" rtlCol="0" anchor="t"/>
          <a:lstStyle/>
          <a:p>
            <a:pPr indent="0" marL="0">
              <a:buNone/>
            </a:pPr>
            <a:r>
              <a:rPr lang="en-US" sz="1500" b="1" dirty="0">
                <a:solidFill>
                  <a:schemeClr val="bg1"/>
                </a:solidFill>
              </a:rPr>
              <a:t>Participation agreement</a:t>
            </a:r>
            <a:endParaRPr lang="en-US" sz="1500" dirty="0"/>
          </a:p>
        </p:txBody>
      </p:sp>
      <p:sp>
        <p:nvSpPr>
          <p:cNvPr id="8" name="Text 6"/>
          <p:cNvSpPr txBox="1"/>
          <p:nvPr/>
        </p:nvSpPr>
        <p:spPr>
          <a:xfrm>
            <a:off x="4526280" y="1965960"/>
            <a:ext cx="3108960" cy="29260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bg1"/>
                </a:solidFill>
              </a:rPr>
              <a:t>Indemnify the government against third-party claims</a:t>
            </a:r>
            <a:endParaRPr lang="en-US" sz="1400" dirty="0"/>
          </a:p>
          <a:p>
            <a:pPr marL="177800" indent="-177800">
              <a:spcAft>
                <a:spcPts val="600"/>
              </a:spcAft>
              <a:buSzPct val="100000"/>
              <a:buChar char="•"/>
            </a:pPr>
            <a:r>
              <a:rPr lang="en-US" sz="1250" dirty="0">
                <a:solidFill>
                  <a:schemeClr val="bg1"/>
                </a:solidFill>
              </a:rPr>
              <a:t>Liability insurance, if NSF requires it</a:t>
            </a:r>
            <a:endParaRPr lang="en-US" sz="1400" dirty="0"/>
          </a:p>
          <a:p>
            <a:pPr marL="177800" indent="-177800">
              <a:spcAft>
                <a:spcPts val="600"/>
              </a:spcAft>
              <a:buSzPct val="100000"/>
              <a:buChar char="•"/>
            </a:pPr>
            <a:r>
              <a:rPr lang="en-US" sz="1250" dirty="0">
                <a:solidFill>
                  <a:schemeClr val="bg1"/>
                </a:solidFill>
              </a:rPr>
              <a:t>IP remains with participants</a:t>
            </a:r>
            <a:endParaRPr lang="en-US" sz="1400" dirty="0"/>
          </a:p>
          <a:p>
            <a:pPr marL="177800" indent="-177800">
              <a:spcAft>
                <a:spcPts val="600"/>
              </a:spcAft>
              <a:buSzPct val="100000"/>
              <a:buChar char="•"/>
            </a:pPr>
            <a:r>
              <a:rPr lang="en-US" sz="1250" dirty="0">
                <a:solidFill>
                  <a:schemeClr val="bg1"/>
                </a:solidFill>
              </a:rPr>
              <a:t>NSF research security certification (DCL 26-022)</a:t>
            </a:r>
            <a:endParaRPr lang="en-US" sz="1400" dirty="0"/>
          </a:p>
          <a:p>
            <a:pPr marL="177800" indent="-177800">
              <a:spcAft>
                <a:spcPts val="600"/>
              </a:spcAft>
              <a:buSzPct val="100000"/>
              <a:buChar char="•"/>
            </a:pPr>
            <a:r>
              <a:rPr lang="en-US" sz="1250" dirty="0">
                <a:solidFill>
                  <a:schemeClr val="bg1"/>
                </a:solidFill>
              </a:rPr>
              <a:t>Privacy Act notice</a:t>
            </a:r>
            <a:endParaRPr lang="en-US" sz="1400" dirty="0"/>
          </a:p>
        </p:txBody>
      </p:sp>
      <p:sp>
        <p:nvSpPr>
          <p:cNvPr id="9" name="comply-3"/>
          <p:cNvSpPr/>
          <p:nvPr/>
        </p:nvSpPr>
        <p:spPr>
          <a:xfrm>
            <a:off x="8046720" y="1371600"/>
            <a:ext cx="3520440" cy="3611880"/>
          </a:xfrm>
          <a:prstGeom prst="roundRect">
            <a:avLst>
              <a:gd name="adj" fmla="val 2078"/>
            </a:avLst>
          </a:prstGeom>
          <a:solidFill>
            <a:schemeClr val="bg2"/>
          </a:solidFill>
          <a:ln w="9525">
            <a:solidFill>
              <a:schemeClr val="bg2"/>
            </a:solidFill>
            <a:prstDash val="solid"/>
          </a:ln>
        </p:spPr>
      </p:sp>
      <p:sp>
        <p:nvSpPr>
          <p:cNvPr id="10" name="Text 8"/>
          <p:cNvSpPr txBox="1"/>
          <p:nvPr/>
        </p:nvSpPr>
        <p:spPr>
          <a:xfrm>
            <a:off x="8275320" y="1508760"/>
            <a:ext cx="3108960" cy="365760"/>
          </a:xfrm>
          <a:prstGeom prst="rect">
            <a:avLst/>
          </a:prstGeom>
          <a:noFill/>
          <a:ln/>
        </p:spPr>
        <p:txBody>
          <a:bodyPr wrap="square" lIns="0" tIns="0" rIns="0" bIns="0" rtlCol="0" anchor="t"/>
          <a:lstStyle/>
          <a:p>
            <a:pPr indent="0" marL="0">
              <a:buNone/>
            </a:pPr>
            <a:r>
              <a:rPr lang="en-US" sz="1500" b="1" dirty="0">
                <a:solidFill>
                  <a:schemeClr val="tx2"/>
                </a:solidFill>
              </a:rPr>
              <a:t>NSF-format documents</a:t>
            </a:r>
            <a:endParaRPr lang="en-US" sz="1500" dirty="0"/>
          </a:p>
        </p:txBody>
      </p:sp>
      <p:sp>
        <p:nvSpPr>
          <p:cNvPr id="11" name="Text 9"/>
          <p:cNvSpPr txBox="1"/>
          <p:nvPr/>
        </p:nvSpPr>
        <p:spPr>
          <a:xfrm>
            <a:off x="8275320" y="1965960"/>
            <a:ext cx="3108960" cy="29260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Biographical sketch in SciENcv format</a:t>
            </a:r>
            <a:endParaRPr lang="en-US" sz="1400" dirty="0"/>
          </a:p>
          <a:p>
            <a:pPr marL="177800" indent="-177800">
              <a:spcAft>
                <a:spcPts val="600"/>
              </a:spcAft>
              <a:buSzPct val="100000"/>
              <a:buChar char="•"/>
            </a:pPr>
            <a:r>
              <a:rPr lang="en-US" sz="1250" dirty="0">
                <a:solidFill>
                  <a:schemeClr val="tx1"/>
                </a:solidFill>
              </a:rPr>
              <a:t>Current and Pending (Other) Support</a:t>
            </a:r>
            <a:endParaRPr lang="en-US" sz="1400" dirty="0"/>
          </a:p>
          <a:p>
            <a:pPr marL="177800" indent="-177800">
              <a:spcAft>
                <a:spcPts val="600"/>
              </a:spcAft>
              <a:buSzPct val="100000"/>
              <a:buChar char="•"/>
            </a:pPr>
            <a:r>
              <a:rPr lang="en-US" sz="1250" dirty="0">
                <a:solidFill>
                  <a:schemeClr val="tx1"/>
                </a:solidFill>
              </a:rPr>
              <a:t>Collaborators and Other Affiliations</a:t>
            </a:r>
            <a:endParaRPr lang="en-US" sz="1400" dirty="0"/>
          </a:p>
          <a:p>
            <a:pPr marL="177800" indent="-177800">
              <a:spcAft>
                <a:spcPts val="600"/>
              </a:spcAft>
              <a:buSzPct val="100000"/>
              <a:buChar char="•"/>
            </a:pPr>
            <a:r>
              <a:rPr lang="en-US" sz="1250" dirty="0">
                <a:solidFill>
                  <a:schemeClr val="tx1"/>
                </a:solidFill>
              </a:rPr>
              <a:t>Tip: first-time NSF applicants will need a short guide and office hours</a:t>
            </a:r>
            <a:endParaRPr lang="en-US" sz="1400" dirty="0"/>
          </a:p>
        </p:txBody>
      </p:sp>
      <p:sp>
        <p:nvSpPr>
          <p:cNvPr id="12" name="Text 10"/>
          <p:cNvSpPr txBox="1"/>
          <p:nvPr/>
        </p:nvSpPr>
        <p:spPr>
          <a:xfrm>
            <a:off x="548640" y="5212080"/>
            <a:ext cx="11064240" cy="411480"/>
          </a:xfrm>
          <a:prstGeom prst="rect">
            <a:avLst/>
          </a:prstGeom>
          <a:noFill/>
          <a:ln/>
        </p:spPr>
        <p:txBody>
          <a:bodyPr wrap="square" lIns="0" tIns="0" rIns="0" bIns="0" rtlCol="0" anchor="t"/>
          <a:lstStyle/>
          <a:p>
            <a:pPr indent="0" marL="0">
              <a:buNone/>
            </a:pPr>
            <a:r>
              <a:rPr lang="en-US" sz="1350" b="1" dirty="0">
                <a:solidFill>
                  <a:schemeClr val="accent2"/>
                </a:solidFill>
              </a:rPr>
              <a:t>Hard date: </a:t>
            </a:r>
            <a:pPr indent="0" marL="0">
              <a:buNone/>
            </a:pPr>
            <a:r>
              <a:rPr lang="en-US" sz="1350" dirty="0">
                <a:solidFill>
                  <a:schemeClr val="tx1"/>
                </a:solidFill>
              </a:rPr>
              <a:t>winners verified, paid through the administrator, and all Phase 1 solutions delivered to NSF by May 20, 2027.</a:t>
            </a:r>
            <a:endParaRPr lang="en-US" sz="1350" dirty="0"/>
          </a:p>
        </p:txBody>
      </p:sp>
      <p:sp>
        <p:nvSpPr>
          <p:cNvPr id="13" name="Text 11"/>
          <p:cNvSpPr txBox="1"/>
          <p:nvPr/>
        </p:nvSpPr>
        <p:spPr>
          <a:xfrm>
            <a:off x="548640" y="5989320"/>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RFTP NOIS3-085 §2.1.2.2, §2.1.6.1–2.1.6.2, §3.1. Participation is limited to the U.S.</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Adopt: three things must be true before launch for Phase 2 pairings to succeed</a:t>
            </a:r>
            <a:endParaRPr lang="en-US" sz="2800" dirty="0"/>
          </a:p>
        </p:txBody>
      </p:sp>
      <p:sp>
        <p:nvSpPr>
          <p:cNvPr id="3" name="Shape 1"/>
          <p:cNvSpPr/>
          <p:nvPr/>
        </p:nvSpPr>
        <p:spPr>
          <a:xfrm>
            <a:off x="548640" y="1527048"/>
            <a:ext cx="594360" cy="594360"/>
          </a:xfrm>
          <a:prstGeom prst="ellipse">
            <a:avLst/>
          </a:prstGeom>
          <a:solidFill>
            <a:schemeClr val="accent2"/>
          </a:solidFill>
          <a:ln w="12700">
            <a:solidFill>
              <a:schemeClr val="accent2"/>
            </a:solidFill>
            <a:prstDash val="solid"/>
          </a:ln>
        </p:spPr>
      </p:sp>
      <p:sp>
        <p:nvSpPr>
          <p:cNvPr id="4" name="Text 2"/>
          <p:cNvSpPr txBox="1"/>
          <p:nvPr/>
        </p:nvSpPr>
        <p:spPr>
          <a:xfrm>
            <a:off x="548640" y="1527048"/>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325880" y="1417320"/>
            <a:ext cx="5669280" cy="41148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Problems are visible early</a:t>
            </a:r>
            <a:endParaRPr lang="en-US" sz="1600" dirty="0"/>
          </a:p>
        </p:txBody>
      </p:sp>
      <p:sp>
        <p:nvSpPr>
          <p:cNvPr id="6" name="Text 4"/>
          <p:cNvSpPr txBox="1"/>
          <p:nvPr/>
        </p:nvSpPr>
        <p:spPr>
          <a:xfrm>
            <a:off x="1325880" y="1828800"/>
            <a:ext cx="5669280" cy="685800"/>
          </a:xfrm>
          <a:prstGeom prst="rect">
            <a:avLst/>
          </a:prstGeom>
          <a:noFill/>
          <a:ln/>
        </p:spPr>
        <p:txBody>
          <a:bodyPr wrap="square" lIns="0" tIns="0" rIns="0" bIns="0" rtlCol="0" anchor="t"/>
          <a:lstStyle/>
          <a:p>
            <a:pPr indent="0" marL="0">
              <a:buNone/>
            </a:pPr>
            <a:r>
              <a:rPr lang="en-US" sz="1300" dirty="0">
                <a:solidFill>
                  <a:schemeClr val="tx1"/>
                </a:solidFill>
              </a:rPr>
              <a:t>Collaborators' problem areas are published at launch, so Phase 1 teams can aim at them.</a:t>
            </a:r>
            <a:endParaRPr lang="en-US" sz="1300" dirty="0"/>
          </a:p>
        </p:txBody>
      </p:sp>
      <p:sp>
        <p:nvSpPr>
          <p:cNvPr id="7" name="Shape 5"/>
          <p:cNvSpPr/>
          <p:nvPr/>
        </p:nvSpPr>
        <p:spPr>
          <a:xfrm>
            <a:off x="548640" y="2715768"/>
            <a:ext cx="594360" cy="594360"/>
          </a:xfrm>
          <a:prstGeom prst="ellipse">
            <a:avLst/>
          </a:prstGeom>
          <a:solidFill>
            <a:schemeClr val="accent2"/>
          </a:solidFill>
          <a:ln w="12700">
            <a:solidFill>
              <a:schemeClr val="accent2"/>
            </a:solidFill>
            <a:prstDash val="solid"/>
          </a:ln>
        </p:spPr>
      </p:sp>
      <p:sp>
        <p:nvSpPr>
          <p:cNvPr id="8" name="Text 6"/>
          <p:cNvSpPr txBox="1"/>
          <p:nvPr/>
        </p:nvSpPr>
        <p:spPr>
          <a:xfrm>
            <a:off x="548640" y="2715768"/>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1325880" y="2606040"/>
            <a:ext cx="5669280" cy="41148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Capacity matches the winner count</a:t>
            </a:r>
            <a:endParaRPr lang="en-US" sz="1600" dirty="0"/>
          </a:p>
        </p:txBody>
      </p:sp>
      <p:sp>
        <p:nvSpPr>
          <p:cNvPr id="10" name="Text 8"/>
          <p:cNvSpPr txBox="1"/>
          <p:nvPr/>
        </p:nvSpPr>
        <p:spPr>
          <a:xfrm>
            <a:off x="1325880" y="3017520"/>
            <a:ext cx="5669280" cy="685800"/>
          </a:xfrm>
          <a:prstGeom prst="rect">
            <a:avLst/>
          </a:prstGeom>
          <a:noFill/>
          <a:ln/>
        </p:spPr>
        <p:txBody>
          <a:bodyPr wrap="square" lIns="0" tIns="0" rIns="0" bIns="0" rtlCol="0" anchor="t"/>
          <a:lstStyle/>
          <a:p>
            <a:pPr indent="0" marL="0">
              <a:buNone/>
            </a:pPr>
            <a:r>
              <a:rPr lang="en-US" sz="1300" dirty="0">
                <a:solidFill>
                  <a:schemeClr val="tx1"/>
                </a:solidFill>
              </a:rPr>
              <a:t>Each collaborator knows how many teams it can pair with, and what data, compute or hardware it can offer.</a:t>
            </a:r>
            <a:endParaRPr lang="en-US" sz="1300" dirty="0"/>
          </a:p>
        </p:txBody>
      </p:sp>
      <p:sp>
        <p:nvSpPr>
          <p:cNvPr id="11" name="Shape 9"/>
          <p:cNvSpPr/>
          <p:nvPr/>
        </p:nvSpPr>
        <p:spPr>
          <a:xfrm>
            <a:off x="548640" y="3904488"/>
            <a:ext cx="594360" cy="594360"/>
          </a:xfrm>
          <a:prstGeom prst="ellipse">
            <a:avLst/>
          </a:prstGeom>
          <a:solidFill>
            <a:schemeClr val="accent2"/>
          </a:solidFill>
          <a:ln w="12700">
            <a:solidFill>
              <a:schemeClr val="accent2"/>
            </a:solidFill>
            <a:prstDash val="solid"/>
          </a:ln>
        </p:spPr>
      </p:sp>
      <p:sp>
        <p:nvSpPr>
          <p:cNvPr id="12" name="Text 10"/>
          <p:cNvSpPr txBox="1"/>
          <p:nvPr/>
        </p:nvSpPr>
        <p:spPr>
          <a:xfrm>
            <a:off x="548640" y="3904488"/>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1325880" y="3794760"/>
            <a:ext cx="5669280" cy="41148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The pairing path is clear</a:t>
            </a:r>
            <a:endParaRPr lang="en-US" sz="1600" dirty="0"/>
          </a:p>
        </p:txBody>
      </p:sp>
      <p:sp>
        <p:nvSpPr>
          <p:cNvPr id="14" name="Text 12"/>
          <p:cNvSpPr txBox="1"/>
          <p:nvPr/>
        </p:nvSpPr>
        <p:spPr>
          <a:xfrm>
            <a:off x="1325880" y="4206240"/>
            <a:ext cx="5669280" cy="685800"/>
          </a:xfrm>
          <a:prstGeom prst="rect">
            <a:avLst/>
          </a:prstGeom>
          <a:noFill/>
          <a:ln/>
        </p:spPr>
        <p:txBody>
          <a:bodyPr wrap="square" lIns="0" tIns="0" rIns="0" bIns="0" rtlCol="0" anchor="t"/>
          <a:lstStyle/>
          <a:p>
            <a:pPr indent="0" marL="0">
              <a:buNone/>
            </a:pPr>
            <a:r>
              <a:rPr lang="en-US" sz="1300" dirty="0">
                <a:solidFill>
                  <a:schemeClr val="tx1"/>
                </a:solidFill>
              </a:rPr>
              <a:t>Winners know before they apply what Phase 2 involves: the pairing event, pilot, monitoring and any Phase 2 prize.</a:t>
            </a:r>
            <a:endParaRPr lang="en-US" sz="1300" dirty="0"/>
          </a:p>
        </p:txBody>
      </p:sp>
      <p:sp>
        <p:nvSpPr>
          <p:cNvPr id="15" name="phase2-flow"/>
          <p:cNvSpPr/>
          <p:nvPr/>
        </p:nvSpPr>
        <p:spPr>
          <a:xfrm>
            <a:off x="7315200" y="1371600"/>
            <a:ext cx="4297680" cy="4480560"/>
          </a:xfrm>
          <a:prstGeom prst="roundRect">
            <a:avLst>
              <a:gd name="adj" fmla="val 1702"/>
            </a:avLst>
          </a:prstGeom>
          <a:solidFill>
            <a:schemeClr val="bg2"/>
          </a:solidFill>
          <a:ln w="9525">
            <a:solidFill>
              <a:schemeClr val="bg2"/>
            </a:solidFill>
            <a:prstDash val="solid"/>
          </a:ln>
        </p:spPr>
      </p:sp>
      <p:sp>
        <p:nvSpPr>
          <p:cNvPr id="16" name="Text 14"/>
          <p:cNvSpPr txBox="1"/>
          <p:nvPr/>
        </p:nvSpPr>
        <p:spPr>
          <a:xfrm>
            <a:off x="7543800" y="1508760"/>
            <a:ext cx="3840480" cy="365760"/>
          </a:xfrm>
          <a:prstGeom prst="rect">
            <a:avLst/>
          </a:prstGeom>
          <a:noFill/>
          <a:ln/>
        </p:spPr>
        <p:txBody>
          <a:bodyPr wrap="square" lIns="0" tIns="0" rIns="0" bIns="0" rtlCol="0" anchor="t"/>
          <a:lstStyle/>
          <a:p>
            <a:pPr indent="0" marL="0">
              <a:buNone/>
            </a:pPr>
            <a:r>
              <a:rPr lang="en-US" sz="1500" b="1" dirty="0">
                <a:solidFill>
                  <a:schemeClr val="tx2"/>
                </a:solidFill>
              </a:rPr>
              <a:t>Phase 2 as written</a:t>
            </a:r>
            <a:endParaRPr lang="en-US" sz="1500" dirty="0"/>
          </a:p>
        </p:txBody>
      </p:sp>
      <p:sp>
        <p:nvSpPr>
          <p:cNvPr id="17" name="Shape 15"/>
          <p:cNvSpPr/>
          <p:nvPr/>
        </p:nvSpPr>
        <p:spPr>
          <a:xfrm>
            <a:off x="7543800" y="2039112"/>
            <a:ext cx="274320" cy="274320"/>
          </a:xfrm>
          <a:prstGeom prst="ellipse">
            <a:avLst/>
          </a:prstGeom>
          <a:solidFill>
            <a:schemeClr val="tx2"/>
          </a:solidFill>
          <a:ln w="12700">
            <a:solidFill>
              <a:schemeClr val="tx2"/>
            </a:solidFill>
            <a:prstDash val="solid"/>
          </a:ln>
        </p:spPr>
      </p:sp>
      <p:sp>
        <p:nvSpPr>
          <p:cNvPr id="18" name="Text 16"/>
          <p:cNvSpPr txBox="1"/>
          <p:nvPr/>
        </p:nvSpPr>
        <p:spPr>
          <a:xfrm>
            <a:off x="7955280" y="1965960"/>
            <a:ext cx="3520440" cy="685800"/>
          </a:xfrm>
          <a:prstGeom prst="rect">
            <a:avLst/>
          </a:prstGeom>
          <a:noFill/>
          <a:ln/>
        </p:spPr>
        <p:txBody>
          <a:bodyPr wrap="square" lIns="0" tIns="0" rIns="0" bIns="0" rtlCol="0" anchor="t"/>
          <a:lstStyle/>
          <a:p>
            <a:pPr indent="0" marL="0">
              <a:buNone/>
            </a:pPr>
            <a:r>
              <a:rPr lang="en-US" sz="1200" dirty="0">
                <a:solidFill>
                  <a:schemeClr val="tx1"/>
                </a:solidFill>
              </a:rPr>
              <a:t>In-person pairing event with pre-qualified partners (third-party host), 1–2 months after winners</a:t>
            </a:r>
            <a:endParaRPr lang="en-US" sz="1200" dirty="0"/>
          </a:p>
        </p:txBody>
      </p:sp>
      <p:sp>
        <p:nvSpPr>
          <p:cNvPr id="19" name="Shape 17"/>
          <p:cNvSpPr/>
          <p:nvPr/>
        </p:nvSpPr>
        <p:spPr>
          <a:xfrm>
            <a:off x="7543800" y="2798064"/>
            <a:ext cx="274320" cy="274320"/>
          </a:xfrm>
          <a:prstGeom prst="ellipse">
            <a:avLst/>
          </a:prstGeom>
          <a:solidFill>
            <a:schemeClr val="tx2"/>
          </a:solidFill>
          <a:ln w="12700">
            <a:solidFill>
              <a:schemeClr val="tx2"/>
            </a:solidFill>
            <a:prstDash val="solid"/>
          </a:ln>
        </p:spPr>
      </p:sp>
      <p:sp>
        <p:nvSpPr>
          <p:cNvPr id="20" name="Text 18"/>
          <p:cNvSpPr txBox="1"/>
          <p:nvPr/>
        </p:nvSpPr>
        <p:spPr>
          <a:xfrm>
            <a:off x="7955280" y="2724912"/>
            <a:ext cx="3520440" cy="685800"/>
          </a:xfrm>
          <a:prstGeom prst="rect">
            <a:avLst/>
          </a:prstGeom>
          <a:noFill/>
          <a:ln/>
        </p:spPr>
        <p:txBody>
          <a:bodyPr wrap="square" lIns="0" tIns="0" rIns="0" bIns="0" rtlCol="0" anchor="t"/>
          <a:lstStyle/>
          <a:p>
            <a:pPr indent="0" marL="0">
              <a:buNone/>
            </a:pPr>
            <a:r>
              <a:rPr lang="en-US" sz="1200" dirty="0">
                <a:solidFill>
                  <a:schemeClr val="tx1"/>
                </a:solidFill>
              </a:rPr>
              <a:t>Joint solution design with the industry partner</a:t>
            </a:r>
            <a:endParaRPr lang="en-US" sz="1200" dirty="0"/>
          </a:p>
        </p:txBody>
      </p:sp>
      <p:sp>
        <p:nvSpPr>
          <p:cNvPr id="21" name="Shape 19"/>
          <p:cNvSpPr/>
          <p:nvPr/>
        </p:nvSpPr>
        <p:spPr>
          <a:xfrm>
            <a:off x="7543800" y="3557016"/>
            <a:ext cx="274320" cy="274320"/>
          </a:xfrm>
          <a:prstGeom prst="ellipse">
            <a:avLst/>
          </a:prstGeom>
          <a:solidFill>
            <a:schemeClr val="tx2"/>
          </a:solidFill>
          <a:ln w="12700">
            <a:solidFill>
              <a:schemeClr val="tx2"/>
            </a:solidFill>
            <a:prstDash val="solid"/>
          </a:ln>
        </p:spPr>
      </p:sp>
      <p:sp>
        <p:nvSpPr>
          <p:cNvPr id="22" name="Text 20"/>
          <p:cNvSpPr txBox="1"/>
          <p:nvPr/>
        </p:nvSpPr>
        <p:spPr>
          <a:xfrm>
            <a:off x="7955280" y="3483864"/>
            <a:ext cx="3520440" cy="685800"/>
          </a:xfrm>
          <a:prstGeom prst="rect">
            <a:avLst/>
          </a:prstGeom>
          <a:noFill/>
          <a:ln/>
        </p:spPr>
        <p:txBody>
          <a:bodyPr wrap="square" lIns="0" tIns="0" rIns="0" bIns="0" rtlCol="0" anchor="t"/>
          <a:lstStyle/>
          <a:p>
            <a:pPr indent="0" marL="0">
              <a:buNone/>
            </a:pPr>
            <a:r>
              <a:rPr lang="en-US" sz="1200" dirty="0">
                <a:solidFill>
                  <a:schemeClr val="tx1"/>
                </a:solidFill>
              </a:rPr>
              <a:t>About six months of piloting</a:t>
            </a:r>
            <a:endParaRPr lang="en-US" sz="1200" dirty="0"/>
          </a:p>
        </p:txBody>
      </p:sp>
      <p:sp>
        <p:nvSpPr>
          <p:cNvPr id="23" name="Shape 21"/>
          <p:cNvSpPr/>
          <p:nvPr/>
        </p:nvSpPr>
        <p:spPr>
          <a:xfrm>
            <a:off x="7543800" y="4315968"/>
            <a:ext cx="274320" cy="274320"/>
          </a:xfrm>
          <a:prstGeom prst="ellipse">
            <a:avLst/>
          </a:prstGeom>
          <a:solidFill>
            <a:schemeClr val="tx2"/>
          </a:solidFill>
          <a:ln w="12700">
            <a:solidFill>
              <a:schemeClr val="tx2"/>
            </a:solidFill>
            <a:prstDash val="solid"/>
          </a:ln>
        </p:spPr>
      </p:sp>
      <p:sp>
        <p:nvSpPr>
          <p:cNvPr id="24" name="Text 22"/>
          <p:cNvSpPr txBox="1"/>
          <p:nvPr/>
        </p:nvSpPr>
        <p:spPr>
          <a:xfrm>
            <a:off x="7955280" y="4242816"/>
            <a:ext cx="3520440" cy="685800"/>
          </a:xfrm>
          <a:prstGeom prst="rect">
            <a:avLst/>
          </a:prstGeom>
          <a:noFill/>
          <a:ln/>
        </p:spPr>
        <p:txBody>
          <a:bodyPr wrap="square" lIns="0" tIns="0" rIns="0" bIns="0" rtlCol="0" anchor="t"/>
          <a:lstStyle/>
          <a:p>
            <a:pPr indent="0" marL="0">
              <a:buNone/>
            </a:pPr>
            <a:r>
              <a:rPr lang="en-US" sz="1200" dirty="0">
                <a:solidFill>
                  <a:schemeClr val="tx1"/>
                </a:solidFill>
              </a:rPr>
              <a:t>About nine months of refinement, implementation and monitoring</a:t>
            </a:r>
            <a:endParaRPr lang="en-US" sz="1200" dirty="0"/>
          </a:p>
        </p:txBody>
      </p:sp>
      <p:sp>
        <p:nvSpPr>
          <p:cNvPr id="25" name="Shape 23"/>
          <p:cNvSpPr/>
          <p:nvPr/>
        </p:nvSpPr>
        <p:spPr>
          <a:xfrm>
            <a:off x="7543800" y="5074920"/>
            <a:ext cx="274320" cy="274320"/>
          </a:xfrm>
          <a:prstGeom prst="ellipse">
            <a:avLst/>
          </a:prstGeom>
          <a:solidFill>
            <a:schemeClr val="accent4"/>
          </a:solidFill>
          <a:ln w="12700">
            <a:solidFill>
              <a:schemeClr val="accent4"/>
            </a:solidFill>
            <a:prstDash val="solid"/>
          </a:ln>
        </p:spPr>
      </p:sp>
      <p:sp>
        <p:nvSpPr>
          <p:cNvPr id="26" name="Text 24"/>
          <p:cNvSpPr txBox="1"/>
          <p:nvPr/>
        </p:nvSpPr>
        <p:spPr>
          <a:xfrm>
            <a:off x="7955280" y="5001768"/>
            <a:ext cx="3520440" cy="685800"/>
          </a:xfrm>
          <a:prstGeom prst="rect">
            <a:avLst/>
          </a:prstGeom>
          <a:noFill/>
          <a:ln/>
        </p:spPr>
        <p:txBody>
          <a:bodyPr wrap="square" lIns="0" tIns="0" rIns="0" bIns="0" rtlCol="0" anchor="t"/>
          <a:lstStyle/>
          <a:p>
            <a:pPr indent="0" marL="0">
              <a:buNone/>
            </a:pPr>
            <a:r>
              <a:rPr lang="en-US" sz="1200" dirty="0">
                <a:solidFill>
                  <a:schemeClr val="tx1"/>
                </a:solidFill>
              </a:rPr>
              <a:t>Virtual status webinar at the midpoint</a:t>
            </a:r>
            <a:endParaRPr lang="en-US" sz="1200" dirty="0"/>
          </a:p>
        </p:txBody>
      </p:sp>
      <p:sp>
        <p:nvSpPr>
          <p:cNvPr id="27" name="Text 25"/>
          <p:cNvSpPr txBox="1"/>
          <p:nvPr/>
        </p:nvSpPr>
        <p:spPr>
          <a:xfrm>
            <a:off x="548640" y="5029200"/>
            <a:ext cx="6492240" cy="731520"/>
          </a:xfrm>
          <a:prstGeom prst="rect">
            <a:avLst/>
          </a:prstGeom>
          <a:noFill/>
          <a:ln/>
        </p:spPr>
        <p:txBody>
          <a:bodyPr wrap="square" lIns="0" tIns="0" rIns="0" bIns="0" rtlCol="0" anchor="t"/>
          <a:lstStyle/>
          <a:p>
            <a:pPr indent="0" marL="0">
              <a:buNone/>
            </a:pPr>
            <a:r>
              <a:rPr lang="en-US" sz="1250" i="1" dirty="0">
                <a:solidFill>
                  <a:schemeClr val="accent5"/>
                </a:solidFill>
              </a:rPr>
              <a:t>IP remains with participants, so collaborators and teams agree their own terms for Phase 2 work.</a:t>
            </a:r>
            <a:endParaRPr lang="en-US" sz="1250" dirty="0"/>
          </a:p>
        </p:txBody>
      </p:sp>
      <p:sp>
        <p:nvSpPr>
          <p:cNvPr id="28" name="Text 26"/>
          <p:cNvSpPr txBox="1"/>
          <p:nvPr/>
        </p:nvSpPr>
        <p:spPr>
          <a:xfrm>
            <a:off x="548640" y="5989320"/>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RFTP NOIS3-085 §1.3 (Phase 2), §2.1.4 (industry collaborators), §2.1.6.1.3 (IP).</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we ask of the industry collaborators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834640"/>
                <a:gridCol w="5852160"/>
                <a:gridCol w="2377440"/>
              </a:tblGrid>
              <a:tr h="0">
                <a:tc>
                  <a:txBody>
                    <a:bodyPr/>
                    <a:lstStyle/>
                    <a:p>
                      <a:pPr indent="0" marL="0">
                        <a:buNone/>
                      </a:pPr>
                      <a:r>
                        <a:rPr lang="en-US" sz="1550" b="1" dirty="0">
                          <a:solidFill>
                            <a:schemeClr val="bg1"/>
                          </a:solidFill>
                        </a:rPr>
                        <a:t>Ask</a:t>
                      </a:r>
                      <a:endParaRPr lang="en-US" sz="15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c>
                  <a:txBody>
                    <a:bodyPr/>
                    <a:lstStyle/>
                    <a:p>
                      <a:pPr indent="0" marL="0">
                        <a:buNone/>
                      </a:pPr>
                      <a:r>
                        <a:rPr lang="en-US" sz="1550" b="1" dirty="0">
                          <a:solidFill>
                            <a:schemeClr val="bg1"/>
                          </a:solidFill>
                        </a:rPr>
                        <a:t>What it involves</a:t>
                      </a:r>
                      <a:endParaRPr lang="en-US" sz="15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c>
                  <a:txBody>
                    <a:bodyPr/>
                    <a:lstStyle/>
                    <a:p>
                      <a:pPr indent="0" marL="0">
                        <a:buNone/>
                      </a:pPr>
                      <a:r>
                        <a:rPr lang="en-US" sz="1550" b="1" dirty="0">
                          <a:solidFill>
                            <a:schemeClr val="bg1"/>
                          </a:solidFill>
                        </a:rPr>
                        <a:t>Needed by</a:t>
                      </a:r>
                      <a:endParaRPr lang="en-US" sz="15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r>
              <a:tr h="0">
                <a:tc>
                  <a:txBody>
                    <a:bodyPr/>
                    <a:lstStyle/>
                    <a:p>
                      <a:pPr indent="0" marL="0">
                        <a:buNone/>
                      </a:pPr>
                      <a:r>
                        <a:rPr lang="en-US" sz="1550" b="1" dirty="0">
                          <a:solidFill>
                            <a:schemeClr val="tx1"/>
                          </a:solidFill>
                        </a:rPr>
                        <a:t>1 · Phase 2 pairing capacity</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How many teams each company can take on, and what data, compute or hardware access it can offer</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Late October 2026</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r>
              <a:tr h="0">
                <a:tc>
                  <a:txBody>
                    <a:bodyPr/>
                    <a:lstStyle/>
                    <a:p>
                      <a:pPr indent="0" marL="0">
                        <a:buNone/>
                      </a:pPr>
                      <a:r>
                        <a:rPr lang="en-US" sz="1550" b="1" dirty="0">
                          <a:solidFill>
                            <a:schemeClr val="tx1"/>
                          </a:solidFill>
                        </a:rPr>
                        <a:t>2 · Use-case brief</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One page per company on a problem area, publishable at launch; anonymized is fine</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Mid-November 2026</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r>
              <a:tr h="0">
                <a:tc>
                  <a:txBody>
                    <a:bodyPr/>
                    <a:lstStyle/>
                    <a:p>
                      <a:pPr indent="0" marL="0">
                        <a:buNone/>
                      </a:pPr>
                      <a:r>
                        <a:rPr lang="en-US" sz="1550" b="1" dirty="0">
                          <a:solidFill>
                            <a:schemeClr val="tx1"/>
                          </a:solidFill>
                        </a:rPr>
                        <a:t>3 · Webinar speakers</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Speakers for the three third-party-hosted collaborator webinars</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December 2026–March 2027</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r>
              <a:tr h="0">
                <a:tc>
                  <a:txBody>
                    <a:bodyPr/>
                    <a:lstStyle/>
                    <a:p>
                      <a:pPr indent="0" marL="0">
                        <a:buNone/>
                      </a:pPr>
                      <a:r>
                        <a:rPr lang="en-US" sz="1550" b="1" dirty="0">
                          <a:solidFill>
                            <a:schemeClr val="tx1"/>
                          </a:solidFill>
                        </a:rPr>
                        <a:t>4 · Amplification</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Share the launch through developer communities, partner networks and social channels</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Early December 2026</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r>
              <a:tr h="0">
                <a:tc>
                  <a:txBody>
                    <a:bodyPr/>
                    <a:lstStyle/>
                    <a:p>
                      <a:pPr indent="0" marL="0">
                        <a:buNone/>
                      </a:pPr>
                      <a:r>
                        <a:rPr lang="en-US" sz="1550" b="1" dirty="0">
                          <a:solidFill>
                            <a:schemeClr val="tx1"/>
                          </a:solidFill>
                        </a:rPr>
                        <a:t>5 · Judges</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Nominate technical reviewers (subject to FAR 52.225-5 and conflict-of-interest rules)</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January 2027, before training</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Dates work back from rules entering NSF review in November and launch in the first week of December 2026. RFTP NOIS3-085 §2.1.4, §2.1.5.2.1.</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Decisions we need from NSF to keep the December launch</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5760720"/>
                <a:gridCol w="2377440"/>
              </a:tblGrid>
              <a:tr h="0">
                <a:tc>
                  <a:txBody>
                    <a:bodyPr/>
                    <a:lstStyle/>
                    <a:p>
                      <a:pPr indent="0" marL="0">
                        <a:buNone/>
                      </a:pPr>
                      <a:r>
                        <a:rPr lang="en-US" sz="1550" b="1" dirty="0">
                          <a:solidFill>
                            <a:schemeClr val="bg1"/>
                          </a:solidFill>
                        </a:rPr>
                        <a:t>Decision</a:t>
                      </a:r>
                      <a:endParaRPr lang="en-US" sz="15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c>
                  <a:txBody>
                    <a:bodyPr/>
                    <a:lstStyle/>
                    <a:p>
                      <a:pPr indent="0" marL="0">
                        <a:buNone/>
                      </a:pPr>
                      <a:r>
                        <a:rPr lang="en-US" sz="1550" b="1" dirty="0">
                          <a:solidFill>
                            <a:schemeClr val="bg1"/>
                          </a:solidFill>
                        </a:rPr>
                        <a:t>Options or input</a:t>
                      </a:r>
                      <a:endParaRPr lang="en-US" sz="15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c>
                  <a:txBody>
                    <a:bodyPr/>
                    <a:lstStyle/>
                    <a:p>
                      <a:pPr indent="0" marL="0">
                        <a:buNone/>
                      </a:pPr>
                      <a:r>
                        <a:rPr lang="en-US" sz="1550" b="1" dirty="0">
                          <a:solidFill>
                            <a:schemeClr val="bg1"/>
                          </a:solidFill>
                        </a:rPr>
                        <a:t>Needed by</a:t>
                      </a:r>
                      <a:endParaRPr lang="en-US" sz="1550" dirty="0"/>
                    </a:p>
                  </a:txBody>
                  <a:tcPr marL="76200" marR="76200" marT="50800" marB="50800" anchor="ctr">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tx2"/>
                    </a:solidFill>
                  </a:tcPr>
                </a:tc>
              </a:tr>
              <a:tr h="0">
                <a:tc>
                  <a:txBody>
                    <a:bodyPr/>
                    <a:lstStyle/>
                    <a:p>
                      <a:pPr indent="0" marL="0">
                        <a:buNone/>
                      </a:pPr>
                      <a:r>
                        <a:rPr lang="en-US" sz="1550" b="1" dirty="0">
                          <a:solidFill>
                            <a:schemeClr val="tx1"/>
                          </a:solidFill>
                        </a:rPr>
                        <a:t>Use-case scope</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Open sectors, or anchored to collaborator problem areas</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October 2026</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r>
              <a:tr h="0">
                <a:tc>
                  <a:txBody>
                    <a:bodyPr/>
                    <a:lstStyle/>
                    <a:p>
                      <a:pPr indent="0" marL="0">
                        <a:buNone/>
                      </a:pPr>
                      <a:r>
                        <a:rPr lang="en-US" sz="1550" b="1" dirty="0">
                          <a:solidFill>
                            <a:schemeClr val="tx1"/>
                          </a:solidFill>
                        </a:rPr>
                        <a:t>Prize structure and winner count</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Option A, B or C, informed by collaborators' pairing capacity</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Early November 2026</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r>
              <a:tr h="0">
                <a:tc>
                  <a:txBody>
                    <a:bodyPr/>
                    <a:lstStyle/>
                    <a:p>
                      <a:pPr indent="0" marL="0">
                        <a:buNone/>
                      </a:pPr>
                      <a:r>
                        <a:rPr lang="en-US" sz="1550" b="1" dirty="0">
                          <a:solidFill>
                            <a:schemeClr val="tx1"/>
                          </a:solidFill>
                        </a:rPr>
                        <a:t>Judging criteria and weights</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Four proposed dimensions, plus Phase 2 readiness; judge mix; industry conflict-of-interest rule</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November 2026</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r>
              <a:tr h="0">
                <a:tc>
                  <a:txBody>
                    <a:bodyPr/>
                    <a:lstStyle/>
                    <a:p>
                      <a:pPr indent="0" marL="0">
                        <a:buNone/>
                      </a:pPr>
                      <a:r>
                        <a:rPr lang="en-US" sz="1550" b="1" dirty="0">
                          <a:solidFill>
                            <a:schemeClr val="tx1"/>
                          </a:solidFill>
                        </a:rPr>
                        <a:t>Review calendar</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Two-week media review windows mapped to rules, site, launch and webinars</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October 2026</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r>
              <a:tr h="0">
                <a:tc>
                  <a:txBody>
                    <a:bodyPr/>
                    <a:lstStyle/>
                    <a:p>
                      <a:pPr indent="0" marL="0">
                        <a:buNone/>
                      </a:pPr>
                      <a:r>
                        <a:rPr lang="en-US" sz="1550" b="1" dirty="0">
                          <a:solidFill>
                            <a:schemeClr val="tx1"/>
                          </a:solidFill>
                        </a:rPr>
                        <a:t>$2M purse timing</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Decide before launch if possible, or confirm the rules can absorb a later increase</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Before launch</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1"/>
                    </a:solidFill>
                  </a:tcPr>
                </a:tc>
              </a:tr>
              <a:tr h="0">
                <a:tc>
                  <a:txBody>
                    <a:bodyPr/>
                    <a:lstStyle/>
                    <a:p>
                      <a:pPr indent="0" marL="0">
                        <a:buNone/>
                      </a:pPr>
                      <a:r>
                        <a:rPr lang="en-US" sz="1550" b="1" dirty="0">
                          <a:solidFill>
                            <a:schemeClr val="tx1"/>
                          </a:solidFill>
                        </a:rPr>
                        <a:t>Phase 2 prize</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Size, number of prizes, and whether NSF or the administrator pays</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Before Phase 1 winners are announced</a:t>
                      </a:r>
                      <a:endParaRPr lang="en-US" sz="1550" dirty="0"/>
                    </a:p>
                  </a:txBody>
                  <a:tcPr marL="76200" marR="76200" marT="50800" marB="50800" anchor="t">
                    <a:lnL w="6350" cap="flat" cmpd="sng" algn="ctr">
                      <a:solidFill>
                        <a:srgbClr val="BFE0D8"/>
                      </a:solidFill>
                      <a:prstDash val="solid"/>
                      <a:round/>
                      <a:headEnd type="none" w="med" len="med"/>
                      <a:tailEnd type="none" w="med" len="med"/>
                    </a:lnL>
                    <a:lnR w="6350" cap="flat" cmpd="sng" algn="ctr">
                      <a:solidFill>
                        <a:srgbClr val="BFE0D8"/>
                      </a:solidFill>
                      <a:prstDash val="solid"/>
                      <a:round/>
                      <a:headEnd type="none" w="med" len="med"/>
                      <a:tailEnd type="none" w="med" len="med"/>
                    </a:lnR>
                    <a:lnT w="6350" cap="flat" cmpd="sng" algn="ctr">
                      <a:solidFill>
                        <a:srgbClr val="BFE0D8"/>
                      </a:solidFill>
                      <a:prstDash val="solid"/>
                      <a:round/>
                      <a:headEnd type="none" w="med" len="med"/>
                      <a:tailEnd type="none" w="med" len="med"/>
                    </a:lnT>
                    <a:lnB w="6350" cap="flat" cmpd="sng" algn="ctr">
                      <a:solidFill>
                        <a:srgbClr val="BFE0D8"/>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RFTP NOIS3-085 §1.3 (prize notes), §2.1.4.2.1 (media review), §2.1.5. Phase 2 prize and payer are undetermined in the RFTP.</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next 90 days: from today to launch</a:t>
            </a:r>
            <a:endParaRPr lang="en-US" sz="2800" dirty="0"/>
          </a:p>
        </p:txBody>
      </p:sp>
      <p:sp>
        <p:nvSpPr>
          <p:cNvPr id="3" name="Shape 1"/>
          <p:cNvSpPr/>
          <p:nvPr/>
        </p:nvSpPr>
        <p:spPr>
          <a:xfrm>
            <a:off x="548640" y="1417320"/>
            <a:ext cx="502920" cy="502920"/>
          </a:xfrm>
          <a:prstGeom prst="ellipse">
            <a:avLst/>
          </a:prstGeom>
          <a:solidFill>
            <a:schemeClr val="accent2"/>
          </a:solidFill>
          <a:ln w="12700">
            <a:solidFill>
              <a:schemeClr val="accent2"/>
            </a:solidFill>
            <a:prstDash val="solid"/>
          </a:ln>
        </p:spPr>
      </p:sp>
      <p:sp>
        <p:nvSpPr>
          <p:cNvPr id="4" name="Text 2"/>
          <p:cNvSpPr txBox="1"/>
          <p:nvPr/>
        </p:nvSpPr>
        <p:spPr>
          <a:xfrm>
            <a:off x="548640" y="14173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1</a:t>
            </a:r>
            <a:endParaRPr lang="en-US" sz="1700" dirty="0"/>
          </a:p>
        </p:txBody>
      </p:sp>
      <p:sp>
        <p:nvSpPr>
          <p:cNvPr id="5" name="Shape 3"/>
          <p:cNvSpPr/>
          <p:nvPr/>
        </p:nvSpPr>
        <p:spPr>
          <a:xfrm>
            <a:off x="1143000" y="1668780"/>
            <a:ext cx="2130552" cy="0"/>
          </a:xfrm>
          <a:prstGeom prst="line">
            <a:avLst/>
          </a:prstGeom>
          <a:noFill/>
          <a:ln w="25400">
            <a:solidFill>
              <a:srgbClr val="BFE0D8"/>
            </a:solidFill>
            <a:prstDash val="solid"/>
          </a:ln>
        </p:spPr>
      </p:sp>
      <p:sp>
        <p:nvSpPr>
          <p:cNvPr id="6" name="month-1"/>
          <p:cNvSpPr/>
          <p:nvPr/>
        </p:nvSpPr>
        <p:spPr>
          <a:xfrm>
            <a:off x="548640" y="2103120"/>
            <a:ext cx="2606040" cy="3566160"/>
          </a:xfrm>
          <a:prstGeom prst="roundRect">
            <a:avLst>
              <a:gd name="adj" fmla="val 2807"/>
            </a:avLst>
          </a:prstGeom>
          <a:solidFill>
            <a:schemeClr val="tx2"/>
          </a:solidFill>
          <a:ln w="9525">
            <a:solidFill>
              <a:schemeClr val="tx2"/>
            </a:solidFill>
            <a:prstDash val="solid"/>
          </a:ln>
        </p:spPr>
      </p:sp>
      <p:sp>
        <p:nvSpPr>
          <p:cNvPr id="7" name="Text 5"/>
          <p:cNvSpPr txBox="1"/>
          <p:nvPr/>
        </p:nvSpPr>
        <p:spPr>
          <a:xfrm>
            <a:off x="731520" y="2240280"/>
            <a:ext cx="228600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October</a:t>
            </a:r>
            <a:endParaRPr lang="en-US" sz="1600" dirty="0"/>
          </a:p>
        </p:txBody>
      </p:sp>
      <p:sp>
        <p:nvSpPr>
          <p:cNvPr id="8" name="Text 6"/>
          <p:cNvSpPr txBox="1"/>
          <p:nvPr/>
        </p:nvSpPr>
        <p:spPr>
          <a:xfrm>
            <a:off x="731520" y="2697480"/>
            <a:ext cx="2286000" cy="2880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bg1"/>
                </a:solidFill>
              </a:rPr>
              <a:t>Collect pairing capacity and use-case scope</a:t>
            </a:r>
            <a:endParaRPr lang="en-US" sz="1400" dirty="0"/>
          </a:p>
          <a:p>
            <a:pPr marL="177800" indent="-177800">
              <a:spcAft>
                <a:spcPts val="700"/>
              </a:spcAft>
              <a:buSzPct val="100000"/>
              <a:buChar char="•"/>
            </a:pPr>
            <a:r>
              <a:rPr lang="en-US" sz="1250" dirty="0">
                <a:solidFill>
                  <a:schemeClr val="bg1"/>
                </a:solidFill>
              </a:rPr>
              <a:t>Draft rules and participation agreement</a:t>
            </a:r>
            <a:endParaRPr lang="en-US" sz="1400" dirty="0"/>
          </a:p>
          <a:p>
            <a:pPr marL="177800" indent="-177800">
              <a:spcAft>
                <a:spcPts val="700"/>
              </a:spcAft>
              <a:buSzPct val="100000"/>
              <a:buChar char="•"/>
            </a:pPr>
            <a:r>
              <a:rPr lang="en-US" sz="1250" dirty="0">
                <a:solidFill>
                  <a:schemeClr val="bg1"/>
                </a:solidFill>
              </a:rPr>
              <a:t>Set the review calendar with NSF</a:t>
            </a:r>
            <a:endParaRPr lang="en-US" sz="1400" dirty="0"/>
          </a:p>
          <a:p>
            <a:pPr marL="177800" indent="-177800">
              <a:spcAft>
                <a:spcPts val="700"/>
              </a:spcAft>
              <a:buSzPct val="100000"/>
              <a:buChar char="•"/>
            </a:pPr>
            <a:r>
              <a:rPr lang="en-US" sz="1250" dirty="0">
                <a:solidFill>
                  <a:schemeClr val="bg1"/>
                </a:solidFill>
              </a:rPr>
              <a:t>Splash page keeps collecting sign-ups</a:t>
            </a:r>
            <a:endParaRPr lang="en-US" sz="1400" dirty="0"/>
          </a:p>
        </p:txBody>
      </p:sp>
      <p:sp>
        <p:nvSpPr>
          <p:cNvPr id="9" name="Shape 7"/>
          <p:cNvSpPr/>
          <p:nvPr/>
        </p:nvSpPr>
        <p:spPr>
          <a:xfrm>
            <a:off x="3364992" y="1417320"/>
            <a:ext cx="502920" cy="502920"/>
          </a:xfrm>
          <a:prstGeom prst="ellipse">
            <a:avLst/>
          </a:prstGeom>
          <a:solidFill>
            <a:schemeClr val="tx2"/>
          </a:solidFill>
          <a:ln w="12700">
            <a:solidFill>
              <a:schemeClr val="tx2"/>
            </a:solidFill>
            <a:prstDash val="solid"/>
          </a:ln>
        </p:spPr>
      </p:sp>
      <p:sp>
        <p:nvSpPr>
          <p:cNvPr id="10" name="Text 8"/>
          <p:cNvSpPr txBox="1"/>
          <p:nvPr/>
        </p:nvSpPr>
        <p:spPr>
          <a:xfrm>
            <a:off x="3364992" y="14173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2</a:t>
            </a:r>
            <a:endParaRPr lang="en-US" sz="1700" dirty="0"/>
          </a:p>
        </p:txBody>
      </p:sp>
      <p:sp>
        <p:nvSpPr>
          <p:cNvPr id="11" name="Shape 9"/>
          <p:cNvSpPr/>
          <p:nvPr/>
        </p:nvSpPr>
        <p:spPr>
          <a:xfrm>
            <a:off x="3959352" y="1668780"/>
            <a:ext cx="2130552" cy="0"/>
          </a:xfrm>
          <a:prstGeom prst="line">
            <a:avLst/>
          </a:prstGeom>
          <a:noFill/>
          <a:ln w="25400">
            <a:solidFill>
              <a:srgbClr val="BFE0D8"/>
            </a:solidFill>
            <a:prstDash val="solid"/>
          </a:ln>
        </p:spPr>
      </p:sp>
      <p:sp>
        <p:nvSpPr>
          <p:cNvPr id="12" name="month-2"/>
          <p:cNvSpPr/>
          <p:nvPr/>
        </p:nvSpPr>
        <p:spPr>
          <a:xfrm>
            <a:off x="3364992" y="2103120"/>
            <a:ext cx="2606040" cy="3566160"/>
          </a:xfrm>
          <a:prstGeom prst="roundRect">
            <a:avLst>
              <a:gd name="adj" fmla="val 2807"/>
            </a:avLst>
          </a:prstGeom>
          <a:solidFill>
            <a:schemeClr val="bg2"/>
          </a:solidFill>
          <a:ln w="9525">
            <a:solidFill>
              <a:schemeClr val="bg2"/>
            </a:solidFill>
            <a:prstDash val="solid"/>
          </a:ln>
        </p:spPr>
      </p:sp>
      <p:sp>
        <p:nvSpPr>
          <p:cNvPr id="13" name="Text 11"/>
          <p:cNvSpPr txBox="1"/>
          <p:nvPr/>
        </p:nvSpPr>
        <p:spPr>
          <a:xfrm>
            <a:off x="3547872" y="2240280"/>
            <a:ext cx="228600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November</a:t>
            </a:r>
            <a:endParaRPr lang="en-US" sz="1600" dirty="0"/>
          </a:p>
        </p:txBody>
      </p:sp>
      <p:sp>
        <p:nvSpPr>
          <p:cNvPr id="14" name="Text 12"/>
          <p:cNvSpPr txBox="1"/>
          <p:nvPr/>
        </p:nvSpPr>
        <p:spPr>
          <a:xfrm>
            <a:off x="3547872" y="2697480"/>
            <a:ext cx="2286000" cy="2880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Rules, agreement and website complete NSF review</a:t>
            </a:r>
            <a:endParaRPr lang="en-US" sz="1400" dirty="0"/>
          </a:p>
          <a:p>
            <a:pPr marL="177800" indent="-177800">
              <a:spcAft>
                <a:spcPts val="700"/>
              </a:spcAft>
              <a:buSzPct val="100000"/>
              <a:buChar char="•"/>
            </a:pPr>
            <a:r>
              <a:rPr lang="en-US" sz="1250" dirty="0">
                <a:solidFill>
                  <a:schemeClr val="tx1"/>
                </a:solidFill>
              </a:rPr>
              <a:t>Use-case briefs in hand</a:t>
            </a:r>
            <a:endParaRPr lang="en-US" sz="1400" dirty="0"/>
          </a:p>
          <a:p>
            <a:pPr marL="177800" indent="-177800">
              <a:spcAft>
                <a:spcPts val="700"/>
              </a:spcAft>
              <a:buSzPct val="100000"/>
              <a:buChar char="•"/>
            </a:pPr>
            <a:r>
              <a:rPr lang="en-US" sz="1250" dirty="0">
                <a:solidFill>
                  <a:schemeClr val="tx1"/>
                </a:solidFill>
              </a:rPr>
              <a:t>USA.gov posting prepared</a:t>
            </a:r>
            <a:endParaRPr lang="en-US" sz="1400" dirty="0"/>
          </a:p>
          <a:p>
            <a:pPr marL="177800" indent="-177800">
              <a:spcAft>
                <a:spcPts val="700"/>
              </a:spcAft>
              <a:buSzPct val="100000"/>
              <a:buChar char="•"/>
            </a:pPr>
            <a:r>
              <a:rPr lang="en-US" sz="1250" dirty="0">
                <a:solidFill>
                  <a:schemeClr val="tx1"/>
                </a:solidFill>
              </a:rPr>
              <a:t>Pre-launch report filed one week before go-live</a:t>
            </a:r>
            <a:endParaRPr lang="en-US" sz="1400" dirty="0"/>
          </a:p>
        </p:txBody>
      </p:sp>
      <p:sp>
        <p:nvSpPr>
          <p:cNvPr id="15" name="Shape 13"/>
          <p:cNvSpPr/>
          <p:nvPr/>
        </p:nvSpPr>
        <p:spPr>
          <a:xfrm>
            <a:off x="6181344" y="1417320"/>
            <a:ext cx="502920" cy="502920"/>
          </a:xfrm>
          <a:prstGeom prst="ellipse">
            <a:avLst/>
          </a:prstGeom>
          <a:solidFill>
            <a:schemeClr val="tx2"/>
          </a:solidFill>
          <a:ln w="12700">
            <a:solidFill>
              <a:schemeClr val="tx2"/>
            </a:solidFill>
            <a:prstDash val="solid"/>
          </a:ln>
        </p:spPr>
      </p:sp>
      <p:sp>
        <p:nvSpPr>
          <p:cNvPr id="16" name="Text 14"/>
          <p:cNvSpPr txBox="1"/>
          <p:nvPr/>
        </p:nvSpPr>
        <p:spPr>
          <a:xfrm>
            <a:off x="6181344" y="14173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3</a:t>
            </a:r>
            <a:endParaRPr lang="en-US" sz="1700" dirty="0"/>
          </a:p>
        </p:txBody>
      </p:sp>
      <p:sp>
        <p:nvSpPr>
          <p:cNvPr id="17" name="Shape 15"/>
          <p:cNvSpPr/>
          <p:nvPr/>
        </p:nvSpPr>
        <p:spPr>
          <a:xfrm>
            <a:off x="6775704" y="1668780"/>
            <a:ext cx="2130552" cy="0"/>
          </a:xfrm>
          <a:prstGeom prst="line">
            <a:avLst/>
          </a:prstGeom>
          <a:noFill/>
          <a:ln w="25400">
            <a:solidFill>
              <a:srgbClr val="BFE0D8"/>
            </a:solidFill>
            <a:prstDash val="solid"/>
          </a:ln>
        </p:spPr>
      </p:sp>
      <p:sp>
        <p:nvSpPr>
          <p:cNvPr id="18" name="month-3"/>
          <p:cNvSpPr/>
          <p:nvPr/>
        </p:nvSpPr>
        <p:spPr>
          <a:xfrm>
            <a:off x="6181344" y="2103120"/>
            <a:ext cx="2606040" cy="3566160"/>
          </a:xfrm>
          <a:prstGeom prst="roundRect">
            <a:avLst>
              <a:gd name="adj" fmla="val 2807"/>
            </a:avLst>
          </a:prstGeom>
          <a:solidFill>
            <a:schemeClr val="bg2"/>
          </a:solidFill>
          <a:ln w="9525">
            <a:solidFill>
              <a:schemeClr val="bg2"/>
            </a:solidFill>
            <a:prstDash val="solid"/>
          </a:ln>
        </p:spPr>
      </p:sp>
      <p:sp>
        <p:nvSpPr>
          <p:cNvPr id="19" name="Text 17"/>
          <p:cNvSpPr txBox="1"/>
          <p:nvPr/>
        </p:nvSpPr>
        <p:spPr>
          <a:xfrm>
            <a:off x="6364224" y="2240280"/>
            <a:ext cx="228600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December</a:t>
            </a:r>
            <a:endParaRPr lang="en-US" sz="1600" dirty="0"/>
          </a:p>
        </p:txBody>
      </p:sp>
      <p:sp>
        <p:nvSpPr>
          <p:cNvPr id="20" name="Text 18"/>
          <p:cNvSpPr txBox="1"/>
          <p:nvPr/>
        </p:nvSpPr>
        <p:spPr>
          <a:xfrm>
            <a:off x="6364224" y="2697480"/>
            <a:ext cx="2286000" cy="2880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Launch in the first week; announcement to the community</a:t>
            </a:r>
            <a:endParaRPr lang="en-US" sz="1400" dirty="0"/>
          </a:p>
          <a:p>
            <a:pPr marL="177800" indent="-177800">
              <a:spcAft>
                <a:spcPts val="700"/>
              </a:spcAft>
              <a:buSzPct val="100000"/>
              <a:buChar char="•"/>
            </a:pPr>
            <a:r>
              <a:rPr lang="en-US" sz="1250" dirty="0">
                <a:solidFill>
                  <a:schemeClr val="tx1"/>
                </a:solidFill>
              </a:rPr>
              <a:t>Registrant Q&amp;A webinar</a:t>
            </a:r>
            <a:endParaRPr lang="en-US" sz="1400" dirty="0"/>
          </a:p>
          <a:p>
            <a:pPr marL="177800" indent="-177800">
              <a:spcAft>
                <a:spcPts val="700"/>
              </a:spcAft>
              <a:buSzPct val="100000"/>
              <a:buChar char="•"/>
            </a:pPr>
            <a:r>
              <a:rPr lang="en-US" sz="1250" dirty="0">
                <a:solidFill>
                  <a:schemeClr val="tx1"/>
                </a:solidFill>
              </a:rPr>
              <a:t>First collaborator webinar promoted</a:t>
            </a:r>
            <a:endParaRPr lang="en-US" sz="1400" dirty="0"/>
          </a:p>
          <a:p>
            <a:pPr marL="177800" indent="-177800">
              <a:spcAft>
                <a:spcPts val="700"/>
              </a:spcAft>
              <a:buSzPct val="100000"/>
              <a:buChar char="•"/>
            </a:pPr>
            <a:r>
              <a:rPr lang="en-US" sz="1250" dirty="0">
                <a:solidFill>
                  <a:schemeClr val="tx1"/>
                </a:solidFill>
              </a:rPr>
              <a:t>Judge recruitment begins</a:t>
            </a:r>
            <a:endParaRPr lang="en-US" sz="1400" dirty="0"/>
          </a:p>
        </p:txBody>
      </p:sp>
      <p:sp>
        <p:nvSpPr>
          <p:cNvPr id="21" name="Shape 19"/>
          <p:cNvSpPr/>
          <p:nvPr/>
        </p:nvSpPr>
        <p:spPr>
          <a:xfrm>
            <a:off x="8997696" y="1417320"/>
            <a:ext cx="502920" cy="502920"/>
          </a:xfrm>
          <a:prstGeom prst="ellipse">
            <a:avLst/>
          </a:prstGeom>
          <a:solidFill>
            <a:schemeClr val="tx2"/>
          </a:solidFill>
          <a:ln w="12700">
            <a:solidFill>
              <a:schemeClr val="tx2"/>
            </a:solidFill>
            <a:prstDash val="solid"/>
          </a:ln>
        </p:spPr>
      </p:sp>
      <p:sp>
        <p:nvSpPr>
          <p:cNvPr id="22" name="Text 20"/>
          <p:cNvSpPr txBox="1"/>
          <p:nvPr/>
        </p:nvSpPr>
        <p:spPr>
          <a:xfrm>
            <a:off x="8997696" y="14173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4</a:t>
            </a:r>
            <a:endParaRPr lang="en-US" sz="1700" dirty="0"/>
          </a:p>
        </p:txBody>
      </p:sp>
      <p:sp>
        <p:nvSpPr>
          <p:cNvPr id="23" name="month-4"/>
          <p:cNvSpPr/>
          <p:nvPr/>
        </p:nvSpPr>
        <p:spPr>
          <a:xfrm>
            <a:off x="8997696" y="2103120"/>
            <a:ext cx="2606040" cy="3566160"/>
          </a:xfrm>
          <a:prstGeom prst="roundRect">
            <a:avLst>
              <a:gd name="adj" fmla="val 2807"/>
            </a:avLst>
          </a:prstGeom>
          <a:solidFill>
            <a:schemeClr val="bg2"/>
          </a:solidFill>
          <a:ln w="9525">
            <a:solidFill>
              <a:schemeClr val="bg2"/>
            </a:solidFill>
            <a:prstDash val="solid"/>
          </a:ln>
        </p:spPr>
      </p:sp>
      <p:sp>
        <p:nvSpPr>
          <p:cNvPr id="24" name="Text 22"/>
          <p:cNvSpPr txBox="1"/>
          <p:nvPr/>
        </p:nvSpPr>
        <p:spPr>
          <a:xfrm>
            <a:off x="9180576" y="2240280"/>
            <a:ext cx="228600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January–March</a:t>
            </a:r>
            <a:endParaRPr lang="en-US" sz="1600" dirty="0"/>
          </a:p>
        </p:txBody>
      </p:sp>
      <p:sp>
        <p:nvSpPr>
          <p:cNvPr id="25" name="Text 23"/>
          <p:cNvSpPr txBox="1"/>
          <p:nvPr/>
        </p:nvSpPr>
        <p:spPr>
          <a:xfrm>
            <a:off x="9180576" y="2697480"/>
            <a:ext cx="2286000" cy="2880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Monthly registrant-quality reports</a:t>
            </a:r>
            <a:endParaRPr lang="en-US" sz="1400" dirty="0"/>
          </a:p>
          <a:p>
            <a:pPr marL="177800" indent="-177800">
              <a:spcAft>
                <a:spcPts val="700"/>
              </a:spcAft>
              <a:buSzPct val="100000"/>
              <a:buChar char="•"/>
            </a:pPr>
            <a:r>
              <a:rPr lang="en-US" sz="1250" dirty="0">
                <a:solidFill>
                  <a:schemeClr val="tx1"/>
                </a:solidFill>
              </a:rPr>
              <a:t>Targeted pushes, including EPSCoR</a:t>
            </a:r>
            <a:endParaRPr lang="en-US" sz="1400" dirty="0"/>
          </a:p>
          <a:p>
            <a:pPr marL="177800" indent="-177800">
              <a:spcAft>
                <a:spcPts val="700"/>
              </a:spcAft>
              <a:buSzPct val="100000"/>
              <a:buChar char="•"/>
            </a:pPr>
            <a:r>
              <a:rPr lang="en-US" sz="1250" dirty="0">
                <a:solidFill>
                  <a:schemeClr val="tx1"/>
                </a:solidFill>
              </a:rPr>
              <a:t>Judge training before April</a:t>
            </a:r>
            <a:endParaRPr lang="en-US" sz="1400" dirty="0"/>
          </a:p>
          <a:p>
            <a:pPr marL="177800" indent="-177800">
              <a:spcAft>
                <a:spcPts val="700"/>
              </a:spcAft>
              <a:buSzPct val="100000"/>
              <a:buChar char="•"/>
            </a:pPr>
            <a:r>
              <a:rPr lang="en-US" sz="1250" dirty="0">
                <a:solidFill>
                  <a:schemeClr val="tx1"/>
                </a:solidFill>
              </a:rPr>
              <a:t>Submissions close in March 2027</a:t>
            </a:r>
            <a:endParaRPr lang="en-US" sz="1400" dirty="0"/>
          </a:p>
        </p:txBody>
      </p:sp>
      <p:sp>
        <p:nvSpPr>
          <p:cNvPr id="26" name="Text 24"/>
          <p:cNvSpPr txBox="1"/>
          <p:nvPr/>
        </p:nvSpPr>
        <p:spPr>
          <a:xfrm>
            <a:off x="548640" y="5943600"/>
            <a:ext cx="11064240" cy="292608"/>
          </a:xfrm>
          <a:prstGeom prst="rect">
            <a:avLst/>
          </a:prstGeom>
          <a:noFill/>
          <a:ln/>
        </p:spPr>
        <p:txBody>
          <a:bodyPr wrap="square" lIns="0" tIns="0" rIns="0" bIns="0" rtlCol="0" anchor="b"/>
          <a:lstStyle/>
          <a:p>
            <a:pPr indent="0" marL="0">
              <a:buNone/>
            </a:pPr>
            <a:r>
              <a:rPr lang="en-US" sz="950" i="1" dirty="0">
                <a:solidFill>
                  <a:schemeClr val="accent5"/>
                </a:solidFill>
              </a:rPr>
              <a:t>Follows the proposed schedule: stand-up September–November 2026; launch in the first week of December 2026; submissions through March 2027.</a:t>
            </a:r>
            <a:endParaRPr lang="en-US" sz="95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Sources</a:t>
            </a:r>
            <a:endParaRPr lang="en-US" sz="2800" dirty="0"/>
          </a:p>
        </p:txBody>
      </p:sp>
      <p:sp>
        <p:nvSpPr>
          <p:cNvPr id="3" name="Text 1"/>
          <p:cNvSpPr txBox="1"/>
          <p:nvPr/>
        </p:nvSpPr>
        <p:spPr>
          <a:xfrm>
            <a:off x="548640" y="1371600"/>
            <a:ext cx="11064240" cy="47548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tx1"/>
                </a:solidFill>
              </a:rPr>
              <a:t>NASA NOIS3 Request for Task Plan NOIS3-085: U.S. National Science Foundation Quantum Algorithm Challenge (released Aug 27, 2026)</a:t>
            </a:r>
            <a:endParaRPr lang="en-US" sz="1400" dirty="0"/>
          </a:p>
          <a:p>
            <a:pPr marL="177800" indent="-177800">
              <a:spcAft>
                <a:spcPts val="800"/>
              </a:spcAft>
              <a:buSzPct val="100000"/>
              <a:buChar char="•"/>
            </a:pPr>
            <a:r>
              <a:rPr lang="en-US" sz="1350" dirty="0">
                <a:solidFill>
                  <a:schemeClr val="tx1"/>
                </a:solidFill>
              </a:rPr>
              <a:t>NSF Project Triad announcement (July 2026), as reported by MeriTalk, Quantum Computing Report and The Quantum Insider</a:t>
            </a:r>
            <a:endParaRPr lang="en-US" sz="1400" dirty="0"/>
          </a:p>
          <a:p>
            <a:pPr marL="177800" indent="-177800">
              <a:spcAft>
                <a:spcPts val="800"/>
              </a:spcAft>
              <a:buSzPct val="100000"/>
              <a:buChar char="•"/>
            </a:pPr>
            <a:r>
              <a:rPr lang="en-US" sz="1350" dirty="0">
                <a:solidFill>
                  <a:schemeClr val="tx1"/>
                </a:solidFill>
              </a:rPr>
              <a:t>NSF, Project Triad initiative page (nsf.gov/funding/initiatives/project-triad)</a:t>
            </a:r>
            <a:endParaRPr lang="en-US" sz="1400" dirty="0"/>
          </a:p>
          <a:p>
            <a:pPr marL="177800" indent="-177800">
              <a:spcAft>
                <a:spcPts val="800"/>
              </a:spcAft>
              <a:buSzPct val="100000"/>
              <a:buChar char="•"/>
            </a:pPr>
            <a:r>
              <a:rPr lang="en-US" sz="1350" dirty="0">
                <a:solidFill>
                  <a:schemeClr val="tx1"/>
                </a:solidFill>
              </a:rPr>
              <a:t>America COMPETES Act, 15 U.S.C. §3719; CHIPS and Science Act, 42 U.S.C. §19101 et seq.</a:t>
            </a:r>
            <a:endParaRPr lang="en-US" sz="1400" dirty="0"/>
          </a:p>
          <a:p>
            <a:pPr marL="177800" indent="-177800">
              <a:spcAft>
                <a:spcPts val="800"/>
              </a:spcAft>
              <a:buSzPct val="100000"/>
              <a:buChar char="•"/>
            </a:pPr>
            <a:r>
              <a:rPr lang="en-US" sz="1350" dirty="0">
                <a:solidFill>
                  <a:schemeClr val="tx1"/>
                </a:solidFill>
              </a:rPr>
              <a:t>NSF Dear Colleague Letter 26-022 (research security)</a:t>
            </a:r>
            <a:endParaRPr lang="en-US" sz="1400" dirty="0"/>
          </a:p>
          <a:p>
            <a:pPr marL="177800" indent="-177800">
              <a:spcAft>
                <a:spcPts val="800"/>
              </a:spcAft>
              <a:buSzPct val="100000"/>
              <a:buChar char="•"/>
            </a:pPr>
            <a:r>
              <a:rPr lang="en-US" sz="1350" dirty="0">
                <a:solidFill>
                  <a:schemeClr val="tx1"/>
                </a:solidFill>
              </a:rPr>
              <a:t>Deloitte GovLab (2014), The Craft of Incentive Prize Design</a:t>
            </a:r>
            <a:endParaRPr lang="en-US" sz="1400" dirty="0"/>
          </a:p>
          <a:p>
            <a:pPr marL="177800" indent="-177800">
              <a:spcAft>
                <a:spcPts val="800"/>
              </a:spcAft>
              <a:buSzPct val="100000"/>
              <a:buChar char="•"/>
            </a:pPr>
            <a:r>
              <a:rPr lang="en-US" sz="1350" dirty="0">
                <a:solidFill>
                  <a:schemeClr val="tx1"/>
                </a:solidFill>
              </a:rPr>
              <a:t>Jeppesen &amp; Lakhani (2010), Marginality and Problem-Solving Effectiveness in Broadcast Search, Organization Science</a:t>
            </a:r>
            <a:endParaRPr lang="en-US" sz="1400" dirty="0"/>
          </a:p>
          <a:p>
            <a:pPr marL="177800" indent="-177800">
              <a:spcAft>
                <a:spcPts val="800"/>
              </a:spcAft>
              <a:buSzPct val="100000"/>
              <a:buChar char="•"/>
            </a:pPr>
            <a:r>
              <a:rPr lang="en-US" sz="1350" dirty="0">
                <a:solidFill>
                  <a:schemeClr val="tx1"/>
                </a:solidFill>
              </a:rPr>
              <a:t>Spradlin (2012), Are You Solving the Right Problem?, Harvard Business Review</a:t>
            </a:r>
            <a:endParaRPr lang="en-US" sz="1400" dirty="0"/>
          </a:p>
          <a:p>
            <a:pPr marL="177800" indent="-177800">
              <a:spcAft>
                <a:spcPts val="800"/>
              </a:spcAft>
              <a:buSzPct val="100000"/>
              <a:buChar char="•"/>
            </a:pPr>
            <a:r>
              <a:rPr lang="en-US" sz="1350" dirty="0">
                <a:solidFill>
                  <a:schemeClr val="tx1"/>
                </a:solidFill>
              </a:rPr>
              <a:t>500 Startups survey of corporate innovation programs, reported in Fortune (2017)</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hallenge Journey">
  <a:themeElements>
    <a:clrScheme name="Challenge Journey">
      <a:dk1>
        <a:srgbClr val="1A2B2E"/>
      </a:dk1>
      <a:lt1>
        <a:srgbClr val="FFFFFF"/>
      </a:lt1>
      <a:dk2>
        <a:srgbClr val="0F4C4A"/>
      </a:dk2>
      <a:lt2>
        <a:srgbClr val="EEF4F2"/>
      </a:lt2>
      <a:accent1>
        <a:srgbClr val="0F4C4A"/>
      </a:accent1>
      <a:accent2>
        <a:srgbClr val="E8602C"/>
      </a:accent2>
      <a:accent3>
        <a:srgbClr val="2E8C7E"/>
      </a:accent3>
      <a:accent4>
        <a:srgbClr val="F2B24C"/>
      </a:accent4>
      <a:accent5>
        <a:srgbClr val="5F7376"/>
      </a:accent5>
      <a:accent6>
        <a:srgbClr val="BFE0D8"/>
      </a:accent6>
      <a:hlink>
        <a:srgbClr val="2E8C7E"/>
      </a:hlink>
      <a:folHlink>
        <a:srgbClr val="5F7376"/>
      </a:folHlink>
    </a:clrScheme>
    <a:fontScheme name="Challenge Journe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NSF Quantum Algorithms Challenge: working session</dc:title>
  <dc:subject>PptxGenJS Presentation</dc:subject>
  <dc:creator>Open Innovation Practice</dc:creator>
  <cp:lastModifiedBy>Open Innovation Practice</cp:lastModifiedBy>
  <cp:revision>1</cp:revision>
  <dcterms:created xsi:type="dcterms:W3CDTF">2026-10-03T20:43:47Z</dcterms:created>
  <dcterms:modified xsi:type="dcterms:W3CDTF">2026-10-03T20:43:47Z</dcterms:modified>
</cp:coreProperties>
</file>