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fb70ac6-851a-b671-c2be-0e17fcac05dc}">
          <p14:sldIdLst>
            <p14:sldId id="256"/>
            <p14:sldId id="257"/>
          </p14:sldIdLst>
        </p14:section>
        <p14:section name="Framework" id="{0c6af3b0-c334-1a3e-bb41-1426cea4cc57}">
          <p14:sldIdLst>
            <p14:sldId id="258"/>
            <p14:sldId id="259"/>
            <p14:sldId id="260"/>
            <p14:sldId id="261"/>
          </p14:sldIdLst>
        </p14:section>
        <p14:section name="Tools" id="{15bb8bca-bb7d-d77f-2cdc-b330b1a927c4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Workshops" id="{6056a3b3-2e1b-a894-ade9-759267568d65}">
          <p14:sldIdLst>
            <p14:sldId id="275"/>
            <p14:sldId id="276"/>
            <p14:sldId id="277"/>
            <p14:sldId id="278"/>
          </p14:sldIdLst>
        </p14:section>
        <p14:section name="Evidence" id="{8e5d1cd1-a7e7-da1e-1f66-148636ee836c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Outcome-First Challenge Journey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Journey Playbook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Internal methodology, tools and workshop guides for client open innovation challenges and prizes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Practitioner use  ·  Version 1.0  · 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this playbook</a:t>
            </a:r>
            <a:endParaRPr lang="en-US" sz="2800" dirty="0"/>
          </a:p>
        </p:txBody>
      </p:sp>
      <p:sp>
        <p:nvSpPr>
          <p:cNvPr id="3" name="part-1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37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31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Six phases, their gates and the evidence behind them. Use it to orient the team and the client.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063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Slides 3–6</a:t>
            </a:r>
            <a:endParaRPr lang="en-US" sz="1100" dirty="0"/>
          </a:p>
        </p:txBody>
      </p:sp>
      <p:sp>
        <p:nvSpPr>
          <p:cNvPr id="9" name="part-2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737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331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Ten working tools, from readiness scorecard to landing-zone plan, plus KPIs and a risk register. Each maps to a phase.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063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Slides 7–19</a:t>
            </a:r>
            <a:endParaRPr lang="en-US" sz="1100" dirty="0"/>
          </a:p>
        </p:txBody>
      </p:sp>
      <p:sp>
        <p:nvSpPr>
          <p:cNvPr id="15" name="part-3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977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workshops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572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Agendas for the first client meeting and the half-day problem-discovery workshop, plus a question bank.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303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Slides 20–23</a:t>
            </a:r>
            <a:endParaRPr lang="en-US" sz="1100" dirty="0"/>
          </a:p>
        </p:txBody>
      </p:sp>
      <p:sp>
        <p:nvSpPr>
          <p:cNvPr id="21" name="part-4"/>
          <p:cNvSpPr/>
          <p:nvPr/>
        </p:nvSpPr>
        <p:spPr>
          <a:xfrm>
            <a:off x="6172200" y="370332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977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572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Claims we cite, with sources and a flag where the figure must be checked before external use.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5303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Slides 24–25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Ground rule: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gate is a real decision. Recommending "not now" or "use scouting instead" is a good outcome, not a lost sale.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Journey on one page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chemeClr val="accent5"/>
                </a:solidFill>
              </a:rPr>
              <a:t>BEFORE LAUNCH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181344" y="1325880"/>
            <a:ext cx="3553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chemeClr val="accent5"/>
                </a:solidFill>
              </a:rPr>
              <a:t>IN MARKET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936480" y="1325880"/>
            <a:ext cx="167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chemeClr val="accent5"/>
                </a:solidFill>
              </a:rPr>
              <a:t>AFTER AWARD</a:t>
            </a:r>
            <a:endParaRPr lang="en-US" sz="1050" dirty="0"/>
          </a:p>
        </p:txBody>
      </p:sp>
      <p:sp>
        <p:nvSpPr>
          <p:cNvPr id="6" name="phase-1"/>
          <p:cNvSpPr/>
          <p:nvPr/>
        </p:nvSpPr>
        <p:spPr>
          <a:xfrm>
            <a:off x="548640" y="1673352"/>
            <a:ext cx="1676400" cy="2788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56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02536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58112" y="1837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542032"/>
            <a:ext cx="14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2953512"/>
            <a:ext cx="138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What outcome do we need, and are we ready to act on the answer?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4069080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2–4 weeks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3232" y="461772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60704" y="4599432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Ready to commit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243328" y="2020824"/>
            <a:ext cx="164592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phase-2"/>
          <p:cNvSpPr/>
          <p:nvPr/>
        </p:nvSpPr>
        <p:spPr>
          <a:xfrm>
            <a:off x="2426208" y="1673352"/>
            <a:ext cx="1676400" cy="2788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90800" y="1856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104" y="200253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535680" y="1837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2590800" y="2542032"/>
            <a:ext cx="14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2590800" y="2953512"/>
            <a:ext cx="138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Which problem, stated so the right outsiders recognize it?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2590800" y="4069080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3–6 weeks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2590800" y="461772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938272" y="4599432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Problem approved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120896" y="2020824"/>
            <a:ext cx="164592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phase-3"/>
          <p:cNvSpPr/>
          <p:nvPr/>
        </p:nvSpPr>
        <p:spPr>
          <a:xfrm>
            <a:off x="4303776" y="1673352"/>
            <a:ext cx="1676400" cy="2788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468368" y="1856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672" y="2002536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413248" y="1837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0" name="Text 25"/>
          <p:cNvSpPr txBox="1"/>
          <p:nvPr/>
        </p:nvSpPr>
        <p:spPr>
          <a:xfrm>
            <a:off x="4468368" y="2542032"/>
            <a:ext cx="14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900" dirty="0"/>
          </a:p>
        </p:txBody>
      </p:sp>
      <p:sp>
        <p:nvSpPr>
          <p:cNvPr id="31" name="Text 26"/>
          <p:cNvSpPr txBox="1"/>
          <p:nvPr/>
        </p:nvSpPr>
        <p:spPr>
          <a:xfrm>
            <a:off x="4468368" y="2953512"/>
            <a:ext cx="138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Which mechanism, rules and incentives — and where will the winner land?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4468368" y="4069080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4–8 weeks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468368" y="461772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815840" y="4599432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Design signed off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998464" y="2020824"/>
            <a:ext cx="164592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phase-4"/>
          <p:cNvSpPr/>
          <p:nvPr/>
        </p:nvSpPr>
        <p:spPr>
          <a:xfrm>
            <a:off x="6181344" y="1673352"/>
            <a:ext cx="1676400" cy="2788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345936" y="1856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002536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290816" y="1837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0" name="Text 34"/>
          <p:cNvSpPr txBox="1"/>
          <p:nvPr/>
        </p:nvSpPr>
        <p:spPr>
          <a:xfrm>
            <a:off x="6345936" y="2542032"/>
            <a:ext cx="14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Mobilize</a:t>
            </a:r>
            <a:endParaRPr lang="en-US" sz="1900" dirty="0"/>
          </a:p>
        </p:txBody>
      </p:sp>
      <p:sp>
        <p:nvSpPr>
          <p:cNvPr id="41" name="Text 35"/>
          <p:cNvSpPr txBox="1"/>
          <p:nvPr/>
        </p:nvSpPr>
        <p:spPr>
          <a:xfrm>
            <a:off x="6345936" y="2953512"/>
            <a:ext cx="138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Are the right solvers, including unexpected ones, competing?</a:t>
            </a:r>
            <a:endParaRPr lang="en-US" sz="1250" dirty="0"/>
          </a:p>
        </p:txBody>
      </p:sp>
      <p:sp>
        <p:nvSpPr>
          <p:cNvPr id="42" name="Text 36"/>
          <p:cNvSpPr txBox="1"/>
          <p:nvPr/>
        </p:nvSpPr>
        <p:spPr>
          <a:xfrm>
            <a:off x="6345936" y="4069080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1–12 months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6345936" y="461772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693408" y="4599432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Participation check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7876032" y="2020824"/>
            <a:ext cx="164592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6" name="phase-5"/>
          <p:cNvSpPr/>
          <p:nvPr/>
        </p:nvSpPr>
        <p:spPr>
          <a:xfrm>
            <a:off x="8058912" y="1673352"/>
            <a:ext cx="1676400" cy="2788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8223504" y="1856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808" y="2002536"/>
            <a:ext cx="274320" cy="274320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9168384" y="1837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50" name="Text 43"/>
          <p:cNvSpPr txBox="1"/>
          <p:nvPr/>
        </p:nvSpPr>
        <p:spPr>
          <a:xfrm>
            <a:off x="8223504" y="2542032"/>
            <a:ext cx="14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900" dirty="0"/>
          </a:p>
        </p:txBody>
      </p:sp>
      <p:sp>
        <p:nvSpPr>
          <p:cNvPr id="51" name="Text 44"/>
          <p:cNvSpPr txBox="1"/>
          <p:nvPr/>
        </p:nvSpPr>
        <p:spPr>
          <a:xfrm>
            <a:off x="8223504" y="2953512"/>
            <a:ext cx="138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Can we pick winners fairly, defensibly and on evidence?</a:t>
            </a:r>
            <a:endParaRPr lang="en-US" sz="1250" dirty="0"/>
          </a:p>
        </p:txBody>
      </p:sp>
      <p:sp>
        <p:nvSpPr>
          <p:cNvPr id="52" name="Text 45"/>
          <p:cNvSpPr txBox="1"/>
          <p:nvPr/>
        </p:nvSpPr>
        <p:spPr>
          <a:xfrm>
            <a:off x="8223504" y="4069080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2–6 weeks</a:t>
            </a:r>
            <a:endParaRPr lang="en-US" sz="1100" dirty="0"/>
          </a:p>
        </p:txBody>
      </p:sp>
      <p:sp>
        <p:nvSpPr>
          <p:cNvPr id="53" name="Shape 46"/>
          <p:cNvSpPr/>
          <p:nvPr/>
        </p:nvSpPr>
        <p:spPr>
          <a:xfrm>
            <a:off x="8223504" y="461772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8570976" y="4599432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Awards approved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9753600" y="2020824"/>
            <a:ext cx="164592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6" name="phase-6"/>
          <p:cNvSpPr/>
          <p:nvPr/>
        </p:nvSpPr>
        <p:spPr>
          <a:xfrm>
            <a:off x="9936480" y="1673352"/>
            <a:ext cx="1676400" cy="2788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10101072" y="1856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7376" y="2002536"/>
            <a:ext cx="274320" cy="274320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11045952" y="1837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60" name="Text 52"/>
          <p:cNvSpPr txBox="1"/>
          <p:nvPr/>
        </p:nvSpPr>
        <p:spPr>
          <a:xfrm>
            <a:off x="10101072" y="2542032"/>
            <a:ext cx="140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</a:t>
            </a:r>
            <a:endParaRPr lang="en-US" sz="1900" dirty="0"/>
          </a:p>
        </p:txBody>
      </p:sp>
      <p:sp>
        <p:nvSpPr>
          <p:cNvPr id="61" name="Text 53"/>
          <p:cNvSpPr txBox="1"/>
          <p:nvPr/>
        </p:nvSpPr>
        <p:spPr>
          <a:xfrm>
            <a:off x="10101072" y="2953512"/>
            <a:ext cx="138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Does the solution get used, and does the capability stay?</a:t>
            </a:r>
            <a:endParaRPr lang="en-US" sz="1250" dirty="0"/>
          </a:p>
        </p:txBody>
      </p:sp>
      <p:sp>
        <p:nvSpPr>
          <p:cNvPr id="62" name="Text 54"/>
          <p:cNvSpPr txBox="1"/>
          <p:nvPr/>
        </p:nvSpPr>
        <p:spPr>
          <a:xfrm>
            <a:off x="10101072" y="4069080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3–24 months</a:t>
            </a:r>
            <a:endParaRPr lang="en-US" sz="1100" dirty="0"/>
          </a:p>
        </p:txBody>
      </p:sp>
      <p:sp>
        <p:nvSpPr>
          <p:cNvPr id="63" name="Shape 55"/>
          <p:cNvSpPr/>
          <p:nvPr/>
        </p:nvSpPr>
        <p:spPr>
          <a:xfrm>
            <a:off x="10101072" y="461772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10448544" y="4599432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Scale, iterate or stop</a:t>
            </a:r>
            <a:endParaRPr lang="en-US" sz="1100" dirty="0"/>
          </a:p>
        </p:txBody>
      </p:sp>
      <p:sp>
        <p:nvSpPr>
          <p:cNvPr id="65" name="capability-layer"/>
          <p:cNvSpPr/>
          <p:nvPr/>
        </p:nvSpPr>
        <p:spPr>
          <a:xfrm>
            <a:off x="548640" y="5102352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822960" y="5212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Throughout: build a lasting capability</a:t>
            </a:r>
            <a:endParaRPr lang="en-US" sz="1500" dirty="0"/>
          </a:p>
        </p:txBody>
      </p:sp>
      <p:sp>
        <p:nvSpPr>
          <p:cNvPr id="67" name="Text 59"/>
          <p:cNvSpPr txBox="1"/>
          <p:nvPr/>
        </p:nvSpPr>
        <p:spPr>
          <a:xfrm>
            <a:off x="4663440" y="52120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Named sponsor and problem owner  ·  stakeholder governance and gates  ·  solver and partner network  ·  reusable rules, templates and metrics  ·  problem pipeline for the next challenge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phase maps onto the established models, so clients can trace our method to recognized practice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194560"/>
                <a:gridCol w="1874520"/>
                <a:gridCol w="1828800"/>
                <a:gridCol w="182880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Our phase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Challenge.gov / GSA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Deloitte (2014)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Nesta / Challenge Works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XPRIZE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InnoCentive / Wazoku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Commit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Prepare: goals, fit, authority, budget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Choose among six outcomes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Discover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"Can a prize help?"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Establish and justify the need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 Frame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Prepare: define the problem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Define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Landscape analysis; prizeability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Contextualize; write; abstract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 Design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Develop: structure, rules, judging, metrics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Five design elements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Design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Prize direction, then design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Challenge type and award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 Mobilize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Conduct: communications, submissions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Implementation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Deliver: team support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Registration and team support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 to the solver crowd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 Select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Conduct: judging, verification; Award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Evaluation; Award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Deliver: judging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Semifinals, finals, testing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Seeker evaluation; award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 Adopt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Transition: document, engage, manage solutions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Legacy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Impact (after prize)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Impact strategy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Seeker implements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Throughout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Build the team; share best practice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Resources; communications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Ecosystem impact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Operational plan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Challenge-driven enterprise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Sources: GSA Prize and Challenge Toolkit; Deloitte, The Craft of Incentive Prize Design (2014); Nesta/Challenge Works Practice Guide; XPRIZE prize design; Spradlin, HBR (2012). Labels paraphrased from search summaries; confirm against primary documents.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model: what each phase demands of us and of the client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25880"/>
                <a:gridCol w="3566160"/>
                <a:gridCol w="233172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Phase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Typical duration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Our core activities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Client time required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Key deliverables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Commit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2–4 weeks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Stakeholder interviews; readiness scoring; outcome framing; alternatives check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Sponsor 2 hrs; 5–8 interviewees 1 hr each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Outcome statement; readiness scorecard; go/no-go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 Frame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3–6 weeks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Discovery workshop; fit scoring; problem statements; abstraction; landscape scan; solver test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Owners: workshop + 2–3 working sessions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Long list; 1–3 problem statements; success criteria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 Design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4–8 weeks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Mechanism and structure; incentives; rules and IP; judging plan; landing zone; budget; outreach plan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Legal, procurement, finance reviews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Design brief; rules; judging plan; landing-zone plan; budget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 Mobilize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1–12 months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Launch; outreach; partner network; solver support; participation tracking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Comms amplification; owner Q&amp;A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Campaign; partner network; dashboard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 Select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2–6 weeks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Panel recruitment and calibration; staged triage; reconciliation; verification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Judges; owner on panel; sponsor approval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Decision record; verified winners; award event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 Adopt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3–24 months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Landing-zone activation; showcases; network handoff; impact measurement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Owner and procurement lead adoption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Pilot or contract; handoff; impact report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Durations are planning ranges synthesized from Challenge.gov, Nesta and DOE American-Made practice; calibrate per engagement. Client time estimates are our planning assumptions.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criteria: what must be true to move to the next phase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53035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Gate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Must be true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Decides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Ready to commit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Proceed, fix gaps first, or not now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Named problem owner; budget covers operations and transition; no red score on owner, absorptive capacity or adoption route; a challenge beats the alternatives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Executive sponsor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 Problem approved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Which problem(s) go to design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Owner signs the statement; success measurable; publishable without confidential detail; not purchasable today; plausible solver pool exists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Sponsor + problem owner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 Design signed off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Launch or revise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Rules unambiguous (a team knows what wins); IP model fits the adoption route; judging plan approved; transition funded; legal and procurement sign off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Steering group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 Participation check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Continue, extend, re-scope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Qualified entries meet the target; entrants span distinct disciplines; no unresolved rule disputes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Challenge manager + owner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 Awards approved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Confirm winners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Scores reconciled and documented; winners verified (eligibility, compliance, reproducibility); decision record defensible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Sponsor (or federal judges)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 Scale, iterate or stop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What happens to the result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Pilot evidence reviewed against success criteria; next-step budget and owner identified; lessons captured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Sponsor + owner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Ten working tools. Each one produces a client-ready deliverable and feeds a gate.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1 · Readiness scorecard (Commit): score eight dimensions from 1 to 5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828800"/>
                <a:gridCol w="310896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Dimension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What a 5 looks like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Red flag (score 1–2)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Executive sponsor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Named senior owner with budget authority who will attend the award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"The innovation team will handle it"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Problem owner ★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Owner who will personally use the result and sit on the panel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"We're solving this for another department"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Funding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Purse, operations and transition budgeted together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Only the purse is funded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Legal and IP posture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Authority confirmed; IP model agreed in principle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Legal first engaged at rules drafting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Absorptive capacity ★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People, test facilities and budget to evaluate and integrate a solution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No one has time to test the winner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Adoption pathway ★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Pilot, procurement or license route identified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"We'll work out next steps after the award"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Cultural openness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Experts see outside solutions as wins; some prior open innovation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 challenge is seen as a verdict on internal staff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Measurement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Baseline and target metrics defined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Success means "good press"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coring-rule"/>
          <p:cNvSpPr/>
          <p:nvPr/>
        </p:nvSpPr>
        <p:spPr>
          <a:xfrm>
            <a:off x="8641080" y="1371600"/>
            <a:ext cx="2971800" cy="4526280"/>
          </a:xfrm>
          <a:prstGeom prst="roundRect">
            <a:avLst>
              <a:gd name="adj" fmla="val 2462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696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Suggested decision rule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869680" y="2011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Proceed: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28–40, and no ★ item below 3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Fix first: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20–27, or any ★ item below 3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Not now: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below 20. Offer scouting or an internal challenge to build familiarity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44348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★ Low scores on these three predict "solution orphans": winners nobody adopts. Thresholds are our heuristic; recalibrate after the first few uses.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Synthesized from the IBM/APQC ecosystem innovation maturity model, Mind the Bridge Open Innovation Readiness Index, NASA@Work owner rules and Cohen &amp; Levinthal on absorptive capacity.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2 · Outcome selector (Commit): the outcome you choose drives every design choice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Outcome you need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Design implications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Example metrics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2"/>
                          </a:solidFill>
                        </a:rPr>
                        <a:t>Develop solutions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Attract new ideas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Low entry barrier; short window; small guaranteed awards; broad, multidisciplinary outreach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Number of novel ideas; solver diversity; share new to the sponsor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Build prototypes and launch pilots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Staged structure; milestone awards; test facilities; reduction-to-practice evidence; pilot partner lined up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Performance against target; pilots launched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Stimulate markets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Large purse or purchase commitment; clear performance threshold; investor and buyer engagement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Entrants; private investment; price or cost change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2"/>
                          </a:solidFill>
                        </a:rPr>
                        <a:t>Engage people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Raise awareness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Public-facing format; storytelling; media-worthy finish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Reach; engagement; sentiment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Mobilize action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Participation prize; community tools; low-cost entry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Actions taken; participants retained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Inspire transformation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Long horizon; network-building; legacy funding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Policy or practice change; network ties formed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Outcome typology: Deloitte, The Craft of Incentive Prize Design (2014). Prize archetypes for cross-reference: McKinsey (2009): point-solution, market-stimulation, participation, exemplar, exposition, network.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3 · Challenge-fit scorecard (Frame): score each candidate problem out of 70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731520"/>
                <a:gridCol w="10058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Weight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Score 1–5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Stop if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Important and widely recognized as a problem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×2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Solution not obvious and cannot be bought off the shelf ★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×2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Purchasable: procure or scout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Outsiders could plausibly contribute; a solver pool exists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×2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Success measurable and objectively judgeable ★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×2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Not measurable: reframe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Can be stated without confidential context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×1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IP and data shareable on acceptable terms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×1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Owner and adoption path exist ★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×2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No owner: park it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Solvable at reasonable cost and time relative to the incentive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×1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A challenge beats grants, contracts and internal R&amp;D here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×1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Total (maximum 70)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fit-reading"/>
          <p:cNvSpPr/>
          <p:nvPr/>
        </p:nvSpPr>
        <p:spPr>
          <a:xfrm>
            <a:off x="8641080" y="1371600"/>
            <a:ext cx="2971800" cy="452628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696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Reading the score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869680" y="201168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50+: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strong candidate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35–49: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reframe or decompose, then rescore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Below 35: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 another tool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Any ★ scored 1: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stop, whatever the total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42976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Run it as dot-voting in the discovery workshop, then score the top candidates properly with the owner.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Criteria compiled from Nesta ("When is your problem a challenge?"), the Challenge.gov toolkit, McKinsey's conditions for incentive prizes and XPRIZE prizeability tests. Weights and thresholds are our heuristic.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4 · Problem-statement canvas (Frame): define rigorously, then abstract for outsiders</a:t>
            </a:r>
            <a:endParaRPr lang="en-US" sz="2800" dirty="0"/>
          </a:p>
        </p:txBody>
      </p:sp>
      <p:sp>
        <p:nvSpPr>
          <p:cNvPr id="3" name="canvas-1"/>
          <p:cNvSpPr/>
          <p:nvPr/>
        </p:nvSpPr>
        <p:spPr>
          <a:xfrm>
            <a:off x="548640" y="137160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1 Need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0195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Why solve this now? What happens if we don't?</a:t>
            </a:r>
            <a:endParaRPr lang="en-US" sz="1250" dirty="0"/>
          </a:p>
        </p:txBody>
      </p:sp>
      <p:sp>
        <p:nvSpPr>
          <p:cNvPr id="6" name="canvas-2"/>
          <p:cNvSpPr/>
          <p:nvPr/>
        </p:nvSpPr>
        <p:spPr>
          <a:xfrm>
            <a:off x="4279392" y="137160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62272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2 Justification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462272" y="190195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Strategic fit; value of a solution; who benefits</a:t>
            </a:r>
            <a:endParaRPr lang="en-US" sz="1250" dirty="0"/>
          </a:p>
        </p:txBody>
      </p:sp>
      <p:sp>
        <p:nvSpPr>
          <p:cNvPr id="9" name="canvas-3"/>
          <p:cNvSpPr/>
          <p:nvPr/>
        </p:nvSpPr>
        <p:spPr>
          <a:xfrm>
            <a:off x="8010144" y="137160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3 Context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193024" y="190195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What has been tried, by us and others; why it fell short; constraints</a:t>
            </a:r>
            <a:endParaRPr lang="en-US" sz="1250" dirty="0"/>
          </a:p>
        </p:txBody>
      </p:sp>
      <p:sp>
        <p:nvSpPr>
          <p:cNvPr id="12" name="canvas-4"/>
          <p:cNvSpPr/>
          <p:nvPr/>
        </p:nvSpPr>
        <p:spPr>
          <a:xfrm>
            <a:off x="548640" y="2907792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044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4 How might we…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3814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One sentence that implies a solution is possible without prescribing it</a:t>
            </a:r>
            <a:endParaRPr lang="en-US" sz="1250" dirty="0"/>
          </a:p>
        </p:txBody>
      </p:sp>
      <p:sp>
        <p:nvSpPr>
          <p:cNvPr id="15" name="canvas-5"/>
          <p:cNvSpPr/>
          <p:nvPr/>
        </p:nvSpPr>
        <p:spPr>
          <a:xfrm>
            <a:off x="4279392" y="2907792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62272" y="3044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5 Success criteria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343814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Measurable thresholds a judge can verify; what must and must not be true</a:t>
            </a:r>
            <a:endParaRPr lang="en-US" sz="1250" dirty="0"/>
          </a:p>
        </p:txBody>
      </p:sp>
      <p:sp>
        <p:nvSpPr>
          <p:cNvPr id="18" name="canvas-6"/>
          <p:cNvSpPr/>
          <p:nvPr/>
        </p:nvSpPr>
        <p:spPr>
          <a:xfrm>
            <a:off x="8010144" y="2907792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93024" y="3044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6 Out of scope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193024" y="343814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Approaches, technologies or markets we exclude, and why</a:t>
            </a:r>
            <a:endParaRPr lang="en-US" sz="1250" dirty="0"/>
          </a:p>
        </p:txBody>
      </p:sp>
      <p:sp>
        <p:nvSpPr>
          <p:cNvPr id="21" name="canvas-7"/>
          <p:cNvSpPr/>
          <p:nvPr/>
        </p:nvSpPr>
        <p:spPr>
          <a:xfrm>
            <a:off x="548640" y="4443984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5811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7 Solver-facing version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97433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Rewrite without jargon or confidential detail, for a capable person in a distant field</a:t>
            </a:r>
            <a:endParaRPr lang="en-US" sz="1250" dirty="0"/>
          </a:p>
        </p:txBody>
      </p:sp>
      <p:sp>
        <p:nvSpPr>
          <p:cNvPr id="24" name="canvas-8"/>
          <p:cNvSpPr/>
          <p:nvPr/>
        </p:nvSpPr>
        <p:spPr>
          <a:xfrm>
            <a:off x="4279392" y="4443984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62272" y="45811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8 IP and data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462272" y="497433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What solvers keep, what we need, which data we can share</a:t>
            </a:r>
            <a:endParaRPr lang="en-US" sz="1250" dirty="0"/>
          </a:p>
        </p:txBody>
      </p:sp>
      <p:sp>
        <p:nvSpPr>
          <p:cNvPr id="27" name="canvas-9"/>
          <p:cNvSpPr/>
          <p:nvPr/>
        </p:nvSpPr>
        <p:spPr>
          <a:xfrm>
            <a:off x="8010144" y="4443984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93024" y="45811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9 Owner and landing zone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8193024" y="497433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Who adopts the result, through which route, with what budget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Boxes 1–3 and 5 follow Spradlin's four steps (HBR, 2012); box 4 is IDEO's "How might we"; box 7 applies the abstraction evidence of Jeppesen &amp; Lakhani (2010). Balance abstraction against fit: too abstract draws irrelevant entries (Wazoku's "Goldilocks" point).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5 · Mechanism selector (Design): match the open-innovation mechanism to the problem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237744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Mechanism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Use when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Typical incentive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Reference models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Technology scouting / partner search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A solution probably exists; you want a license or partner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Contract or license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NineSigma, yet2, Innoget, eRFP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Ideation challenge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You need many early ideas fast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Small, often guaranteed awards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InnoCentive ideation; OpenIDEO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Theoretical / design challenge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You need a detailed, testable design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Mid-size award; IP often transferred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InnoCentive Theoretical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Prototype / reduction-to-practice prize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You need working evidence against a threshold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Large, staged purse plus test access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XPRIZE; NASA Centennial; InnoCentive RTP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Data / algorithm contest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Performance can be scored on held-out data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Leaderboard purse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Kaggle; NASA Tournament Lab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Crowd labor market / task contests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Work is well-defined with known skills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Pay per accepted output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Topcoder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Collaborative community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Contributions must build on one another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Recognition, access, shared use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Open source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Market-stimulation prize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You want to drive down cost or prove demand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Large purse or purchase commitment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McKinsey market-stimulation archetype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Boudreau &amp; Lakhani, HBR (2013); Boudreau, Lacetera &amp; Lakhani (2011): open wide for uncertain problems, limit entry for well-specified ones; InnoCentive/Wazoku challenge types; Pisano &amp; Verganti (2008).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6 · Design checklist (Design): decide all five elements together, not in sequence</a:t>
            </a:r>
            <a:endParaRPr lang="en-US" sz="2800" dirty="0"/>
          </a:p>
        </p:txBody>
      </p:sp>
      <p:sp>
        <p:nvSpPr>
          <p:cNvPr id="3" name="element-1"/>
          <p:cNvSpPr/>
          <p:nvPr/>
        </p:nvSpPr>
        <p:spPr>
          <a:xfrm>
            <a:off x="548640" y="1371600"/>
            <a:ext cx="2103120" cy="27889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Structure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938528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Single or multi-stage?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Milestone or progress awards?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Eligibility and team rules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Timeline and stage gates</a:t>
            </a:r>
            <a:endParaRPr lang="en-US" sz="1400" dirty="0"/>
          </a:p>
        </p:txBody>
      </p:sp>
      <p:sp>
        <p:nvSpPr>
          <p:cNvPr id="6" name="element-2"/>
          <p:cNvSpPr/>
          <p:nvPr/>
        </p:nvSpPr>
        <p:spPr>
          <a:xfrm>
            <a:off x="2798064" y="1371600"/>
            <a:ext cx="2103120" cy="27889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62656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Motivators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962656" y="1938528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Purse and its split across stages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Test access, data, mentoring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Access to buyers and investors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Recognition and validation</a:t>
            </a:r>
            <a:endParaRPr lang="en-US" sz="1400" dirty="0"/>
          </a:p>
        </p:txBody>
      </p:sp>
      <p:sp>
        <p:nvSpPr>
          <p:cNvPr id="9" name="element-3"/>
          <p:cNvSpPr/>
          <p:nvPr/>
        </p:nvSpPr>
        <p:spPr>
          <a:xfrm>
            <a:off x="5047488" y="1371600"/>
            <a:ext cx="2103120" cy="27889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938528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Criteria derived from the outcome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Objective test or rubric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Panel and conflict checks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Winner verification</a:t>
            </a:r>
            <a:endParaRPr lang="en-US" sz="1400" dirty="0"/>
          </a:p>
        </p:txBody>
      </p:sp>
      <p:sp>
        <p:nvSpPr>
          <p:cNvPr id="12" name="element-4"/>
          <p:cNvSpPr/>
          <p:nvPr/>
        </p:nvSpPr>
        <p:spPr>
          <a:xfrm>
            <a:off x="7296912" y="1371600"/>
            <a:ext cx="2103120" cy="27889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Resources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61504" y="1938528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Platform and datasets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Test facilities and protocols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Partners and multipliers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Staffing and budget</a:t>
            </a:r>
            <a:endParaRPr lang="en-US" sz="1400" dirty="0"/>
          </a:p>
        </p:txBody>
      </p:sp>
      <p:sp>
        <p:nvSpPr>
          <p:cNvPr id="15" name="element-5"/>
          <p:cNvSpPr/>
          <p:nvPr/>
        </p:nvSpPr>
        <p:spPr>
          <a:xfrm>
            <a:off x="9546336" y="1371600"/>
            <a:ext cx="2103120" cy="27889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10928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Communications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710928" y="1938528"/>
            <a:ext cx="1828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Brand and story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Outreach channels by discipline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Community management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Award moment and media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89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IP model spectrum: the heavier the encumbrance, the smaller and more skewed the solver pool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260604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800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Solvers keep IP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82112" y="5029200"/>
            <a:ext cx="155448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64992" y="4800600"/>
            <a:ext cx="26060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2152" y="4800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License option or right of first negotiation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98464" y="5029200"/>
            <a:ext cx="155448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1344" y="4800600"/>
            <a:ext cx="26060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18504" y="4800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Open-source requirement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814816" y="5029200"/>
            <a:ext cx="155448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97696" y="4800600"/>
            <a:ext cx="260604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34856" y="4800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Full assignment for the award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064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Five elements: Deloitte (2014). IP spectrum: Frangione (XPRIZE) Senate testimony; InnoCentive terms. Federal: 15 U.S.C. §3719 bars taking participant IP without written consent (confirm with counsel).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7 · Purse and budget worksheet (Design): size the purse to the solver, budget the whole lifecycle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Five lenses for the purse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Cost to solve: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expected prize plus non-cash value must justify the effort of the target solver.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Follow-on value: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weak follow-on market needs a bigger purse or more non-cash value.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Value to sponsor: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purse should be a fraction of the cost or time it saves.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Signal: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size of the purse tells solvers how much the problem matters.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Staging: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spread the purse across stages to fund more early teams and keep option value.</a:t>
            </a:r>
            <a:endParaRPr lang="en-US" sz="1400" dirty="0"/>
          </a:p>
        </p:txBody>
      </p:sp>
      <p:sp>
        <p:nvSpPr>
          <p:cNvPr id="5" name="benchmarks"/>
          <p:cNvSpPr/>
          <p:nvPr/>
        </p:nvSpPr>
        <p:spPr>
          <a:xfrm>
            <a:off x="548640" y="4572000"/>
            <a:ext cx="51206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66344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Federal average ≈ $775K per competition (FY21–22: $194.4M across 251)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Federal: purses over $1M need agency-head approval; over $50M, 30 days' notice to Congress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Kaggle ≈ $10K–$250K; InnoCentive-type ≈ $5K–$100K+ (verify)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371600"/>
          <a:ext cx="55778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Lifecycle budget line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Often missed?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Design and problem framing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Legal, rules and IP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Platform and data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Outreach and partner network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Solver support (mentoring, vouchers, test access)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Often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Judging and testing (costly for hardware)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Often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Purse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Transition (pilot, contract vehicle, adoption)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Most often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Evaluation and reporting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Often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035040" y="51206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Do not quote operations as a fixed ratio of the purse. In disclosed small federal prizes, administration ran 1.7× to 11× the purse; the ratio falls as purses grow.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Sources: OSTP FY2021–22 report; 15 U.S.C. §3719; Nextgov (2012); Kay, IBM Center for the Business of Government (2011); McKinsey (2009).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8 · Governance and RACI (all phases): who decides what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868680"/>
                <a:gridCol w="914400"/>
                <a:gridCol w="1051560"/>
                <a:gridCol w="640080"/>
                <a:gridCol w="1143000"/>
                <a:gridCol w="685800"/>
                <a:gridCol w="685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Exec sponsor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Problem owner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Our team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Legal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Procurement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Comms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Judges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Readiness go / no-go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Problem selection and statement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 (facilitate)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Rules, eligibility and IP terms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Purse and lifecycle budget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Outreach and solver support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 / 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Judging process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Award decisions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Transition vehicle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Impact measurement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teering"/>
          <p:cNvSpPr/>
          <p:nvPr/>
        </p:nvSpPr>
        <p:spPr>
          <a:xfrm>
            <a:off x="8915400" y="1371600"/>
            <a:ext cx="2697480" cy="4480560"/>
          </a:xfrm>
          <a:prstGeom prst="roundRect">
            <a:avLst>
              <a:gd name="adj" fmla="val 2712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Steering group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Chaired by the sponsor, with the problem owner, legal, procurement, finance and communications. It meets at every gate.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9144000" y="3429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Federal note: under 15 U.S.C. §3719 judges must be conflict-free, panels are exempt from FACA, and agencies may contract a private entity to administer the prize. Federal judges make award determinations.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R = responsible, A = accountable, C = consulted, I = informed. Adapted from Wazoku/Planview platform roles and NC3Rs CRACK IT sponsor roles. Bring procurement in during Commit, not after the award.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9 · Judging design (Design to Select): defensible decisions in seven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05840" y="15087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00200" y="1783080"/>
            <a:ext cx="1051560" cy="0"/>
          </a:xfrm>
          <a:prstGeom prst="line">
            <a:avLst/>
          </a:prstGeom>
          <a:noFill/>
          <a:ln w="25400">
            <a:solidFill>
              <a:srgbClr val="BFE0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Criteria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Derived from the outcome; published in advance; measurable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06040" y="15087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1051560" cy="0"/>
          </a:xfrm>
          <a:prstGeom prst="line">
            <a:avLst/>
          </a:prstGeom>
          <a:noFill/>
          <a:ln w="25400">
            <a:solidFill>
              <a:srgbClr val="BFE0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88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Panel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6060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Balanced expertise; the problem owner included; conflicts screened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06240" y="15087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00600" y="1783080"/>
            <a:ext cx="1051560" cy="0"/>
          </a:xfrm>
          <a:prstGeom prst="line">
            <a:avLst/>
          </a:prstGeom>
          <a:noFill/>
          <a:ln w="25400">
            <a:solidFill>
              <a:srgbClr val="BFE0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Calibrate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6060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Train on the rubric; score sample entries together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06440" y="15087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064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1783080"/>
            <a:ext cx="1051560" cy="0"/>
          </a:xfrm>
          <a:prstGeom prst="line">
            <a:avLst/>
          </a:prstGeom>
          <a:noFill/>
          <a:ln w="25400">
            <a:solidFill>
              <a:srgbClr val="BFE0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Triage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26060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Eligibility screen, then blind expert review, then finalists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06640" y="15087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6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01000" y="1783080"/>
            <a:ext cx="1051560" cy="0"/>
          </a:xfrm>
          <a:prstGeom prst="line">
            <a:avLst/>
          </a:prstGeom>
          <a:noFill/>
          <a:ln w="25400">
            <a:solidFill>
              <a:srgbClr val="BFE0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26060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Objective tests or held-out data wherever possible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0684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068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601200" y="1783080"/>
            <a:ext cx="1051560" cy="0"/>
          </a:xfrm>
          <a:prstGeom prst="line">
            <a:avLst/>
          </a:prstGeom>
          <a:noFill/>
          <a:ln w="25400">
            <a:solidFill>
              <a:srgbClr val="BFE0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496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Reconcile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549640" y="26060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Discuss divergent scores; never average them away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607040" y="15087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6070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Verify and record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0" y="26060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Eligibility, compliance, reproducibility; audit trail</a:t>
            </a:r>
            <a:endParaRPr lang="en-US" sz="1150" dirty="0"/>
          </a:p>
        </p:txBody>
      </p:sp>
      <p:sp>
        <p:nvSpPr>
          <p:cNvPr id="37" name="judging-tips"/>
          <p:cNvSpPr/>
          <p:nvPr/>
        </p:nvSpPr>
        <p:spPr>
          <a:xfrm>
            <a:off x="548640" y="4114800"/>
            <a:ext cx="110642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Practitioner notes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46177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"You get what you incentivize": any criterion that can be gamed will be. Pressure-test the rubric with a mock entry.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Where reviewers in different disciplines score the same entry, keep the tracks separate and reconcile in a moderated session. The split is often the most important signal.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Seating the problem owner on the panel is also the first step toward adoption.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Challenge.gov toolkit ("Conduct": manage judging, verify winners); XPRIZE objective testing; Frangione, Senate testimony.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10 · Landing-zone plan (Design to Adopt): decide where the winner lands before launch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Questions to answer before launch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Who adopts the result, and have they agreed to?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Through which route: pilot, procurement, license, investment or a follow-on challenge?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 budget, and when is it available?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 the IP and data terms allow that route?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 does a winner get beyond cash: a pilot, a buyer meeting, validation data?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 does success look like at 12, 24 and 36 months?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Who holds the solver and expert network after handoff?</a:t>
            </a:r>
            <a:endParaRPr lang="en-US" sz="1400" dirty="0"/>
          </a:p>
        </p:txBody>
      </p:sp>
      <p:sp>
        <p:nvSpPr>
          <p:cNvPr id="5" name="routes-gov"/>
          <p:cNvSpPr/>
          <p:nvPr/>
        </p:nvSpPr>
        <p:spPr>
          <a:xfrm>
            <a:off x="6355080" y="1371600"/>
            <a:ext cx="2514600" cy="3657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3796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Government routes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920240"/>
            <a:ext cx="2194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Follow-on contract justified by the competition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Competition results used as the competitive evaluation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Other Transaction (OTA) follow-on production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SBIR/STTR on-ramp for winning teams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Vouchers for national-lab access (DOE model)</a:t>
            </a:r>
            <a:endParaRPr lang="en-US" sz="1400" dirty="0"/>
          </a:p>
        </p:txBody>
      </p:sp>
      <p:sp>
        <p:nvSpPr>
          <p:cNvPr id="8" name="routes-corp"/>
          <p:cNvSpPr/>
          <p:nvPr/>
        </p:nvSpPr>
        <p:spPr>
          <a:xfrm>
            <a:off x="9098280" y="1371600"/>
            <a:ext cx="2514600" cy="3657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8116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Corporate routes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281160" y="1920240"/>
            <a:ext cx="2194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Pre-committed investment pool (GE ecomagination)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Funded pilots on a standard contract (Unilever Foundry)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Royalty or license (LEGO Ideas)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Proof-of-concept gates with follow-on funding (Shell GameChanger)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MITRE, From Incentive Prize and Challenge Competitions to Procurement; DOE American-Made Challenges; corporate examples from secondary sources (see evidence bank).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success: five levels of KPIs, tracked from launch through 36 months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3152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Level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Indicators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When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Registrations; submissions; disciplines and geographies represented; share new to the sponsor; stage-pass rates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During Mobilize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Solutions meeting the threshold; performance against baseline; judge scores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 Select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Efficiency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Cost per viable solution against the internal baseline; time to solution; solver investment as a multiple of the purse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 award and close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 of winners piloted; share adopted or contracted within 12–24 months; follow-on funding raised; licenses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12–36 months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Capability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Repeat problem owners; size of the problem pipeline; time from intake to launch; internal attitude survey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Annually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Synthesized from OSTP prize reporting, Nesta impact evaluation and DOE American-Made practice. Nesta: most impact arrives after the prize closes, so budget the 12–36 month follow-up.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register: the ten most common failure modes, their early warnings and mitigations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448056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Failure mode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Early warning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Mitigation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Phase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Wrong problem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Solution is obvious, purchasable or vague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Fit scorecard; alternatives test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1–2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Absent owner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Owner skips the interviews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Make a named owner a gate 1 condition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landing zone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"We'll decide after the award"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Landing-zone plan at gate 3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Mis-sized purse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Solver test calls it not worth it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Five-lens sizing; staging; non-cash value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Under-budgeted operations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Budget covers the purse only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Lifecycle budget worksheet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1, 3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Deterrent IP terms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Legal arrives at rules drafting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Legal in Commit; IP model chosen to fit the route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1, 3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Thin participation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Registrations below target at midpoint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Multidisciplinary outreach; multipliers; extend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Contested judging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Criteria open to interpretation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Calibrated rubric; reconciliation; record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3, 5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invented here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Experts describe the challenge as a threat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Experts as co-designers and judges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All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One-off mindset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reuse of templates or network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Capability layer; handoff package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Workshops and facilitation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first client meeting, the half-day problem-discovery workshop and a question bank.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client meeting (60–90 minutes): agenda and facilitator moves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2468880"/>
                <a:gridCol w="585216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90-min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60-min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Segment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Facilitator moves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Deck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0–10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0–5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Introductions and objectives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Ask: "What would make this worth your time a year from now?" Note the outcome language they use.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10–25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5–15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Why challenges work and why they fail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Lead with the distant-solver finding; then failure modes. Ask which ones feel familiar.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2–4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25–45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15–30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The journey and the tool choice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Walk the one-page framework; run the four tool-choice questions against their candidate problem.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5–6, 13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45–70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30–45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Rapid readiness conversation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Probe the three ★ dimensions: owner, absorptive capacity, adoption route. Score privately afterward.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7, 15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70–85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45–55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First candidate problems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Capture 3–8 problems verbatim; do not score yet.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85–90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55–60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Next steps and decisions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Propose the six-week sprint; confirm sponsor, owners, interviewees and workshop date.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3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Bring: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printed one-page framework, blank readiness scorecard (for your notes only), a list of two or three relevant prize examples from the client's sector.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Problem-discovery workshop (half-day, Frame): from a long list to one to three challenge-ready problems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874520"/>
                <a:gridCol w="548640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Block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Pre-work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Interviews and landscape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Owner interviews; roadmap and gap review; scan of prior challenges in the field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Seed list of 15–30 gaps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0:00–0:20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Anchor the outcome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Recap Tool 2; agree which outcome this program serves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Agreed outcome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0:20–1:00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Diverge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Silent writing of pain points as "How might we…"; cluster on a wall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Long list in clusters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1:00–1:40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Converge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Dot-vote on the ★ fit criteria; discuss outliers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Shortlist of 4–6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1:40–1:55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Break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1:55–2:45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Define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Breakouts fill canvas boxes 1–6 for each shortlisted problem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Draft canvases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2:45–3:20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Rewrite each statement for "a smart engineer in another industry"; swap and critique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Solver-facing drafts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3:20–3:40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Land it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Canvas box 9: who adopts, which route, what budget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Landing-zone check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3:40–4:00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Decide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Rank; name owners; agree follow-up scoring and solver tests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Top 1–3 and owners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Participants: sponsor (opening and close), 2–4 problem owners, 2–3 technical experts, one procurement or legal voice. Materials: canvas posters, Tool 3 sheets, dot stickers. Abstraction exercise based on InnoCentive practice.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question bank: what to ask in interviews and the first meeting</a:t>
            </a:r>
            <a:endParaRPr lang="en-US" sz="2800" dirty="0"/>
          </a:p>
        </p:txBody>
      </p:sp>
      <p:sp>
        <p:nvSpPr>
          <p:cNvPr id="3" name="qbank-1"/>
          <p:cNvSpPr/>
          <p:nvPr/>
        </p:nvSpPr>
        <p:spPr>
          <a:xfrm>
            <a:off x="548640" y="13716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Outcome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What would success look like in two years?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Are you after a solution, a market, a community, or attention?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What have you tried, and why did it fall short?</a:t>
            </a:r>
            <a:endParaRPr lang="en-US" sz="1400" dirty="0"/>
          </a:p>
        </p:txBody>
      </p:sp>
      <p:sp>
        <p:nvSpPr>
          <p:cNvPr id="6" name="qbank-2"/>
          <p:cNvSpPr/>
          <p:nvPr/>
        </p:nvSpPr>
        <p:spPr>
          <a:xfrm>
            <a:off x="4279392" y="13716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62272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62272" y="1920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Who else has this problem?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Could you buy the answer today?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How would you know, objectively, that it is solved?</a:t>
            </a:r>
            <a:endParaRPr lang="en-US" sz="1400" dirty="0"/>
          </a:p>
        </p:txBody>
      </p:sp>
      <p:sp>
        <p:nvSpPr>
          <p:cNvPr id="9" name="qbank-3"/>
          <p:cNvSpPr/>
          <p:nvPr/>
        </p:nvSpPr>
        <p:spPr>
          <a:xfrm>
            <a:off x="8010144" y="13716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Owner and adoption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193024" y="1920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Who will use the winning solution day to day?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What happens the week after the award?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Which budget pays for a pilot?</a:t>
            </a:r>
            <a:endParaRPr lang="en-US" sz="1400" dirty="0"/>
          </a:p>
        </p:txBody>
      </p:sp>
      <p:sp>
        <p:nvSpPr>
          <p:cNvPr id="12" name="qbank-4"/>
          <p:cNvSpPr/>
          <p:nvPr/>
        </p:nvSpPr>
        <p:spPr>
          <a:xfrm>
            <a:off x="548640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Constraints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06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What authority lets you award prizes?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What must you own; what can solvers keep?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Can data be shared? Any export controls?</a:t>
            </a:r>
            <a:endParaRPr lang="en-US" sz="1400" dirty="0"/>
          </a:p>
        </p:txBody>
      </p:sp>
      <p:sp>
        <p:nvSpPr>
          <p:cNvPr id="15" name="qbank-5"/>
          <p:cNvSpPr/>
          <p:nvPr/>
        </p:nvSpPr>
        <p:spPr>
          <a:xfrm>
            <a:off x="4279392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62272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Culture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4206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How will your experts react to an outside winner?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Who internally would champion it?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Has an outside idea ever been adopted here?</a:t>
            </a:r>
            <a:endParaRPr lang="en-US" sz="1400" dirty="0"/>
          </a:p>
        </p:txBody>
      </p:sp>
      <p:sp>
        <p:nvSpPr>
          <p:cNvPr id="18" name="qbank-6"/>
          <p:cNvSpPr/>
          <p:nvPr/>
        </p:nvSpPr>
        <p:spPr>
          <a:xfrm>
            <a:off x="8010144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93024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Budget and time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193024" y="4206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Is there funding beyond the purse?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Any fixed dates: fiscal year, events, announcements?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Who signs off spending?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bank: claims we use and how confident we are in each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9319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Claim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Distant-field solvers more likely to win (166 challenges, 12,000+ solvers)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Jeppesen &amp; Lakhani, Organization Science (2010)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Peer reviewed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Ansari XPRIZE: 26 teams, &gt;$100M spent for a $10M purse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XPRIZE; Wikipedia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Widely reported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251 federal competitions, $194.4M in purses, FY21–22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OSTP report (2024)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Government report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More entrants: less effort each, more extreme-value outcomes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Boudreau, Lacetera &amp; Lakhani, Management Science (2011)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Peer reviewed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Small-prize administration 1.7×–11× the purse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Nextgov (2012), White House disclosures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Press, 2012 data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81% convert under 25% of startup pilots into deals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500 Startups survey via Fortune (2017)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Survey; check wording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NASA scientists adopted external solutions only after identity shift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Lifshitz-Assaf, ASQ (2018)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Peer reviewed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NOIS3: 25 awardees, up to $475M over 10 years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GovConWire (2025)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Trade press; confirm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Unilever Foundry: ~95 pilots, ~45 scaled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FoodNavigator (2016)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Single secondary source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NASA Tournament Lab: ~94% success, 80–99% savings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NASA CoECI presentation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Self-reported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"Operations ≈ 1–2× purse" rule of thumb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None found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Do not use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Research ran through search summaries because the primary PDFs were not reachable from this environment. Check every coral-flagged item against the primary document before using it in a proposal.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further reading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Boudreau &amp; Lakhani (2013), Using the Crowd as an Innovation Partner, HBR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Boudreau, Lacetera &amp; Lakhani (2011), Incentives and Problem Uncertainty in Innovation Contests, Management Science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Challenge.gov / GSA, Prize and Challenge Toolkit (2026 edition)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Cohen &amp; Levinthal (1990), Absorptive Capacity, Administrative Science Quarterly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Deloitte GovLab (2014), The Craft of Incentive Prize Design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Frangione, C., XPRIZE testimony to the US Senate Commerce Committee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Jeppesen &amp; Lakhani (2010), Marginality and Problem-Solving Effectiveness in Broadcast Search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Kay, L. (2011), Managing Innovation Prizes in Government, IBM Center for the Business of Government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Lifshitz-Assaf (2018), Dismantling Knowledge Boundaries at NASA, ASQ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McKinsey &amp; Company (2009), And the Winner Is…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MITRE, From Incentive Prize and Challenge Competitions to Procurement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Nesta / Challenge Works, Challenge Prizes: A Practice Guide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NREL, American-Made Solar Prize evaluation (TP-6A50-89607)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OMB M-10-11 (2010), Guidance on the Use of Challenges and Prizes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OSTP (2024), Implementation of Federal Prize and Citizen Science Authority FY2021–22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Pisano &amp; Verganti (2008), Which Kind of Collaboration Is Right for You?, HBR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Spradlin (2012), Are You Solving the Right Problem?, HBR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15 U.S.C. §3719 (America COMPETES Reauthorization Act of 2010, §105)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llenge Journey">
  <a:themeElements>
    <a:clrScheme name="Challenge Journey">
      <a:dk1>
        <a:srgbClr val="1A2B2E"/>
      </a:dk1>
      <a:lt1>
        <a:srgbClr val="FFFFFF"/>
      </a:lt1>
      <a:dk2>
        <a:srgbClr val="0F4C4A"/>
      </a:dk2>
      <a:lt2>
        <a:srgbClr val="EEF4F2"/>
      </a:lt2>
      <a:accent1>
        <a:srgbClr val="0F4C4A"/>
      </a:accent1>
      <a:accent2>
        <a:srgbClr val="E8602C"/>
      </a:accent2>
      <a:accent3>
        <a:srgbClr val="2E8C7E"/>
      </a:accent3>
      <a:accent4>
        <a:srgbClr val="F2B24C"/>
      </a:accent4>
      <a:accent5>
        <a:srgbClr val="5F7376"/>
      </a:accent5>
      <a:accent6>
        <a:srgbClr val="BFE0D8"/>
      </a:accent6>
      <a:hlink>
        <a:srgbClr val="2E8C7E"/>
      </a:hlink>
      <a:folHlink>
        <a:srgbClr val="5F7376"/>
      </a:folHlink>
    </a:clrScheme>
    <a:fontScheme name="Challenge Journe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 Journey Playbook</dc:title>
  <dc:subject>PptxGenJS Presentation</dc:subject>
  <dc:creator>Open Innovation Practice</dc:creator>
  <cp:lastModifiedBy>Open Innovation Practice</cp:lastModifiedBy>
  <cp:revision>1</cp:revision>
  <dcterms:created xsi:type="dcterms:W3CDTF">2026-10-02T15:14:13Z</dcterms:created>
  <dcterms:modified xsi:type="dcterms:W3CDTF">2026-10-02T15:14:13Z</dcterms:modified>
</cp:coreProperties>
</file>