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17"/>
    <p:sldId id="267" r:id="rId18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Extends slide 5. Read left to right: each column is a stage; rows give the 085 estimate, the 045 Phase I actual, the conversion to the next stage, why people drop, and the lever and owner. High-likelihood applicants: anyone who attended a session, emailed a question or started early. 045 had 10% of starts finished a week out and a third of submissions on the last day, so mid-window progress predicts only part of the pool. Reached and engaged have no 045 conversion data; set them from campaign data and test in the first two weeks (Workflow 15, worksheet A10). Sources: 045 TRDNT weekly syncs May 26 and July 7; Emmanuel Moges emails July 15 to 17; CIMIT (Santosh Savaliya) on dashboard duplicates.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Extends slide 5 into judging. The 085 estimate carries from slide 5A: 130 to 160 submitted, 125 to 155 eligible at the 045 rate of 96%, and 40 Phase I winners from a pool about 4x the winners. Review load is illustrative: about 155 eligible entries x 3 reviewers = about 465 reviews; at a cap of 12 per reviewer that is about 39 reviewers, so recruit about 50. Replace the reviewers per entry and cap with the client's choice. Scoring 0 to 6 against written statements follows DOE LASSO 3.7.1 to 3.7.2; minimum score, cap and tie-breakers follow NASA Cube Quest and DARPA SubT (see slide 7). Judges are appointed by the agency under 15 U.S.C. 3719(k). 045 evidence: 89 of 93 eligible; 18 of 49 reviews in at the August 25 soft deadline with six reviewers replaced; AI-use guidance written mid-review. Sources: TRDNT weekly syncs July 21 to September 1,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" name="Image 0" descr="/tmp/tpl/img_s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" y="6272784"/>
            <a:ext cx="137160" cy="173736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body" hasCustomPrompt="1"/>
          </p:nvPr>
        </p:nvSpPr>
        <p:spPr>
          <a:xfrm>
            <a:off x="868680" y="566928"/>
            <a:ext cx="10634472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dirty="0">
                <a:solidFill>
                  <a:srgbClr val="BF193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868680" y="896112"/>
            <a:ext cx="10634472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700" b="1" dirty="0">
                <a:solidFill>
                  <a:srgbClr val="0A1F4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700" dirty="0"/>
          </a:p>
        </p:txBody>
      </p:sp>
      <p:sp>
        <p:nvSpPr>
          <p:cNvPr id="6" name="Text 1"/>
          <p:cNvSpPr/>
          <p:nvPr/>
        </p:nvSpPr>
        <p:spPr>
          <a:xfrm>
            <a:off x="868680" y="6382512"/>
            <a:ext cx="9811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[TASK ORDER]  ·  [Challenge name]  ·  Discovery Session Guide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SESSION 1  ·  §3 AND §13 OUTREACH TO SUBMISSIONS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From reach to a submitted application</a:t>
            </a:r>
          </a:p>
        </p:txBody>
      </p:sp>
      <p:sp>
        <p:nvSpPr>
          <p:cNvPr id="4" name="Lead bar"/>
          <p:cNvSpPr/>
          <p:nvPr/>
        </p:nvSpPr>
        <p:spPr>
          <a:xfrm>
            <a:off x="868680" y="1572768"/>
            <a:ext cx="36576" cy="457200"/>
          </a:xfrm>
          <a:prstGeom prst="rect">
            <a:avLst/>
          </a:prstGeom>
          <a:solidFill>
            <a:srgbClr val="BF1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ad"/>
          <p:cNvSpPr txBox="1"/>
          <p:nvPr/>
        </p:nvSpPr>
        <p:spPr>
          <a:xfrm>
            <a:off x="1161288" y="1572768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1">
                <a:solidFill>
                  <a:srgbClr val="0A1F44"/>
                </a:solidFill>
                <a:latin typeface="Arial"/>
              </a:rPr>
              <a:t>Each stage loses people for a different reason. Name the lever for each drop before launch.</a:t>
            </a:r>
          </a:p>
        </p:txBody>
      </p:sp>
      <p:sp>
        <p:nvSpPr>
          <p:cNvPr id="6" name="Page"/>
          <p:cNvSpPr txBox="1"/>
          <p:nvPr/>
        </p:nvSpPr>
        <p:spPr>
          <a:xfrm>
            <a:off x="10771632" y="638251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Arial"/>
              </a:rPr>
              <a:t>5A / 10</a:t>
            </a:r>
          </a:p>
        </p:txBody>
      </p:sp>
      <p:sp>
        <p:nvSpPr>
          <p:cNvPr id="7" name="Stage 1"/>
          <p:cNvSpPr/>
          <p:nvPr/>
        </p:nvSpPr>
        <p:spPr>
          <a:xfrm>
            <a:off x="2148840" y="2212848"/>
            <a:ext cx="1914753" cy="420624"/>
          </a:xfrm>
          <a:prstGeom prst="homePlate">
            <a:avLst>
              <a:gd name="adj" fmla="val 28000"/>
            </a:avLst>
          </a:prstGeom>
          <a:solidFill>
            <a:srgbClr val="F7FAFC"/>
          </a:solidFill>
          <a:ln w="9525">
            <a:solidFill>
              <a:srgbClr val="89A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50" b="1">
                <a:solidFill>
                  <a:srgbClr val="0A1F44"/>
                </a:solidFill>
                <a:latin typeface="Arial"/>
              </a:rPr>
              <a:t>Reached</a:t>
            </a:r>
          </a:p>
        </p:txBody>
      </p:sp>
      <p:sp>
        <p:nvSpPr>
          <p:cNvPr id="8" name="Stage 2"/>
          <p:cNvSpPr/>
          <p:nvPr/>
        </p:nvSpPr>
        <p:spPr>
          <a:xfrm>
            <a:off x="4008729" y="2212848"/>
            <a:ext cx="1914753" cy="420624"/>
          </a:xfrm>
          <a:prstGeom prst="chevron">
            <a:avLst>
              <a:gd name="adj" fmla="val 28000"/>
            </a:avLst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50" b="1">
                <a:solidFill>
                  <a:srgbClr val="0A1F44"/>
                </a:solidFill>
                <a:latin typeface="Arial"/>
              </a:rPr>
              <a:t>Engaged</a:t>
            </a:r>
          </a:p>
        </p:txBody>
      </p:sp>
      <p:sp>
        <p:nvSpPr>
          <p:cNvPr id="9" name="Stage 3"/>
          <p:cNvSpPr/>
          <p:nvPr/>
        </p:nvSpPr>
        <p:spPr>
          <a:xfrm>
            <a:off x="5868619" y="2212848"/>
            <a:ext cx="1914753" cy="420624"/>
          </a:xfrm>
          <a:prstGeom prst="chevron">
            <a:avLst>
              <a:gd name="adj" fmla="val 28000"/>
            </a:avLst>
          </a:prstGeom>
          <a:solidFill>
            <a:srgbClr val="89A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50" b="1">
                <a:solidFill>
                  <a:srgbClr val="0A1F44"/>
                </a:solidFill>
                <a:latin typeface="Arial"/>
              </a:rPr>
              <a:t>Applications started</a:t>
            </a:r>
          </a:p>
        </p:txBody>
      </p:sp>
      <p:sp>
        <p:nvSpPr>
          <p:cNvPr id="10" name="Stage 4"/>
          <p:cNvSpPr/>
          <p:nvPr/>
        </p:nvSpPr>
        <p:spPr>
          <a:xfrm>
            <a:off x="7728508" y="2212848"/>
            <a:ext cx="1914753" cy="420624"/>
          </a:xfrm>
          <a:prstGeom prst="chevron">
            <a:avLst>
              <a:gd name="adj" fmla="val 28000"/>
            </a:avLst>
          </a:prstGeom>
          <a:solidFill>
            <a:srgbClr val="00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Deadline week</a:t>
            </a:r>
          </a:p>
        </p:txBody>
      </p:sp>
      <p:sp>
        <p:nvSpPr>
          <p:cNvPr id="11" name="Stage 5"/>
          <p:cNvSpPr/>
          <p:nvPr/>
        </p:nvSpPr>
        <p:spPr>
          <a:xfrm>
            <a:off x="9588398" y="2212848"/>
            <a:ext cx="1914753" cy="420624"/>
          </a:xfrm>
          <a:prstGeom prst="chevron">
            <a:avLst>
              <a:gd name="adj" fmla="val 28000"/>
            </a:avLst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Submitted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4320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04680"/>
                </a:solidFill>
                <a:latin typeface="Arial"/>
              </a:rPr>
              <a:t>085 ESTIMATE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1992" y="2743200"/>
            <a:ext cx="171358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  <a:latin typeface="Arial"/>
              </a:rPr>
              <a:t>Set from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1881" y="2743200"/>
            <a:ext cx="171358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  <a:latin typeface="Arial"/>
              </a:rPr>
              <a:t>No 045 rate yet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1771" y="2743200"/>
            <a:ext cx="171358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  <a:latin typeface="Arial"/>
              </a:rPr>
              <a:t>240–300 or 540–670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1660" y="2743200"/>
            <a:ext cx="171358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  <a:latin typeface="Arial"/>
              </a:rPr>
              <a:t>Track % complete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1550" y="2743200"/>
            <a:ext cx="171358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  <a:latin typeface="Arial"/>
              </a:rPr>
              <a:t>130–160 target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072384"/>
            <a:ext cx="1063447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127248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BF1932"/>
                </a:solidFill>
                <a:latin typeface="Arial"/>
              </a:rPr>
              <a:t>045 PHASE I ACTUAL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1992" y="3127248"/>
            <a:ext cx="169529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Arial"/>
              </a:rPr>
              <a:t>Not recorded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81881" y="3127248"/>
            <a:ext cx="169529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Arial"/>
              </a:rPr>
              <a:t>557 site sessions, 97 interest forms (May 26)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1771" y="3127248"/>
            <a:ext cx="169529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Arial"/>
              </a:rPr>
              <a:t>172 at 4 PM on deadline day; not de-duplicated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01660" y="3127248"/>
            <a:ext cx="169529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Arial"/>
              </a:rPr>
              <a:t>10% of starts finished a week 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61550" y="3127248"/>
            <a:ext cx="169529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Arial"/>
              </a:rPr>
              <a:t>93 submitted; a third on the last day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3547872"/>
            <a:ext cx="1063447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60273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04680"/>
                </a:solidFill>
                <a:latin typeface="Arial"/>
              </a:rPr>
              <a:t>CONVERTS TO NEXT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21992" y="3602736"/>
            <a:ext cx="1658721" cy="274320"/>
          </a:xfrm>
          <a:prstGeom prst="round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900" b="1">
                <a:solidFill>
                  <a:srgbClr val="0A1F44"/>
                </a:solidFill>
                <a:latin typeface="Arial"/>
              </a:rPr>
              <a:t>Set from your data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81881" y="3602736"/>
            <a:ext cx="1658721" cy="274320"/>
          </a:xfrm>
          <a:prstGeom prst="round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900" b="1">
                <a:solidFill>
                  <a:srgbClr val="0A1F44"/>
                </a:solidFill>
                <a:latin typeface="Arial"/>
              </a:rPr>
              <a:t>No 045 rate yet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1771" y="3602736"/>
            <a:ext cx="1658721" cy="274320"/>
          </a:xfrm>
          <a:prstGeom prst="round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900" b="1">
                <a:solidFill>
                  <a:srgbClr val="0A1F44"/>
                </a:solidFill>
                <a:latin typeface="Arial"/>
              </a:rPr>
              <a:t>54% or 24%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01660" y="3602736"/>
            <a:ext cx="1658721" cy="274320"/>
          </a:xfrm>
          <a:prstGeom prst="round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900" b="1">
                <a:solidFill>
                  <a:srgbClr val="0A1F44"/>
                </a:solidFill>
                <a:latin typeface="Arial"/>
              </a:rPr>
              <a:t>A third land on the last day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61550" y="3602736"/>
            <a:ext cx="1658721" cy="274320"/>
          </a:xfrm>
          <a:prstGeom prst="round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900" b="1">
                <a:solidFill>
                  <a:srgbClr val="0A1F44"/>
                </a:solidFill>
                <a:latin typeface="Arial"/>
              </a:rPr>
              <a:t>96% eligible (045)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3913632"/>
            <a:ext cx="1063447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3968496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04680"/>
                </a:solidFill>
                <a:latin typeface="Arial"/>
              </a:rPr>
              <a:t>WHY PEOPLE DROP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21992" y="3968496"/>
            <a:ext cx="169529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Arial"/>
              </a:rPr>
              <a:t>Wrong audience, or the message misses the segment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81881" y="3968496"/>
            <a:ext cx="169529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Arial"/>
              </a:rPr>
              <a:t>Interest without a reason to act now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1771" y="3968496"/>
            <a:ext cx="169529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Arial"/>
              </a:rPr>
              <a:t>A registration form or long application adds a step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01660" y="3968496"/>
            <a:ext cx="169529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Arial"/>
              </a:rPr>
              <a:t>Teams stall on hard sections and run out of 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1550" y="3968496"/>
            <a:ext cx="169529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Arial"/>
              </a:rPr>
              <a:t>Platform strain and late uploads on deadline day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" y="4462272"/>
            <a:ext cx="1063447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4517136"/>
            <a:ext cx="1188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04680"/>
                </a:solidFill>
                <a:latin typeface="Arial"/>
              </a:rPr>
              <a:t>LEVER · OWNER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21992" y="4517136"/>
            <a:ext cx="169529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Arial"/>
              </a:rPr>
              <a:t>Named target list; partners qualified · Marketing, checked by PM QA (WF 15)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81881" y="4517136"/>
            <a:ext cx="169529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Arial"/>
              </a:rPr>
              <a:t>Info session, office hours, matchmaking; capture contacts · Marketing + APM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1771" y="4517136"/>
            <a:ext cx="169529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Arial"/>
              </a:rPr>
              <a:t>Personal nudges to high-likelihood starters · APM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01660" y="4517136"/>
            <a:ext cx="169529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Arial"/>
              </a:rPr>
              <a:t>Reminders tiered by progress; help desk staffed · APM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61550" y="4517136"/>
            <a:ext cx="169529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Arial"/>
              </a:rPr>
              <a:t>Load test; backup path; deadline-day cover · APM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8680" y="5157216"/>
            <a:ext cx="1063447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68680" y="5440680"/>
            <a:ext cx="5852160" cy="768096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8680" y="5440680"/>
            <a:ext cx="36576" cy="768096"/>
          </a:xfrm>
          <a:prstGeom prst="rect">
            <a:avLst/>
          </a:prstGeom>
          <a:solidFill>
            <a:srgbClr val="00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3000" y="5550408"/>
            <a:ext cx="5394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04680"/>
                </a:solidFill>
                <a:latin typeface="Arial"/>
              </a:rPr>
              <a:t>THE NUMBER THAT DECIDES 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5769864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Arial"/>
              </a:rPr>
              <a:t>Started to submitted. 54% is the 045 upper bound from records; 24% applies if 390 starts is right. Confirm with the de-duplicated CoLab export.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86600" y="5440680"/>
            <a:ext cx="4416552" cy="768096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5440680"/>
            <a:ext cx="36576" cy="768096"/>
          </a:xfrm>
          <a:prstGeom prst="rect">
            <a:avLst/>
          </a:prstGeom>
          <a:solidFill>
            <a:srgbClr val="BF1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60920" y="5550408"/>
            <a:ext cx="3959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BF1932"/>
                </a:solidFill>
                <a:latin typeface="Arial"/>
              </a:rPr>
              <a:t>ASK THE CLIENT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0920" y="5769864"/>
            <a:ext cx="39593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Arial"/>
              </a:rPr>
              <a:t>Which agency channels will amplify, and can we contact past entrants? Does a registration form sit before the application?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SESSION 3  ·  §8, §9 AND §10 SUBMISSIONS TO SELECTION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From submitted to selected, with a record at every cut</a:t>
            </a:r>
          </a:p>
        </p:txBody>
      </p:sp>
      <p:sp>
        <p:nvSpPr>
          <p:cNvPr id="4" name="Lead bar"/>
          <p:cNvSpPr/>
          <p:nvPr/>
        </p:nvSpPr>
        <p:spPr>
          <a:xfrm>
            <a:off x="868680" y="1572768"/>
            <a:ext cx="36576" cy="457200"/>
          </a:xfrm>
          <a:prstGeom prst="rect">
            <a:avLst/>
          </a:prstGeom>
          <a:solidFill>
            <a:srgbClr val="BF1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ad"/>
          <p:cNvSpPr txBox="1"/>
          <p:nvPr/>
        </p:nvSpPr>
        <p:spPr>
          <a:xfrm>
            <a:off x="1161288" y="1572768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1">
                <a:solidFill>
                  <a:srgbClr val="0A1F44"/>
                </a:solidFill>
                <a:latin typeface="Arial"/>
              </a:rPr>
              <a:t>Every cut needs a written rule and a named decider. That is what makes a selection defensible.</a:t>
            </a:r>
          </a:p>
        </p:txBody>
      </p:sp>
      <p:sp>
        <p:nvSpPr>
          <p:cNvPr id="6" name="Page"/>
          <p:cNvSpPr txBox="1"/>
          <p:nvPr/>
        </p:nvSpPr>
        <p:spPr>
          <a:xfrm>
            <a:off x="10771632" y="638251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Arial"/>
              </a:rPr>
              <a:t>5B / 10</a:t>
            </a:r>
          </a:p>
        </p:txBody>
      </p:sp>
      <p:sp>
        <p:nvSpPr>
          <p:cNvPr id="7" name="Stage 1"/>
          <p:cNvSpPr/>
          <p:nvPr/>
        </p:nvSpPr>
        <p:spPr>
          <a:xfrm>
            <a:off x="2148840" y="2212848"/>
            <a:ext cx="1604772" cy="420624"/>
          </a:xfrm>
          <a:prstGeom prst="homePlate">
            <a:avLst>
              <a:gd name="adj" fmla="val 28000"/>
            </a:avLst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Submitted</a:t>
            </a:r>
          </a:p>
        </p:txBody>
      </p:sp>
      <p:sp>
        <p:nvSpPr>
          <p:cNvPr id="8" name="Stage 2"/>
          <p:cNvSpPr/>
          <p:nvPr/>
        </p:nvSpPr>
        <p:spPr>
          <a:xfrm>
            <a:off x="3698748" y="2212848"/>
            <a:ext cx="1604772" cy="420624"/>
          </a:xfrm>
          <a:prstGeom prst="chevron">
            <a:avLst>
              <a:gd name="adj" fmla="val 28000"/>
            </a:avLst>
          </a:prstGeom>
          <a:solidFill>
            <a:srgbClr val="00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Eligibility screen</a:t>
            </a:r>
          </a:p>
        </p:txBody>
      </p:sp>
      <p:sp>
        <p:nvSpPr>
          <p:cNvPr id="9" name="Stage 3"/>
          <p:cNvSpPr/>
          <p:nvPr/>
        </p:nvSpPr>
        <p:spPr>
          <a:xfrm>
            <a:off x="5248656" y="2212848"/>
            <a:ext cx="1604772" cy="420624"/>
          </a:xfrm>
          <a:prstGeom prst="chevron">
            <a:avLst>
              <a:gd name="adj" fmla="val 28000"/>
            </a:avLst>
          </a:prstGeom>
          <a:solidFill>
            <a:srgbClr val="00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Reviewer scoring</a:t>
            </a:r>
          </a:p>
        </p:txBody>
      </p:sp>
      <p:sp>
        <p:nvSpPr>
          <p:cNvPr id="10" name="Stage 4"/>
          <p:cNvSpPr/>
          <p:nvPr/>
        </p:nvSpPr>
        <p:spPr>
          <a:xfrm>
            <a:off x="6798564" y="2212848"/>
            <a:ext cx="1604772" cy="420624"/>
          </a:xfrm>
          <a:prstGeom prst="chevron">
            <a:avLst>
              <a:gd name="adj" fmla="val 28000"/>
            </a:avLst>
          </a:prstGeom>
          <a:solidFill>
            <a:srgbClr val="00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Reconciliation</a:t>
            </a:r>
          </a:p>
        </p:txBody>
      </p:sp>
      <p:sp>
        <p:nvSpPr>
          <p:cNvPr id="11" name="Stage 5"/>
          <p:cNvSpPr/>
          <p:nvPr/>
        </p:nvSpPr>
        <p:spPr>
          <a:xfrm>
            <a:off x="8348472" y="2212848"/>
            <a:ext cx="1604772" cy="420624"/>
          </a:xfrm>
          <a:prstGeom prst="chevron">
            <a:avLst>
              <a:gd name="adj" fmla="val 28000"/>
            </a:avLst>
          </a:prstGeom>
          <a:solidFill>
            <a:srgbClr val="BF1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Judges decide</a:t>
            </a:r>
          </a:p>
        </p:txBody>
      </p:sp>
      <p:sp>
        <p:nvSpPr>
          <p:cNvPr id="12" name="Stage 6"/>
          <p:cNvSpPr/>
          <p:nvPr/>
        </p:nvSpPr>
        <p:spPr>
          <a:xfrm>
            <a:off x="9898380" y="2212848"/>
            <a:ext cx="1604772" cy="420624"/>
          </a:xfrm>
          <a:prstGeom prst="chevron">
            <a:avLst>
              <a:gd name="adj" fmla="val 28000"/>
            </a:avLst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Verify and notify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7432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04680"/>
                </a:solidFill>
                <a:latin typeface="Arial"/>
              </a:rPr>
              <a:t>085 ESTIMATE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21992" y="2743200"/>
            <a:ext cx="14036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  <a:latin typeface="Arial"/>
              </a:rPr>
              <a:t>130–160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1900" y="2743200"/>
            <a:ext cx="14036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  <a:latin typeface="Arial"/>
              </a:rPr>
              <a:t>125–155 at 96%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808" y="2743200"/>
            <a:ext cx="14036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  <a:latin typeface="Arial"/>
              </a:rPr>
              <a:t>~465 reviews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1716" y="2743200"/>
            <a:ext cx="14036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  <a:latin typeface="Arial"/>
              </a:rPr>
              <a:t>Ranked 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1624" y="2743200"/>
            <a:ext cx="14036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  <a:latin typeface="Arial"/>
              </a:rPr>
              <a:t>40 winners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71532" y="2743200"/>
            <a:ext cx="14036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  <a:latin typeface="Arial"/>
              </a:rPr>
              <a:t>40 notified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3054096"/>
            <a:ext cx="1063447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108960"/>
            <a:ext cx="11887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04680"/>
                </a:solidFill>
                <a:latin typeface="Arial"/>
              </a:rPr>
              <a:t>WHAT HAPPENS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21992" y="3108960"/>
            <a:ext cx="138531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Arial"/>
              </a:rPr>
              <a:t>Platform closes; late and failed uploads handled by the published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1900" y="3108960"/>
            <a:ext cx="138531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Arial"/>
              </a:rPr>
              <a:t>Human plus light AI checks on self-reported items; above 300 entries, revisit with the client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1808" y="3108960"/>
            <a:ext cx="138531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Arial"/>
              </a:rPr>
              <a:t>[3] reviewers per entry score each criterion 0–6 against written statements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1716" y="3108960"/>
            <a:ext cx="138531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Arial"/>
              </a:rPr>
              <a:t>Scores 2+ points apart discussed, not averaged; comments kept for teams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1624" y="3108960"/>
            <a:ext cx="138531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Arial"/>
              </a:rPr>
              <a:t>Minimum score, cap on winners, tie-breakers, published policy factors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71532" y="3108960"/>
            <a:ext cx="138531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Arial"/>
              </a:rPr>
              <a:t>Eligibility re-checked, payee details collected, private notice, then announcement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3858768"/>
            <a:ext cx="1063447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3913632"/>
            <a:ext cx="1188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04680"/>
                </a:solidFill>
                <a:latin typeface="Arial"/>
              </a:rPr>
              <a:t>WHO DECIDES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21992" y="3913632"/>
            <a:ext cx="13853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Arial"/>
              </a:rPr>
              <a:t>Rules decide; APM applies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71900" y="3913632"/>
            <a:ext cx="13853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Arial"/>
              </a:rPr>
              <a:t>FedTech screens; client confirms any disqualification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21808" y="3913632"/>
            <a:ext cx="13853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Arial"/>
              </a:rPr>
              <a:t>Reviewers score; they do not select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71716" y="3913632"/>
            <a:ext cx="13853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Arial"/>
              </a:rPr>
              <a:t>FedTech moderates; review lead signs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1624" y="3913632"/>
            <a:ext cx="13853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Arial"/>
              </a:rPr>
              <a:t>The agency's appointed judges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71532" y="3913632"/>
            <a:ext cx="13853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Arial"/>
              </a:rPr>
              <a:t>PM, with client sign-off on the payee list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" y="4425696"/>
            <a:ext cx="1063447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4480560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04680"/>
                </a:solidFill>
                <a:latin typeface="Arial"/>
              </a:rPr>
              <a:t>RECORD KEPT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21992" y="4480560"/>
            <a:ext cx="13853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Arial"/>
              </a:rPr>
              <a:t>Submission log with timestamps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71900" y="4480560"/>
            <a:ext cx="13853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Arial"/>
              </a:rPr>
              <a:t>Screening log, reason per exclusion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21808" y="4480560"/>
            <a:ext cx="13853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Arial"/>
              </a:rPr>
              <a:t>Scores and comments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1716" y="4480560"/>
            <a:ext cx="13853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Arial"/>
              </a:rPr>
              <a:t>Reconciliation notes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21624" y="4480560"/>
            <a:ext cx="13853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Arial"/>
              </a:rPr>
              <a:t>Signed decision memo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71532" y="4480560"/>
            <a:ext cx="13853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Arial"/>
              </a:rPr>
              <a:t>Confirmed payee list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8680" y="4828032"/>
            <a:ext cx="1063447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4882896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BF1932"/>
                </a:solidFill>
                <a:latin typeface="Arial"/>
              </a:rPr>
              <a:t>045 LESSON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21992" y="4882896"/>
            <a:ext cx="13853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Arial"/>
              </a:rPr>
              <a:t>A third arrived on the last day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71900" y="4882896"/>
            <a:ext cx="13853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Arial"/>
              </a:rPr>
              <a:t>89 of 93 eligible; 4 out on citizenship or location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21808" y="4882896"/>
            <a:ext cx="13853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Arial"/>
              </a:rPr>
              <a:t>18 of 49 reviews in at the soft deadline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71716" y="4882896"/>
            <a:ext cx="13853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Arial"/>
              </a:rPr>
              <a:t>AI-use policy set mid-review; set it first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21624" y="4882896"/>
            <a:ext cx="13853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Arial"/>
              </a:rPr>
              <a:t>Name the judges and check dates at kickoff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71532" y="4882896"/>
            <a:ext cx="13853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Arial"/>
              </a:rPr>
              <a:t>Feedback to teams after the announcement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" y="5285232"/>
            <a:ext cx="1063447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68680" y="5440680"/>
            <a:ext cx="5852160" cy="768096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68680" y="5440680"/>
            <a:ext cx="36576" cy="768096"/>
          </a:xfrm>
          <a:prstGeom prst="rect">
            <a:avLst/>
          </a:prstGeom>
          <a:solidFill>
            <a:srgbClr val="00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43000" y="5550408"/>
            <a:ext cx="5394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04680"/>
                </a:solidFill>
                <a:latin typeface="Arial"/>
              </a:rPr>
              <a:t>THE NUMBER THAT DECIDES IT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5769864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Arial"/>
              </a:rPr>
              <a:t>Reviewers needed = submissions × reviewers per entry ÷ cap per reviewer. 155 × 3 ÷ 12 ≈ 39, so recruit about 50 to cover conflicts and drop-outs.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86600" y="5440680"/>
            <a:ext cx="4416552" cy="768096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086600" y="5440680"/>
            <a:ext cx="36576" cy="768096"/>
          </a:xfrm>
          <a:prstGeom prst="rect">
            <a:avLst/>
          </a:prstGeom>
          <a:solidFill>
            <a:srgbClr val="BF1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60920" y="5550408"/>
            <a:ext cx="3959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BF1932"/>
                </a:solidFill>
                <a:latin typeface="Arial"/>
              </a:rPr>
              <a:t>ASK THE CLIENT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60920" y="5769864"/>
            <a:ext cx="39593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Arial"/>
              </a:rPr>
              <a:t>Who are the appointed judges, and are they free on the judging dates? What minimum score and cap on winners do you want?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dTech Kickoff">
  <a:themeElements>
    <a:clrScheme name="FedTech Kickoff">
      <a:dk1>
        <a:srgbClr val="1E293B"/>
      </a:dk1>
      <a:lt1>
        <a:srgbClr val="FFFFFF"/>
      </a:lt1>
      <a:dk2>
        <a:srgbClr val="0A1F44"/>
      </a:dk2>
      <a:lt2>
        <a:srgbClr val="F7FAFC"/>
      </a:lt2>
      <a:accent1>
        <a:srgbClr val="0A1F44"/>
      </a:accent1>
      <a:accent2>
        <a:srgbClr val="BF1932"/>
      </a:accent2>
      <a:accent3>
        <a:srgbClr val="004680"/>
      </a:accent3>
      <a:accent4>
        <a:srgbClr val="89ABE3"/>
      </a:accent4>
      <a:accent5>
        <a:srgbClr val="475569"/>
      </a:accent5>
      <a:accent6>
        <a:srgbClr val="94A3B8"/>
      </a:accent6>
      <a:hlink>
        <a:srgbClr val="004680"/>
      </a:hlink>
      <a:folHlink>
        <a:srgbClr val="475569"/>
      </a:folHlink>
    </a:clrScheme>
    <a:fontScheme name="FedTech Kickoff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Challenge Discovery Session Guide</dc:title>
  <dc:subject>PptxGenJS Presentation</dc:subject>
  <dc:creator>FedTech</dc:creator>
  <cp:lastModifiedBy>FedTech</cp:lastModifiedBy>
  <cp:revision>1</cp:revision>
  <dcterms:created xsi:type="dcterms:W3CDTF">2026-10-27T13:58:10Z</dcterms:created>
  <dcterms:modified xsi:type="dcterms:W3CDTF">2026-10-27T13:58:10Z</dcterms:modified>
</cp:coreProperties>
</file>